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4" r:id="rId19"/>
    <p:sldId id="276" r:id="rId20"/>
    <p:sldId id="275" r:id="rId2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A3A5C"/>
    <a:srgbClr val="0000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69AFB4C-329F-DDD4-ECA8-E8EF5B669F35}" v="34" dt="2026-03-27T11:50:25.306"/>
    <p1510:client id="{50B4B8A1-3B9F-EBC7-0ACE-57C60F7CD7F4}" v="512" dt="2026-03-27T13:17:45.48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8150" autoAdjust="0"/>
    <p:restoredTop sz="94610"/>
  </p:normalViewPr>
  <p:slideViewPr>
    <p:cSldViewPr snapToGrid="0" snapToObjects="1">
      <p:cViewPr varScale="1">
        <p:scale>
          <a:sx n="91" d="100"/>
          <a:sy n="91" d="100"/>
        </p:scale>
        <p:origin x="1086"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uest User" providerId="Windows Live" clId="Web-{469AFB4C-329F-DDD4-ECA8-E8EF5B669F35}"/>
    <pc:docChg chg="modSld">
      <pc:chgData name="Guest User" userId="" providerId="Windows Live" clId="Web-{469AFB4C-329F-DDD4-ECA8-E8EF5B669F35}" dt="2026-03-27T11:50:25.306" v="33" actId="20577"/>
      <pc:docMkLst>
        <pc:docMk/>
      </pc:docMkLst>
      <pc:sldChg chg="modSp">
        <pc:chgData name="Guest User" userId="" providerId="Windows Live" clId="Web-{469AFB4C-329F-DDD4-ECA8-E8EF5B669F35}" dt="2026-03-27T11:50:25.306" v="33" actId="20577"/>
        <pc:sldMkLst>
          <pc:docMk/>
          <pc:sldMk cId="0" sldId="256"/>
        </pc:sldMkLst>
        <pc:spChg chg="mod">
          <ac:chgData name="Guest User" userId="" providerId="Windows Live" clId="Web-{469AFB4C-329F-DDD4-ECA8-E8EF5B669F35}" dt="2026-03-27T11:50:25.306" v="33" actId="20577"/>
          <ac:spMkLst>
            <pc:docMk/>
            <pc:sldMk cId="0" sldId="256"/>
            <ac:spMk id="14" creationId="{00000000-0000-0000-0000-000000000000}"/>
          </ac:spMkLst>
        </pc:spChg>
      </pc:sldChg>
    </pc:docChg>
  </pc:docChgLst>
  <pc:docChgLst>
    <pc:chgData name="Guest User" providerId="Windows Live" clId="Web-{50B4B8A1-3B9F-EBC7-0ACE-57C60F7CD7F4}"/>
    <pc:docChg chg="modSld">
      <pc:chgData name="Guest User" userId="" providerId="Windows Live" clId="Web-{50B4B8A1-3B9F-EBC7-0ACE-57C60F7CD7F4}" dt="2026-03-27T13:17:43.629" v="383" actId="20577"/>
      <pc:docMkLst>
        <pc:docMk/>
      </pc:docMkLst>
      <pc:sldChg chg="modSp">
        <pc:chgData name="Guest User" userId="" providerId="Windows Live" clId="Web-{50B4B8A1-3B9F-EBC7-0ACE-57C60F7CD7F4}" dt="2026-03-27T12:22:20.250" v="161" actId="20577"/>
        <pc:sldMkLst>
          <pc:docMk/>
          <pc:sldMk cId="0" sldId="256"/>
        </pc:sldMkLst>
        <pc:spChg chg="mod">
          <ac:chgData name="Guest User" userId="" providerId="Windows Live" clId="Web-{50B4B8A1-3B9F-EBC7-0ACE-57C60F7CD7F4}" dt="2026-03-27T12:22:20.250" v="161" actId="20577"/>
          <ac:spMkLst>
            <pc:docMk/>
            <pc:sldMk cId="0" sldId="256"/>
            <ac:spMk id="14" creationId="{00000000-0000-0000-0000-000000000000}"/>
          </ac:spMkLst>
        </pc:spChg>
      </pc:sldChg>
      <pc:sldChg chg="addSp delSp modSp">
        <pc:chgData name="Guest User" userId="" providerId="Windows Live" clId="Web-{50B4B8A1-3B9F-EBC7-0ACE-57C60F7CD7F4}" dt="2026-03-27T12:16:02.577" v="149" actId="20577"/>
        <pc:sldMkLst>
          <pc:docMk/>
          <pc:sldMk cId="0" sldId="260"/>
        </pc:sldMkLst>
        <pc:spChg chg="add del mod">
          <ac:chgData name="Guest User" userId="" providerId="Windows Live" clId="Web-{50B4B8A1-3B9F-EBC7-0ACE-57C60F7CD7F4}" dt="2026-03-27T12:06:02.723" v="42"/>
          <ac:spMkLst>
            <pc:docMk/>
            <pc:sldMk cId="0" sldId="260"/>
            <ac:spMk id="6" creationId="{BFD3F173-5A3C-BE28-9CC0-64455FE23ADD}"/>
          </ac:spMkLst>
        </pc:spChg>
        <pc:spChg chg="add del">
          <ac:chgData name="Guest User" userId="" providerId="Windows Live" clId="Web-{50B4B8A1-3B9F-EBC7-0ACE-57C60F7CD7F4}" dt="2026-03-27T12:06:54.146" v="53"/>
          <ac:spMkLst>
            <pc:docMk/>
            <pc:sldMk cId="0" sldId="260"/>
            <ac:spMk id="7" creationId="{476B6BAE-0988-2EB9-EF44-F02E28CEFACC}"/>
          </ac:spMkLst>
        </pc:spChg>
        <pc:spChg chg="mod">
          <ac:chgData name="Guest User" userId="" providerId="Windows Live" clId="Web-{50B4B8A1-3B9F-EBC7-0ACE-57C60F7CD7F4}" dt="2026-03-27T12:14:14.929" v="115" actId="14100"/>
          <ac:spMkLst>
            <pc:docMk/>
            <pc:sldMk cId="0" sldId="260"/>
            <ac:spMk id="8" creationId="{00000000-0000-0000-0000-000000000000}"/>
          </ac:spMkLst>
        </pc:spChg>
        <pc:spChg chg="mod">
          <ac:chgData name="Guest User" userId="" providerId="Windows Live" clId="Web-{50B4B8A1-3B9F-EBC7-0ACE-57C60F7CD7F4}" dt="2026-03-27T12:05:13.472" v="27" actId="20577"/>
          <ac:spMkLst>
            <pc:docMk/>
            <pc:sldMk cId="0" sldId="260"/>
            <ac:spMk id="9" creationId="{00000000-0000-0000-0000-000000000000}"/>
          </ac:spMkLst>
        </pc:spChg>
        <pc:spChg chg="mod">
          <ac:chgData name="Guest User" userId="" providerId="Windows Live" clId="Web-{50B4B8A1-3B9F-EBC7-0ACE-57C60F7CD7F4}" dt="2026-03-27T12:11:31.853" v="104" actId="1076"/>
          <ac:spMkLst>
            <pc:docMk/>
            <pc:sldMk cId="0" sldId="260"/>
            <ac:spMk id="10" creationId="{00000000-0000-0000-0000-000000000000}"/>
          </ac:spMkLst>
        </pc:spChg>
        <pc:spChg chg="mod">
          <ac:chgData name="Guest User" userId="" providerId="Windows Live" clId="Web-{50B4B8A1-3B9F-EBC7-0ACE-57C60F7CD7F4}" dt="2026-03-27T12:11:57.931" v="108" actId="20577"/>
          <ac:spMkLst>
            <pc:docMk/>
            <pc:sldMk cId="0" sldId="260"/>
            <ac:spMk id="11" creationId="{00000000-0000-0000-0000-000000000000}"/>
          </ac:spMkLst>
        </pc:spChg>
        <pc:spChg chg="mod">
          <ac:chgData name="Guest User" userId="" providerId="Windows Live" clId="Web-{50B4B8A1-3B9F-EBC7-0ACE-57C60F7CD7F4}" dt="2026-03-27T12:13:43.785" v="112" actId="14100"/>
          <ac:spMkLst>
            <pc:docMk/>
            <pc:sldMk cId="0" sldId="260"/>
            <ac:spMk id="12" creationId="{00000000-0000-0000-0000-000000000000}"/>
          </ac:spMkLst>
        </pc:spChg>
        <pc:spChg chg="mod">
          <ac:chgData name="Guest User" userId="" providerId="Windows Live" clId="Web-{50B4B8A1-3B9F-EBC7-0ACE-57C60F7CD7F4}" dt="2026-03-27T12:15:44.466" v="146" actId="1076"/>
          <ac:spMkLst>
            <pc:docMk/>
            <pc:sldMk cId="0" sldId="260"/>
            <ac:spMk id="13" creationId="{00000000-0000-0000-0000-000000000000}"/>
          </ac:spMkLst>
        </pc:spChg>
        <pc:spChg chg="mod">
          <ac:chgData name="Guest User" userId="" providerId="Windows Live" clId="Web-{50B4B8A1-3B9F-EBC7-0ACE-57C60F7CD7F4}" dt="2026-03-27T12:13:02.719" v="111" actId="1076"/>
          <ac:spMkLst>
            <pc:docMk/>
            <pc:sldMk cId="0" sldId="260"/>
            <ac:spMk id="14" creationId="{00000000-0000-0000-0000-000000000000}"/>
          </ac:spMkLst>
        </pc:spChg>
        <pc:spChg chg="mod">
          <ac:chgData name="Guest User" userId="" providerId="Windows Live" clId="Web-{50B4B8A1-3B9F-EBC7-0ACE-57C60F7CD7F4}" dt="2026-03-27T12:11:32.056" v="105" actId="20577"/>
          <ac:spMkLst>
            <pc:docMk/>
            <pc:sldMk cId="0" sldId="260"/>
            <ac:spMk id="15" creationId="{00000000-0000-0000-0000-000000000000}"/>
          </ac:spMkLst>
        </pc:spChg>
        <pc:spChg chg="mod">
          <ac:chgData name="Guest User" userId="" providerId="Windows Live" clId="Web-{50B4B8A1-3B9F-EBC7-0ACE-57C60F7CD7F4}" dt="2026-03-27T12:05:36.472" v="32" actId="20577"/>
          <ac:spMkLst>
            <pc:docMk/>
            <pc:sldMk cId="0" sldId="260"/>
            <ac:spMk id="17" creationId="{00000000-0000-0000-0000-000000000000}"/>
          </ac:spMkLst>
        </pc:spChg>
        <pc:spChg chg="mod">
          <ac:chgData name="Guest User" userId="" providerId="Windows Live" clId="Web-{50B4B8A1-3B9F-EBC7-0ACE-57C60F7CD7F4}" dt="2026-03-27T12:10:25.274" v="98" actId="14100"/>
          <ac:spMkLst>
            <pc:docMk/>
            <pc:sldMk cId="0" sldId="260"/>
            <ac:spMk id="18" creationId="{00000000-0000-0000-0000-000000000000}"/>
          </ac:spMkLst>
        </pc:spChg>
        <pc:spChg chg="mod">
          <ac:chgData name="Guest User" userId="" providerId="Windows Live" clId="Web-{50B4B8A1-3B9F-EBC7-0ACE-57C60F7CD7F4}" dt="2026-03-27T12:04:40.268" v="24" actId="20577"/>
          <ac:spMkLst>
            <pc:docMk/>
            <pc:sldMk cId="0" sldId="260"/>
            <ac:spMk id="19" creationId="{00000000-0000-0000-0000-000000000000}"/>
          </ac:spMkLst>
        </pc:spChg>
        <pc:spChg chg="mod">
          <ac:chgData name="Guest User" userId="" providerId="Windows Live" clId="Web-{50B4B8A1-3B9F-EBC7-0ACE-57C60F7CD7F4}" dt="2026-03-27T12:12:11.588" v="109" actId="20577"/>
          <ac:spMkLst>
            <pc:docMk/>
            <pc:sldMk cId="0" sldId="260"/>
            <ac:spMk id="39" creationId="{00000000-0000-0000-0000-000000000000}"/>
          </ac:spMkLst>
        </pc:spChg>
        <pc:spChg chg="mod">
          <ac:chgData name="Guest User" userId="" providerId="Windows Live" clId="Web-{50B4B8A1-3B9F-EBC7-0ACE-57C60F7CD7F4}" dt="2026-03-27T12:02:23.311" v="0" actId="1076"/>
          <ac:spMkLst>
            <pc:docMk/>
            <pc:sldMk cId="0" sldId="260"/>
            <ac:spMk id="40" creationId="{00000000-0000-0000-0000-000000000000}"/>
          </ac:spMkLst>
        </pc:spChg>
        <pc:spChg chg="add del mod">
          <ac:chgData name="Guest User" userId="" providerId="Windows Live" clId="Web-{50B4B8A1-3B9F-EBC7-0ACE-57C60F7CD7F4}" dt="2026-03-27T12:07:46.678" v="69"/>
          <ac:spMkLst>
            <pc:docMk/>
            <pc:sldMk cId="0" sldId="260"/>
            <ac:spMk id="41" creationId="{729962A6-DACE-5C6B-1ABA-14EAE75E5759}"/>
          </ac:spMkLst>
        </pc:spChg>
        <pc:spChg chg="mod">
          <ac:chgData name="Guest User" userId="" providerId="Windows Live" clId="Web-{50B4B8A1-3B9F-EBC7-0ACE-57C60F7CD7F4}" dt="2026-03-27T12:06:22.239" v="51" actId="20577"/>
          <ac:spMkLst>
            <pc:docMk/>
            <pc:sldMk cId="0" sldId="260"/>
            <ac:spMk id="42" creationId="{00000000-0000-0000-0000-000000000000}"/>
          </ac:spMkLst>
        </pc:spChg>
        <pc:spChg chg="add mod">
          <ac:chgData name="Guest User" userId="" providerId="Windows Live" clId="Web-{50B4B8A1-3B9F-EBC7-0ACE-57C60F7CD7F4}" dt="2026-03-27T12:16:02.577" v="149" actId="20577"/>
          <ac:spMkLst>
            <pc:docMk/>
            <pc:sldMk cId="0" sldId="260"/>
            <ac:spMk id="43" creationId="{57B5A180-35D6-0590-C8DA-72AEAB644692}"/>
          </ac:spMkLst>
        </pc:spChg>
        <pc:spChg chg="del mod">
          <ac:chgData name="Guest User" userId="" providerId="Windows Live" clId="Web-{50B4B8A1-3B9F-EBC7-0ACE-57C60F7CD7F4}" dt="2026-03-27T12:03:44.689" v="13"/>
          <ac:spMkLst>
            <pc:docMk/>
            <pc:sldMk cId="0" sldId="260"/>
            <ac:spMk id="44" creationId="{00000000-0000-0000-0000-000000000000}"/>
          </ac:spMkLst>
        </pc:spChg>
      </pc:sldChg>
      <pc:sldChg chg="addSp delSp modSp">
        <pc:chgData name="Guest User" userId="" providerId="Windows Live" clId="Web-{50B4B8A1-3B9F-EBC7-0ACE-57C60F7CD7F4}" dt="2026-03-27T13:15:15.923" v="366" actId="20577"/>
        <pc:sldMkLst>
          <pc:docMk/>
          <pc:sldMk cId="0" sldId="269"/>
        </pc:sldMkLst>
        <pc:spChg chg="add mod">
          <ac:chgData name="Guest User" userId="" providerId="Windows Live" clId="Web-{50B4B8A1-3B9F-EBC7-0ACE-57C60F7CD7F4}" dt="2026-03-27T13:15:15.923" v="366" actId="20577"/>
          <ac:spMkLst>
            <pc:docMk/>
            <pc:sldMk cId="0" sldId="269"/>
            <ac:spMk id="6" creationId="{EE6E3E06-9042-C68A-AE60-596640F0BE3E}"/>
          </ac:spMkLst>
        </pc:spChg>
        <pc:spChg chg="mod">
          <ac:chgData name="Guest User" userId="" providerId="Windows Live" clId="Web-{50B4B8A1-3B9F-EBC7-0ACE-57C60F7CD7F4}" dt="2026-03-27T13:13:15.590" v="348" actId="14100"/>
          <ac:spMkLst>
            <pc:docMk/>
            <pc:sldMk cId="0" sldId="269"/>
            <ac:spMk id="11" creationId="{00000000-0000-0000-0000-000000000000}"/>
          </ac:spMkLst>
        </pc:spChg>
        <pc:spChg chg="mod">
          <ac:chgData name="Guest User" userId="" providerId="Windows Live" clId="Web-{50B4B8A1-3B9F-EBC7-0ACE-57C60F7CD7F4}" dt="2026-03-27T13:13:21.544" v="349" actId="14100"/>
          <ac:spMkLst>
            <pc:docMk/>
            <pc:sldMk cId="0" sldId="269"/>
            <ac:spMk id="17" creationId="{00000000-0000-0000-0000-000000000000}"/>
          </ac:spMkLst>
        </pc:spChg>
        <pc:spChg chg="mod">
          <ac:chgData name="Guest User" userId="" providerId="Windows Live" clId="Web-{50B4B8A1-3B9F-EBC7-0ACE-57C60F7CD7F4}" dt="2026-03-27T13:13:25.778" v="350" actId="14100"/>
          <ac:spMkLst>
            <pc:docMk/>
            <pc:sldMk cId="0" sldId="269"/>
            <ac:spMk id="23" creationId="{00000000-0000-0000-0000-000000000000}"/>
          </ac:spMkLst>
        </pc:spChg>
        <pc:spChg chg="del mod">
          <ac:chgData name="Guest User" userId="" providerId="Windows Live" clId="Web-{50B4B8A1-3B9F-EBC7-0ACE-57C60F7CD7F4}" dt="2026-03-27T13:12:55.309" v="347"/>
          <ac:spMkLst>
            <pc:docMk/>
            <pc:sldMk cId="0" sldId="269"/>
            <ac:spMk id="27" creationId="{00000000-0000-0000-0000-000000000000}"/>
          </ac:spMkLst>
        </pc:spChg>
        <pc:spChg chg="del mod">
          <ac:chgData name="Guest User" userId="" providerId="Windows Live" clId="Web-{50B4B8A1-3B9F-EBC7-0ACE-57C60F7CD7F4}" dt="2026-03-27T13:12:52.340" v="346"/>
          <ac:spMkLst>
            <pc:docMk/>
            <pc:sldMk cId="0" sldId="269"/>
            <ac:spMk id="28" creationId="{00000000-0000-0000-0000-000000000000}"/>
          </ac:spMkLst>
        </pc:spChg>
      </pc:sldChg>
      <pc:sldChg chg="addSp delSp modSp">
        <pc:chgData name="Guest User" userId="" providerId="Windows Live" clId="Web-{50B4B8A1-3B9F-EBC7-0ACE-57C60F7CD7F4}" dt="2026-03-27T13:17:43.629" v="383" actId="20577"/>
        <pc:sldMkLst>
          <pc:docMk/>
          <pc:sldMk cId="0" sldId="271"/>
        </pc:sldMkLst>
        <pc:spChg chg="add del mod">
          <ac:chgData name="Guest User" userId="" providerId="Windows Live" clId="Web-{50B4B8A1-3B9F-EBC7-0ACE-57C60F7CD7F4}" dt="2026-03-27T12:46:49.599" v="202"/>
          <ac:spMkLst>
            <pc:docMk/>
            <pc:sldMk cId="0" sldId="271"/>
            <ac:spMk id="6" creationId="{4E04C3DF-A167-6EA0-D380-1C73B81A98EE}"/>
          </ac:spMkLst>
        </pc:spChg>
        <pc:spChg chg="add mod">
          <ac:chgData name="Guest User" userId="" providerId="Windows Live" clId="Web-{50B4B8A1-3B9F-EBC7-0ACE-57C60F7CD7F4}" dt="2026-03-27T13:17:43.629" v="383" actId="20577"/>
          <ac:spMkLst>
            <pc:docMk/>
            <pc:sldMk cId="0" sldId="271"/>
            <ac:spMk id="7" creationId="{BB4AF157-E2F6-AE4A-F1E0-7CA4E4DA892D}"/>
          </ac:spMkLst>
        </pc:spChg>
        <pc:spChg chg="add del mod">
          <ac:chgData name="Guest User" userId="" providerId="Windows Live" clId="Web-{50B4B8A1-3B9F-EBC7-0ACE-57C60F7CD7F4}" dt="2026-03-27T13:05:21.346" v="279"/>
          <ac:spMkLst>
            <pc:docMk/>
            <pc:sldMk cId="0" sldId="271"/>
            <ac:spMk id="9" creationId="{E4855ADD-D2F1-325B-4AD0-33E1E50B5896}"/>
          </ac:spMkLst>
        </pc:spChg>
        <pc:spChg chg="del">
          <ac:chgData name="Guest User" userId="" providerId="Windows Live" clId="Web-{50B4B8A1-3B9F-EBC7-0ACE-57C60F7CD7F4}" dt="2026-03-27T12:44:28.644" v="174"/>
          <ac:spMkLst>
            <pc:docMk/>
            <pc:sldMk cId="0" sldId="271"/>
            <ac:spMk id="10" creationId="{00000000-0000-0000-0000-000000000000}"/>
          </ac:spMkLst>
        </pc:spChg>
        <pc:graphicFrameChg chg="mod modGraphic">
          <ac:chgData name="Guest User" userId="" providerId="Windows Live" clId="Web-{50B4B8A1-3B9F-EBC7-0ACE-57C60F7CD7F4}" dt="2026-03-27T13:16:00.064" v="371"/>
          <ac:graphicFrameMkLst>
            <pc:docMk/>
            <pc:sldMk cId="0" sldId="271"/>
            <ac:graphicFrameMk id="17" creationId="{00000000-0000-0000-0000-000000000000}"/>
          </ac:graphicFrameMkLst>
        </pc:graphicFrameChg>
      </pc:sldChg>
      <pc:sldChg chg="modSp">
        <pc:chgData name="Guest User" userId="" providerId="Windows Live" clId="Web-{50B4B8A1-3B9F-EBC7-0ACE-57C60F7CD7F4}" dt="2026-03-27T12:17:47.348" v="150" actId="20577"/>
        <pc:sldMkLst>
          <pc:docMk/>
          <pc:sldMk cId="0" sldId="275"/>
        </pc:sldMkLst>
        <pc:spChg chg="mod">
          <ac:chgData name="Guest User" userId="" providerId="Windows Live" clId="Web-{50B4B8A1-3B9F-EBC7-0ACE-57C60F7CD7F4}" dt="2026-03-27T12:17:47.348" v="150" actId="20577"/>
          <ac:spMkLst>
            <pc:docMk/>
            <pc:sldMk cId="0" sldId="275"/>
            <ac:spMk id="12"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675598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F362B1-2C7C-E775-C026-C15A47288B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973BF97-ADD4-EDC6-CFD5-58D01485F0C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F8DEA30-7AEF-DF1F-0DA6-E4EE7C2B69C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0177E6F-28FD-8E2F-3748-7F5202619E37}"/>
              </a:ext>
            </a:extLst>
          </p:cNvPr>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427334748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274320" cy="5143500"/>
          </a:xfrm>
          <a:prstGeom prst="rect">
            <a:avLst/>
          </a:prstGeom>
          <a:solidFill>
            <a:srgbClr val="1A3A5C"/>
          </a:solidFill>
          <a:ln w="12700">
            <a:solidFill>
              <a:srgbClr val="1A3A5C"/>
            </a:solidFill>
            <a:prstDash val="solid"/>
          </a:ln>
        </p:spPr>
        <p:txBody>
          <a:bodyPr/>
          <a:lstStyle/>
          <a:p>
            <a:endParaRPr lang="en-IN"/>
          </a:p>
        </p:txBody>
      </p:sp>
      <p:sp>
        <p:nvSpPr>
          <p:cNvPr id="3" name="Shape 1"/>
          <p:cNvSpPr/>
          <p:nvPr/>
        </p:nvSpPr>
        <p:spPr>
          <a:xfrm>
            <a:off x="274320" y="0"/>
            <a:ext cx="137160" cy="5143500"/>
          </a:xfrm>
          <a:prstGeom prst="rect">
            <a:avLst/>
          </a:prstGeom>
          <a:solidFill>
            <a:srgbClr val="E85D1A"/>
          </a:solidFill>
          <a:ln w="12700">
            <a:solidFill>
              <a:srgbClr val="E85D1A"/>
            </a:solidFill>
            <a:prstDash val="solid"/>
          </a:ln>
        </p:spPr>
        <p:txBody>
          <a:bodyPr/>
          <a:lstStyle/>
          <a:p>
            <a:endParaRPr lang="en-IN"/>
          </a:p>
        </p:txBody>
      </p:sp>
      <p:sp>
        <p:nvSpPr>
          <p:cNvPr id="5" name="Shape 3"/>
          <p:cNvSpPr/>
          <p:nvPr/>
        </p:nvSpPr>
        <p:spPr>
          <a:xfrm>
            <a:off x="411480" y="0"/>
            <a:ext cx="8732520" cy="164592"/>
          </a:xfrm>
          <a:prstGeom prst="rect">
            <a:avLst/>
          </a:prstGeom>
          <a:solidFill>
            <a:srgbClr val="FF9933"/>
          </a:solidFill>
          <a:ln w="12700">
            <a:solidFill>
              <a:srgbClr val="FF9933"/>
            </a:solidFill>
            <a:prstDash val="solid"/>
          </a:ln>
        </p:spPr>
        <p:txBody>
          <a:bodyPr/>
          <a:lstStyle/>
          <a:p>
            <a:endParaRPr lang="en-IN"/>
          </a:p>
        </p:txBody>
      </p:sp>
      <p:sp>
        <p:nvSpPr>
          <p:cNvPr id="6" name="Shape 4"/>
          <p:cNvSpPr/>
          <p:nvPr/>
        </p:nvSpPr>
        <p:spPr>
          <a:xfrm>
            <a:off x="411480" y="164592"/>
            <a:ext cx="8732520" cy="164592"/>
          </a:xfrm>
          <a:prstGeom prst="rect">
            <a:avLst/>
          </a:prstGeom>
          <a:solidFill>
            <a:srgbClr val="FFFFFF"/>
          </a:solidFill>
          <a:ln w="12700">
            <a:solidFill>
              <a:srgbClr val="DDDDDD"/>
            </a:solidFill>
            <a:prstDash val="solid"/>
          </a:ln>
        </p:spPr>
        <p:txBody>
          <a:bodyPr/>
          <a:lstStyle/>
          <a:p>
            <a:endParaRPr lang="en-IN"/>
          </a:p>
        </p:txBody>
      </p:sp>
      <p:sp>
        <p:nvSpPr>
          <p:cNvPr id="7" name="Shape 5"/>
          <p:cNvSpPr/>
          <p:nvPr/>
        </p:nvSpPr>
        <p:spPr>
          <a:xfrm>
            <a:off x="411480" y="329184"/>
            <a:ext cx="8732520" cy="164592"/>
          </a:xfrm>
          <a:prstGeom prst="rect">
            <a:avLst/>
          </a:prstGeom>
          <a:solidFill>
            <a:srgbClr val="138808"/>
          </a:solidFill>
          <a:ln w="12700">
            <a:solidFill>
              <a:srgbClr val="138808"/>
            </a:solidFill>
            <a:prstDash val="solid"/>
          </a:ln>
        </p:spPr>
        <p:txBody>
          <a:bodyPr/>
          <a:lstStyle/>
          <a:p>
            <a:endParaRPr lang="en-IN"/>
          </a:p>
        </p:txBody>
      </p:sp>
      <p:sp>
        <p:nvSpPr>
          <p:cNvPr id="8" name="Text 6"/>
          <p:cNvSpPr/>
          <p:nvPr/>
        </p:nvSpPr>
        <p:spPr>
          <a:xfrm>
            <a:off x="548640" y="640080"/>
            <a:ext cx="6126480" cy="320040"/>
          </a:xfrm>
          <a:prstGeom prst="rect">
            <a:avLst/>
          </a:prstGeom>
          <a:noFill/>
          <a:ln/>
        </p:spPr>
        <p:txBody>
          <a:bodyPr wrap="square" rtlCol="0" anchor="ctr"/>
          <a:lstStyle/>
          <a:p>
            <a:pPr marL="0" indent="0">
              <a:buNone/>
            </a:pPr>
            <a:r>
              <a:rPr lang="en-US" sz="1000" b="1" kern="0" spc="300" dirty="0">
                <a:solidFill>
                  <a:srgbClr val="64748B"/>
                </a:solidFill>
                <a:latin typeface="Calibri" pitchFamily="34" charset="0"/>
                <a:ea typeface="Calibri" pitchFamily="34" charset="-122"/>
                <a:cs typeface="Calibri" pitchFamily="34" charset="-120"/>
              </a:rPr>
              <a:t>INFOSYS SPRINGBOARD PROJECT</a:t>
            </a:r>
            <a:endParaRPr lang="en-US" sz="1000" dirty="0"/>
          </a:p>
        </p:txBody>
      </p:sp>
      <p:sp>
        <p:nvSpPr>
          <p:cNvPr id="9" name="Text 7"/>
          <p:cNvSpPr/>
          <p:nvPr/>
        </p:nvSpPr>
        <p:spPr>
          <a:xfrm>
            <a:off x="548640" y="1005840"/>
            <a:ext cx="6126480" cy="914400"/>
          </a:xfrm>
          <a:prstGeom prst="rect">
            <a:avLst/>
          </a:prstGeom>
          <a:noFill/>
          <a:ln/>
        </p:spPr>
        <p:txBody>
          <a:bodyPr wrap="square" rtlCol="0" anchor="ctr"/>
          <a:lstStyle/>
          <a:p>
            <a:pPr marL="0" indent="0">
              <a:buNone/>
            </a:pPr>
            <a:r>
              <a:rPr lang="en-US" sz="5200" b="1" dirty="0">
                <a:solidFill>
                  <a:srgbClr val="1A3A5C"/>
                </a:solidFill>
                <a:latin typeface="Times New Roman" panose="02020603050405020304" pitchFamily="18" charset="0"/>
                <a:ea typeface="Calibri" pitchFamily="34" charset="-122"/>
                <a:cs typeface="Times New Roman" panose="02020603050405020304" pitchFamily="18" charset="0"/>
              </a:rPr>
              <a:t>ElectViz</a:t>
            </a:r>
            <a:endParaRPr lang="en-US" sz="5200" dirty="0">
              <a:latin typeface="Times New Roman" panose="02020603050405020304" pitchFamily="18" charset="0"/>
              <a:cs typeface="Times New Roman" panose="02020603050405020304" pitchFamily="18" charset="0"/>
            </a:endParaRPr>
          </a:p>
        </p:txBody>
      </p:sp>
      <p:sp>
        <p:nvSpPr>
          <p:cNvPr id="10" name="Text 8"/>
          <p:cNvSpPr/>
          <p:nvPr/>
        </p:nvSpPr>
        <p:spPr>
          <a:xfrm>
            <a:off x="548640" y="1828800"/>
            <a:ext cx="6126480" cy="640080"/>
          </a:xfrm>
          <a:prstGeom prst="rect">
            <a:avLst/>
          </a:prstGeom>
          <a:noFill/>
          <a:ln/>
        </p:spPr>
        <p:txBody>
          <a:bodyPr wrap="square" rtlCol="0" anchor="ctr"/>
          <a:lstStyle/>
          <a:p>
            <a:pPr marL="0" indent="0">
              <a:buNone/>
            </a:pPr>
            <a:r>
              <a:rPr lang="en-US" sz="2000" b="1" dirty="0">
                <a:solidFill>
                  <a:srgbClr val="E85D1A"/>
                </a:solidFill>
                <a:latin typeface="Times New Roman" panose="02020603050405020304" pitchFamily="18" charset="0"/>
                <a:ea typeface="Calibri" pitchFamily="34" charset="-122"/>
                <a:cs typeface="Times New Roman" panose="02020603050405020304" pitchFamily="18" charset="0"/>
              </a:rPr>
              <a:t>Election Data Visualization for Media</a:t>
            </a:r>
            <a:endParaRPr lang="en-US" sz="2000" dirty="0">
              <a:latin typeface="Times New Roman" panose="02020603050405020304" pitchFamily="18" charset="0"/>
              <a:cs typeface="Times New Roman" panose="02020603050405020304" pitchFamily="18" charset="0"/>
            </a:endParaRPr>
          </a:p>
        </p:txBody>
      </p:sp>
      <p:sp>
        <p:nvSpPr>
          <p:cNvPr id="11" name="Shape 9"/>
          <p:cNvSpPr/>
          <p:nvPr/>
        </p:nvSpPr>
        <p:spPr>
          <a:xfrm>
            <a:off x="548640" y="2514600"/>
            <a:ext cx="5669280" cy="0"/>
          </a:xfrm>
          <a:prstGeom prst="line">
            <a:avLst/>
          </a:prstGeom>
          <a:noFill/>
          <a:ln w="19050">
            <a:solidFill>
              <a:srgbClr val="CBD5E1"/>
            </a:solidFill>
            <a:prstDash val="solid"/>
          </a:ln>
        </p:spPr>
        <p:txBody>
          <a:bodyPr/>
          <a:lstStyle/>
          <a:p>
            <a:endParaRPr lang="en-IN"/>
          </a:p>
        </p:txBody>
      </p:sp>
      <p:sp>
        <p:nvSpPr>
          <p:cNvPr id="12" name="Text 10"/>
          <p:cNvSpPr/>
          <p:nvPr/>
        </p:nvSpPr>
        <p:spPr>
          <a:xfrm>
            <a:off x="548640" y="2651760"/>
            <a:ext cx="5943600" cy="822960"/>
          </a:xfrm>
          <a:prstGeom prst="rect">
            <a:avLst/>
          </a:prstGeom>
          <a:noFill/>
          <a:ln/>
        </p:spPr>
        <p:txBody>
          <a:bodyPr wrap="square" rtlCol="0" anchor="ctr"/>
          <a:lstStyle/>
          <a:p>
            <a:pPr marL="0" indent="0">
              <a:buNone/>
            </a:pPr>
            <a:r>
              <a:rPr lang="en-US" sz="1200" dirty="0">
                <a:solidFill>
                  <a:srgbClr val="64748B"/>
                </a:solidFill>
                <a:latin typeface="Times New Roman" panose="02020603050405020304" pitchFamily="18" charset="0"/>
                <a:ea typeface="Calibri" pitchFamily="34" charset="-122"/>
                <a:cs typeface="Times New Roman" panose="02020603050405020304" pitchFamily="18" charset="0"/>
              </a:rPr>
              <a:t>India General Election Results — 2024</a:t>
            </a:r>
            <a:endParaRPr lang="en-US" sz="1200" dirty="0">
              <a:latin typeface="Times New Roman" panose="02020603050405020304" pitchFamily="18" charset="0"/>
              <a:cs typeface="Times New Roman" panose="02020603050405020304" pitchFamily="18" charset="0"/>
            </a:endParaRPr>
          </a:p>
          <a:p>
            <a:pPr marL="0" indent="0">
              <a:buNone/>
            </a:pPr>
            <a:r>
              <a:rPr lang="en-US" sz="1200" dirty="0">
                <a:solidFill>
                  <a:srgbClr val="64748B"/>
                </a:solidFill>
                <a:latin typeface="Times New Roman" panose="02020603050405020304" pitchFamily="18" charset="0"/>
                <a:ea typeface="Calibri" pitchFamily="34" charset="-122"/>
                <a:cs typeface="Times New Roman" panose="02020603050405020304" pitchFamily="18" charset="0"/>
              </a:rPr>
              <a:t>Power BI Dashboard Analytics &amp; Insights</a:t>
            </a:r>
            <a:endParaRPr lang="en-US" sz="1200" dirty="0">
              <a:latin typeface="Times New Roman" panose="02020603050405020304" pitchFamily="18" charset="0"/>
              <a:cs typeface="Times New Roman" panose="02020603050405020304" pitchFamily="18" charset="0"/>
            </a:endParaRPr>
          </a:p>
        </p:txBody>
      </p:sp>
      <p:sp>
        <p:nvSpPr>
          <p:cNvPr id="13" name="Shape 11"/>
          <p:cNvSpPr/>
          <p:nvPr/>
        </p:nvSpPr>
        <p:spPr>
          <a:xfrm>
            <a:off x="548640" y="3432811"/>
            <a:ext cx="6926580" cy="1478280"/>
          </a:xfrm>
          <a:prstGeom prst="rect">
            <a:avLst/>
          </a:prstGeom>
          <a:solidFill>
            <a:srgbClr val="1A3A5C"/>
          </a:solidFill>
          <a:ln w="12700">
            <a:solidFill>
              <a:srgbClr val="1A3A5C"/>
            </a:solidFill>
            <a:prstDash val="solid"/>
          </a:ln>
        </p:spPr>
        <p:txBody>
          <a:bodyPr/>
          <a:lstStyle/>
          <a:p>
            <a:endParaRPr lang="en-IN"/>
          </a:p>
        </p:txBody>
      </p:sp>
      <p:sp>
        <p:nvSpPr>
          <p:cNvPr id="14" name="Text 12"/>
          <p:cNvSpPr/>
          <p:nvPr/>
        </p:nvSpPr>
        <p:spPr>
          <a:xfrm>
            <a:off x="548640" y="3375661"/>
            <a:ext cx="4114800" cy="1493520"/>
          </a:xfrm>
          <a:prstGeom prst="rect">
            <a:avLst/>
          </a:prstGeom>
          <a:noFill/>
          <a:ln/>
        </p:spPr>
        <p:txBody>
          <a:bodyPr wrap="square" lIns="91440" tIns="45720" rIns="91440" bIns="45720" rtlCol="0" anchor="ctr"/>
          <a:lstStyle/>
          <a:p>
            <a:pPr marL="0" indent="0" algn="ctr">
              <a:buNone/>
            </a:pPr>
            <a:r>
              <a:rPr lang="en-US" sz="1200" b="1" dirty="0">
                <a:solidFill>
                  <a:srgbClr val="FFFFFF"/>
                </a:solidFill>
                <a:latin typeface="Times New Roman" panose="02020603050405020304" pitchFamily="18" charset="0"/>
                <a:ea typeface="Calibri"/>
                <a:cs typeface="Times New Roman" panose="02020603050405020304" pitchFamily="18" charset="0"/>
              </a:rPr>
              <a:t>Team C  |  Infosys Springboard
</a:t>
            </a:r>
            <a:endParaRPr lang="en-US" sz="1200" dirty="0">
              <a:latin typeface="Times New Roman" panose="02020603050405020304" pitchFamily="18" charset="0"/>
              <a:ea typeface="Calibri"/>
              <a:cs typeface="Times New Roman" panose="02020603050405020304" pitchFamily="18" charset="0"/>
            </a:endParaRPr>
          </a:p>
          <a:p>
            <a:pPr algn="ctr"/>
            <a:r>
              <a:rPr lang="en-US" sz="1200" dirty="0">
                <a:solidFill>
                  <a:srgbClr val="FFFFFF"/>
                </a:solidFill>
                <a:latin typeface="Times New Roman" panose="02020603050405020304" pitchFamily="18" charset="0"/>
                <a:ea typeface="Calibri"/>
                <a:cs typeface="Times New Roman" panose="02020603050405020304" pitchFamily="18" charset="0"/>
              </a:rPr>
              <a:t>Presented by: </a:t>
            </a:r>
            <a:r>
              <a:rPr lang="en-US" sz="1200" dirty="0" err="1">
                <a:solidFill>
                  <a:srgbClr val="FFFFFF"/>
                </a:solidFill>
                <a:latin typeface="Times New Roman" panose="02020603050405020304" pitchFamily="18" charset="0"/>
                <a:ea typeface="Calibri"/>
                <a:cs typeface="Times New Roman" panose="02020603050405020304" pitchFamily="18" charset="0"/>
              </a:rPr>
              <a:t>HarshaVardhan</a:t>
            </a:r>
            <a:r>
              <a:rPr lang="en-US" sz="1200" dirty="0">
                <a:solidFill>
                  <a:srgbClr val="FFFFFF"/>
                </a:solidFill>
                <a:latin typeface="Times New Roman" panose="02020603050405020304" pitchFamily="18" charset="0"/>
                <a:ea typeface="Calibri"/>
                <a:cs typeface="Times New Roman" panose="02020603050405020304" pitchFamily="18" charset="0"/>
              </a:rPr>
              <a:t> </a:t>
            </a:r>
            <a:r>
              <a:rPr lang="en-US" sz="1200" dirty="0" err="1">
                <a:solidFill>
                  <a:srgbClr val="FFFFFF"/>
                </a:solidFill>
                <a:latin typeface="Times New Roman" panose="02020603050405020304" pitchFamily="18" charset="0"/>
                <a:ea typeface="Calibri"/>
                <a:cs typeface="Times New Roman" panose="02020603050405020304" pitchFamily="18" charset="0"/>
              </a:rPr>
              <a:t>Vinukonda</a:t>
            </a:r>
            <a:endParaRPr lang="en-US" sz="1200" dirty="0">
              <a:solidFill>
                <a:srgbClr val="FFFFFF"/>
              </a:solidFill>
              <a:latin typeface="Times New Roman" panose="02020603050405020304" pitchFamily="18" charset="0"/>
              <a:ea typeface="Calibri"/>
              <a:cs typeface="Times New Roman" panose="02020603050405020304" pitchFamily="18" charset="0"/>
            </a:endParaRPr>
          </a:p>
          <a:p>
            <a:pPr algn="ctr"/>
            <a:r>
              <a:rPr lang="en-US" sz="1200" dirty="0">
                <a:solidFill>
                  <a:srgbClr val="FFFFFF"/>
                </a:solidFill>
                <a:latin typeface="Times New Roman" panose="02020603050405020304" pitchFamily="18" charset="0"/>
                <a:ea typeface="Calibri"/>
                <a:cs typeface="Times New Roman" panose="02020603050405020304" pitchFamily="18" charset="0"/>
              </a:rPr>
              <a:t>     Mythri Malraju</a:t>
            </a:r>
          </a:p>
          <a:p>
            <a:pPr algn="ctr"/>
            <a:r>
              <a:rPr lang="en-US" sz="1200" dirty="0">
                <a:solidFill>
                  <a:srgbClr val="FFFFFF"/>
                </a:solidFill>
                <a:latin typeface="Times New Roman" panose="02020603050405020304" pitchFamily="18" charset="0"/>
                <a:ea typeface="Calibri"/>
                <a:cs typeface="Times New Roman" panose="02020603050405020304" pitchFamily="18" charset="0"/>
              </a:rPr>
              <a:t>       Poonam Sharma</a:t>
            </a:r>
          </a:p>
          <a:p>
            <a:pPr algn="ctr"/>
            <a:r>
              <a:rPr lang="en-US" sz="1200" dirty="0">
                <a:solidFill>
                  <a:srgbClr val="FFFFFF"/>
                </a:solidFill>
                <a:latin typeface="Times New Roman" panose="02020603050405020304" pitchFamily="18" charset="0"/>
                <a:ea typeface="Calibri"/>
                <a:cs typeface="Times New Roman" panose="02020603050405020304" pitchFamily="18" charset="0"/>
              </a:rPr>
              <a:t>      Snehal </a:t>
            </a:r>
            <a:r>
              <a:rPr lang="en-US" sz="1200" dirty="0" err="1">
                <a:solidFill>
                  <a:srgbClr val="FFFFFF"/>
                </a:solidFill>
                <a:latin typeface="Times New Roman" panose="02020603050405020304" pitchFamily="18" charset="0"/>
                <a:ea typeface="Calibri"/>
                <a:cs typeface="Times New Roman" panose="02020603050405020304" pitchFamily="18" charset="0"/>
              </a:rPr>
              <a:t>Gurnule</a:t>
            </a:r>
            <a:endParaRPr lang="en-US" sz="1200" dirty="0">
              <a:solidFill>
                <a:srgbClr val="FFFFFF"/>
              </a:solidFill>
              <a:latin typeface="Times New Roman" panose="02020603050405020304" pitchFamily="18" charset="0"/>
              <a:ea typeface="Calibri"/>
              <a:cs typeface="Times New Roman" panose="02020603050405020304" pitchFamily="18" charset="0"/>
            </a:endParaRPr>
          </a:p>
          <a:p>
            <a:r>
              <a:rPr lang="en-US" sz="1200" dirty="0">
                <a:solidFill>
                  <a:srgbClr val="FFFFFF"/>
                </a:solidFill>
                <a:latin typeface="Times New Roman" panose="02020603050405020304" pitchFamily="18" charset="0"/>
                <a:ea typeface="Calibri"/>
                <a:cs typeface="Times New Roman" panose="02020603050405020304" pitchFamily="18" charset="0"/>
              </a:rPr>
              <a:t>	               Samyak </a:t>
            </a:r>
            <a:r>
              <a:rPr lang="en-US" sz="1200" dirty="0" err="1">
                <a:solidFill>
                  <a:srgbClr val="FFFFFF"/>
                </a:solidFill>
                <a:latin typeface="Times New Roman" panose="02020603050405020304" pitchFamily="18" charset="0"/>
                <a:ea typeface="Calibri"/>
                <a:cs typeface="Times New Roman" panose="02020603050405020304" pitchFamily="18" charset="0"/>
              </a:rPr>
              <a:t>Labhane</a:t>
            </a:r>
            <a:endParaRPr lang="en-US" sz="1200" dirty="0">
              <a:latin typeface="Times New Roman" panose="02020603050405020304" pitchFamily="18" charset="0"/>
              <a:ea typeface="Calibri"/>
              <a:cs typeface="Times New Roman" panose="02020603050405020304" pitchFamily="18" charset="0"/>
            </a:endParaRPr>
          </a:p>
        </p:txBody>
      </p:sp>
      <p:sp>
        <p:nvSpPr>
          <p:cNvPr id="21" name="TextBox 20"/>
          <p:cNvSpPr txBox="1"/>
          <p:nvPr/>
        </p:nvSpPr>
        <p:spPr>
          <a:xfrm>
            <a:off x="5410200" y="3688080"/>
            <a:ext cx="1821180" cy="276999"/>
          </a:xfrm>
          <a:prstGeom prst="rect">
            <a:avLst/>
          </a:prstGeom>
          <a:noFill/>
        </p:spPr>
        <p:txBody>
          <a:bodyPr wrap="square" rtlCol="0">
            <a:spAutoFit/>
          </a:bodyPr>
          <a:lstStyle/>
          <a:p>
            <a:r>
              <a:rPr lang="en-IN" sz="1200" dirty="0">
                <a:solidFill>
                  <a:schemeClr val="bg1"/>
                </a:solidFill>
                <a:latin typeface="Times New Roman" panose="02020603050405020304" pitchFamily="18" charset="0"/>
                <a:cs typeface="Times New Roman" panose="02020603050405020304" pitchFamily="18" charset="0"/>
              </a:rPr>
              <a:t>Mentor:- Ajay V</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30822"/>
            <a:ext cx="9144000" cy="1005840"/>
          </a:xfrm>
          <a:prstGeom prst="rect">
            <a:avLst/>
          </a:prstGeom>
          <a:solidFill>
            <a:srgbClr val="1A3A5C"/>
          </a:solidFill>
          <a:ln w="12700">
            <a:solidFill>
              <a:srgbClr val="1A3A5C"/>
            </a:solidFill>
            <a:prstDash val="solid"/>
          </a:ln>
        </p:spPr>
        <p:txBody>
          <a:bodyPr/>
          <a:lstStyle/>
          <a:p>
            <a:endParaRPr lang="en-IN"/>
          </a:p>
        </p:txBody>
      </p:sp>
      <p:sp>
        <p:nvSpPr>
          <p:cNvPr id="3" name="Shape 1"/>
          <p:cNvSpPr/>
          <p:nvPr/>
        </p:nvSpPr>
        <p:spPr>
          <a:xfrm>
            <a:off x="0" y="1005840"/>
            <a:ext cx="9144000" cy="64008"/>
          </a:xfrm>
          <a:prstGeom prst="rect">
            <a:avLst/>
          </a:prstGeom>
          <a:solidFill>
            <a:srgbClr val="E85D1A"/>
          </a:solidFill>
          <a:ln w="12700">
            <a:solidFill>
              <a:srgbClr val="E85D1A"/>
            </a:solidFill>
            <a:prstDash val="solid"/>
          </a:ln>
        </p:spPr>
        <p:txBody>
          <a:bodyPr/>
          <a:lstStyle/>
          <a:p>
            <a:endParaRPr lang="en-IN"/>
          </a:p>
        </p:txBody>
      </p:sp>
      <p:sp>
        <p:nvSpPr>
          <p:cNvPr id="4" name="Text 2"/>
          <p:cNvSpPr/>
          <p:nvPr/>
        </p:nvSpPr>
        <p:spPr>
          <a:xfrm>
            <a:off x="365760" y="91440"/>
            <a:ext cx="7315200" cy="54864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Table of Contents</a:t>
            </a:r>
            <a:endParaRPr lang="en-US" sz="2200" dirty="0"/>
          </a:p>
        </p:txBody>
      </p:sp>
      <p:sp>
        <p:nvSpPr>
          <p:cNvPr id="5" name="Text 3"/>
          <p:cNvSpPr/>
          <p:nvPr/>
        </p:nvSpPr>
        <p:spPr>
          <a:xfrm>
            <a:off x="365760" y="594360"/>
            <a:ext cx="7315200" cy="365760"/>
          </a:xfrm>
          <a:prstGeom prst="rect">
            <a:avLst/>
          </a:prstGeom>
          <a:noFill/>
          <a:ln/>
        </p:spPr>
        <p:txBody>
          <a:bodyPr wrap="square" rtlCol="0" anchor="ctr"/>
          <a:lstStyle/>
          <a:p>
            <a:pPr marL="0" indent="0">
              <a:buNone/>
            </a:pPr>
            <a:r>
              <a:rPr lang="en-US" sz="1400" i="1" dirty="0">
                <a:solidFill>
                  <a:srgbClr val="B0C4DE"/>
                </a:solidFill>
                <a:latin typeface="Calibri" pitchFamily="34" charset="0"/>
                <a:ea typeface="Calibri" pitchFamily="34" charset="-122"/>
                <a:cs typeface="Calibri" pitchFamily="34" charset="-120"/>
              </a:rPr>
              <a:t>Structure of the Presentation</a:t>
            </a:r>
            <a:endParaRPr lang="en-US" sz="1400" dirty="0"/>
          </a:p>
        </p:txBody>
      </p:sp>
      <p:sp>
        <p:nvSpPr>
          <p:cNvPr id="8" name="Shape 6"/>
          <p:cNvSpPr/>
          <p:nvPr/>
        </p:nvSpPr>
        <p:spPr>
          <a:xfrm>
            <a:off x="365760" y="1280160"/>
            <a:ext cx="347472" cy="347472"/>
          </a:xfrm>
          <a:prstGeom prst="rect">
            <a:avLst/>
          </a:prstGeom>
          <a:solidFill>
            <a:srgbClr val="1A3A5C"/>
          </a:solidFill>
          <a:ln w="12700">
            <a:solidFill>
              <a:srgbClr val="1A3A5C"/>
            </a:solidFill>
            <a:prstDash val="solid"/>
          </a:ln>
        </p:spPr>
        <p:txBody>
          <a:bodyPr/>
          <a:lstStyle/>
          <a:p>
            <a:endParaRPr lang="en-IN"/>
          </a:p>
        </p:txBody>
      </p:sp>
      <p:sp>
        <p:nvSpPr>
          <p:cNvPr id="9" name="Text 7"/>
          <p:cNvSpPr/>
          <p:nvPr/>
        </p:nvSpPr>
        <p:spPr>
          <a:xfrm>
            <a:off x="365760" y="1280160"/>
            <a:ext cx="347472" cy="347472"/>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01</a:t>
            </a:r>
            <a:endParaRPr lang="en-US" sz="1000" dirty="0"/>
          </a:p>
        </p:txBody>
      </p:sp>
      <p:sp>
        <p:nvSpPr>
          <p:cNvPr id="10" name="Text 8"/>
          <p:cNvSpPr/>
          <p:nvPr/>
        </p:nvSpPr>
        <p:spPr>
          <a:xfrm>
            <a:off x="777240" y="1234440"/>
            <a:ext cx="3840480" cy="438912"/>
          </a:xfrm>
          <a:prstGeom prst="rect">
            <a:avLst/>
          </a:prstGeom>
          <a:noFill/>
          <a:ln/>
        </p:spPr>
        <p:txBody>
          <a:bodyPr wrap="square" rtlCol="0" anchor="ctr"/>
          <a:lstStyle/>
          <a:p>
            <a:pPr marL="0" indent="0">
              <a:buNone/>
            </a:pPr>
            <a:r>
              <a:rPr lang="en-US" sz="1200" dirty="0">
                <a:solidFill>
                  <a:srgbClr val="334155"/>
                </a:solidFill>
                <a:latin typeface="Calibri" pitchFamily="34" charset="0"/>
                <a:ea typeface="Calibri" pitchFamily="34" charset="-122"/>
                <a:cs typeface="Calibri" pitchFamily="34" charset="-120"/>
              </a:rPr>
              <a:t>Abstract</a:t>
            </a:r>
            <a:endParaRPr lang="en-US" sz="1200" dirty="0"/>
          </a:p>
        </p:txBody>
      </p:sp>
      <p:sp>
        <p:nvSpPr>
          <p:cNvPr id="11" name="Shape 9"/>
          <p:cNvSpPr/>
          <p:nvPr/>
        </p:nvSpPr>
        <p:spPr>
          <a:xfrm>
            <a:off x="365760" y="1783080"/>
            <a:ext cx="347472" cy="347472"/>
          </a:xfrm>
          <a:prstGeom prst="rect">
            <a:avLst/>
          </a:prstGeom>
          <a:solidFill>
            <a:srgbClr val="1A3A5C"/>
          </a:solidFill>
          <a:ln w="12700">
            <a:solidFill>
              <a:srgbClr val="1A3A5C"/>
            </a:solidFill>
            <a:prstDash val="solid"/>
          </a:ln>
        </p:spPr>
        <p:txBody>
          <a:bodyPr/>
          <a:lstStyle/>
          <a:p>
            <a:endParaRPr lang="en-IN"/>
          </a:p>
        </p:txBody>
      </p:sp>
      <p:sp>
        <p:nvSpPr>
          <p:cNvPr id="12" name="Text 10"/>
          <p:cNvSpPr/>
          <p:nvPr/>
        </p:nvSpPr>
        <p:spPr>
          <a:xfrm>
            <a:off x="365760" y="1783080"/>
            <a:ext cx="347472" cy="347472"/>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02</a:t>
            </a:r>
            <a:endParaRPr lang="en-US" sz="1000" dirty="0"/>
          </a:p>
        </p:txBody>
      </p:sp>
      <p:sp>
        <p:nvSpPr>
          <p:cNvPr id="13" name="Text 11"/>
          <p:cNvSpPr/>
          <p:nvPr/>
        </p:nvSpPr>
        <p:spPr>
          <a:xfrm>
            <a:off x="777240" y="1737360"/>
            <a:ext cx="3840480" cy="438912"/>
          </a:xfrm>
          <a:prstGeom prst="rect">
            <a:avLst/>
          </a:prstGeom>
          <a:noFill/>
          <a:ln/>
        </p:spPr>
        <p:txBody>
          <a:bodyPr wrap="square" rtlCol="0" anchor="ctr"/>
          <a:lstStyle/>
          <a:p>
            <a:pPr marL="0" indent="0">
              <a:buNone/>
            </a:pPr>
            <a:r>
              <a:rPr lang="en-US" sz="1200" dirty="0">
                <a:solidFill>
                  <a:srgbClr val="334155"/>
                </a:solidFill>
                <a:latin typeface="Calibri" pitchFamily="34" charset="0"/>
                <a:ea typeface="Calibri" pitchFamily="34" charset="-122"/>
                <a:cs typeface="Calibri" pitchFamily="34" charset="-120"/>
              </a:rPr>
              <a:t>Background &amp; Motivation</a:t>
            </a:r>
            <a:endParaRPr lang="en-US" sz="1200" dirty="0"/>
          </a:p>
        </p:txBody>
      </p:sp>
      <p:sp>
        <p:nvSpPr>
          <p:cNvPr id="14" name="Shape 12"/>
          <p:cNvSpPr/>
          <p:nvPr/>
        </p:nvSpPr>
        <p:spPr>
          <a:xfrm>
            <a:off x="365760" y="2286000"/>
            <a:ext cx="347472" cy="347472"/>
          </a:xfrm>
          <a:prstGeom prst="rect">
            <a:avLst/>
          </a:prstGeom>
          <a:solidFill>
            <a:srgbClr val="1A3A5C"/>
          </a:solidFill>
          <a:ln w="12700">
            <a:solidFill>
              <a:srgbClr val="1A3A5C"/>
            </a:solidFill>
            <a:prstDash val="solid"/>
          </a:ln>
        </p:spPr>
        <p:txBody>
          <a:bodyPr/>
          <a:lstStyle/>
          <a:p>
            <a:endParaRPr lang="en-IN"/>
          </a:p>
        </p:txBody>
      </p:sp>
      <p:sp>
        <p:nvSpPr>
          <p:cNvPr id="15" name="Text 13"/>
          <p:cNvSpPr/>
          <p:nvPr/>
        </p:nvSpPr>
        <p:spPr>
          <a:xfrm>
            <a:off x="365760" y="2286000"/>
            <a:ext cx="347472" cy="347472"/>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03</a:t>
            </a:r>
            <a:endParaRPr lang="en-US" sz="1000" dirty="0"/>
          </a:p>
        </p:txBody>
      </p:sp>
      <p:sp>
        <p:nvSpPr>
          <p:cNvPr id="16" name="Text 14"/>
          <p:cNvSpPr/>
          <p:nvPr/>
        </p:nvSpPr>
        <p:spPr>
          <a:xfrm>
            <a:off x="777240" y="2240280"/>
            <a:ext cx="3840480" cy="438912"/>
          </a:xfrm>
          <a:prstGeom prst="rect">
            <a:avLst/>
          </a:prstGeom>
          <a:noFill/>
          <a:ln/>
        </p:spPr>
        <p:txBody>
          <a:bodyPr wrap="square" rtlCol="0" anchor="ctr"/>
          <a:lstStyle/>
          <a:p>
            <a:pPr marL="0" indent="0">
              <a:buNone/>
            </a:pPr>
            <a:r>
              <a:rPr lang="en-US" sz="1200" dirty="0">
                <a:solidFill>
                  <a:srgbClr val="334155"/>
                </a:solidFill>
                <a:latin typeface="Calibri" pitchFamily="34" charset="0"/>
                <a:ea typeface="Calibri" pitchFamily="34" charset="-122"/>
                <a:cs typeface="Calibri" pitchFamily="34" charset="-120"/>
              </a:rPr>
              <a:t>Project Overview</a:t>
            </a:r>
            <a:endParaRPr lang="en-US" sz="1200" dirty="0"/>
          </a:p>
        </p:txBody>
      </p:sp>
      <p:sp>
        <p:nvSpPr>
          <p:cNvPr id="17" name="Shape 15"/>
          <p:cNvSpPr/>
          <p:nvPr/>
        </p:nvSpPr>
        <p:spPr>
          <a:xfrm>
            <a:off x="365760" y="2788920"/>
            <a:ext cx="347472" cy="347472"/>
          </a:xfrm>
          <a:prstGeom prst="rect">
            <a:avLst/>
          </a:prstGeom>
          <a:solidFill>
            <a:srgbClr val="1A3A5C"/>
          </a:solidFill>
          <a:ln w="12700">
            <a:solidFill>
              <a:srgbClr val="1A3A5C"/>
            </a:solidFill>
            <a:prstDash val="solid"/>
          </a:ln>
        </p:spPr>
        <p:txBody>
          <a:bodyPr/>
          <a:lstStyle/>
          <a:p>
            <a:endParaRPr lang="en-IN"/>
          </a:p>
        </p:txBody>
      </p:sp>
      <p:sp>
        <p:nvSpPr>
          <p:cNvPr id="18" name="Text 16"/>
          <p:cNvSpPr/>
          <p:nvPr/>
        </p:nvSpPr>
        <p:spPr>
          <a:xfrm>
            <a:off x="365760" y="2788920"/>
            <a:ext cx="347472" cy="347472"/>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04</a:t>
            </a:r>
            <a:endParaRPr lang="en-US" sz="1000" dirty="0"/>
          </a:p>
        </p:txBody>
      </p:sp>
      <p:sp>
        <p:nvSpPr>
          <p:cNvPr id="19" name="Text 17"/>
          <p:cNvSpPr/>
          <p:nvPr/>
        </p:nvSpPr>
        <p:spPr>
          <a:xfrm>
            <a:off x="777240" y="2743200"/>
            <a:ext cx="3840480" cy="438912"/>
          </a:xfrm>
          <a:prstGeom prst="rect">
            <a:avLst/>
          </a:prstGeom>
          <a:noFill/>
          <a:ln/>
        </p:spPr>
        <p:txBody>
          <a:bodyPr wrap="square" rtlCol="0" anchor="ctr"/>
          <a:lstStyle/>
          <a:p>
            <a:pPr marL="0" indent="0">
              <a:buNone/>
            </a:pPr>
            <a:r>
              <a:rPr lang="en-US" sz="1200" dirty="0">
                <a:solidFill>
                  <a:srgbClr val="334155"/>
                </a:solidFill>
                <a:latin typeface="Calibri" pitchFamily="34" charset="0"/>
                <a:ea typeface="Calibri" pitchFamily="34" charset="-122"/>
                <a:cs typeface="Calibri" pitchFamily="34" charset="-120"/>
              </a:rPr>
              <a:t>Dataset Overview</a:t>
            </a:r>
            <a:endParaRPr lang="en-US" sz="1200" dirty="0"/>
          </a:p>
        </p:txBody>
      </p:sp>
      <p:sp>
        <p:nvSpPr>
          <p:cNvPr id="20" name="Shape 18"/>
          <p:cNvSpPr/>
          <p:nvPr/>
        </p:nvSpPr>
        <p:spPr>
          <a:xfrm>
            <a:off x="365760" y="3291840"/>
            <a:ext cx="347472" cy="347472"/>
          </a:xfrm>
          <a:prstGeom prst="rect">
            <a:avLst/>
          </a:prstGeom>
          <a:solidFill>
            <a:srgbClr val="1A3A5C"/>
          </a:solidFill>
          <a:ln w="12700">
            <a:solidFill>
              <a:srgbClr val="1A3A5C"/>
            </a:solidFill>
            <a:prstDash val="solid"/>
          </a:ln>
        </p:spPr>
        <p:txBody>
          <a:bodyPr/>
          <a:lstStyle/>
          <a:p>
            <a:endParaRPr lang="en-IN"/>
          </a:p>
        </p:txBody>
      </p:sp>
      <p:sp>
        <p:nvSpPr>
          <p:cNvPr id="21" name="Text 19"/>
          <p:cNvSpPr/>
          <p:nvPr/>
        </p:nvSpPr>
        <p:spPr>
          <a:xfrm>
            <a:off x="365760" y="3291840"/>
            <a:ext cx="347472" cy="347472"/>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05</a:t>
            </a:r>
            <a:endParaRPr lang="en-US" sz="1000" dirty="0"/>
          </a:p>
        </p:txBody>
      </p:sp>
      <p:sp>
        <p:nvSpPr>
          <p:cNvPr id="22" name="Text 20"/>
          <p:cNvSpPr/>
          <p:nvPr/>
        </p:nvSpPr>
        <p:spPr>
          <a:xfrm>
            <a:off x="777240" y="3246120"/>
            <a:ext cx="3840480" cy="438912"/>
          </a:xfrm>
          <a:prstGeom prst="rect">
            <a:avLst/>
          </a:prstGeom>
          <a:noFill/>
          <a:ln/>
        </p:spPr>
        <p:txBody>
          <a:bodyPr wrap="square" rtlCol="0" anchor="ctr"/>
          <a:lstStyle/>
          <a:p>
            <a:pPr marL="0" indent="0">
              <a:buNone/>
            </a:pPr>
            <a:r>
              <a:rPr lang="en-US" sz="1200" dirty="0">
                <a:solidFill>
                  <a:srgbClr val="334155"/>
                </a:solidFill>
                <a:latin typeface="Calibri" pitchFamily="34" charset="0"/>
                <a:ea typeface="Calibri" pitchFamily="34" charset="-122"/>
                <a:cs typeface="Calibri" pitchFamily="34" charset="-120"/>
              </a:rPr>
              <a:t>Data Modeling &amp; Architecture</a:t>
            </a:r>
            <a:endParaRPr lang="en-US" sz="1200" dirty="0"/>
          </a:p>
        </p:txBody>
      </p:sp>
      <p:sp>
        <p:nvSpPr>
          <p:cNvPr id="23" name="Shape 21"/>
          <p:cNvSpPr/>
          <p:nvPr/>
        </p:nvSpPr>
        <p:spPr>
          <a:xfrm>
            <a:off x="365760" y="3794760"/>
            <a:ext cx="347472" cy="347472"/>
          </a:xfrm>
          <a:prstGeom prst="rect">
            <a:avLst/>
          </a:prstGeom>
          <a:solidFill>
            <a:srgbClr val="1A3A5C"/>
          </a:solidFill>
          <a:ln w="12700">
            <a:solidFill>
              <a:srgbClr val="1A3A5C"/>
            </a:solidFill>
            <a:prstDash val="solid"/>
          </a:ln>
        </p:spPr>
        <p:txBody>
          <a:bodyPr/>
          <a:lstStyle/>
          <a:p>
            <a:endParaRPr lang="en-IN"/>
          </a:p>
        </p:txBody>
      </p:sp>
      <p:sp>
        <p:nvSpPr>
          <p:cNvPr id="24" name="Text 22"/>
          <p:cNvSpPr/>
          <p:nvPr/>
        </p:nvSpPr>
        <p:spPr>
          <a:xfrm>
            <a:off x="365760" y="3794760"/>
            <a:ext cx="347472" cy="347472"/>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06</a:t>
            </a:r>
            <a:endParaRPr lang="en-US" sz="1000" dirty="0"/>
          </a:p>
        </p:txBody>
      </p:sp>
      <p:sp>
        <p:nvSpPr>
          <p:cNvPr id="25" name="Text 23"/>
          <p:cNvSpPr/>
          <p:nvPr/>
        </p:nvSpPr>
        <p:spPr>
          <a:xfrm>
            <a:off x="777240" y="3749040"/>
            <a:ext cx="3840480" cy="438912"/>
          </a:xfrm>
          <a:prstGeom prst="rect">
            <a:avLst/>
          </a:prstGeom>
          <a:noFill/>
          <a:ln/>
        </p:spPr>
        <p:txBody>
          <a:bodyPr wrap="square" rtlCol="0" anchor="ctr"/>
          <a:lstStyle/>
          <a:p>
            <a:pPr marL="0" indent="0">
              <a:buNone/>
            </a:pPr>
            <a:r>
              <a:rPr lang="en-US" sz="1200" dirty="0">
                <a:solidFill>
                  <a:srgbClr val="334155"/>
                </a:solidFill>
                <a:latin typeface="Calibri" pitchFamily="34" charset="0"/>
                <a:ea typeface="Calibri" pitchFamily="34" charset="-122"/>
                <a:cs typeface="Calibri" pitchFamily="34" charset="-120"/>
              </a:rPr>
              <a:t>DAX Measures &amp; Business Logic</a:t>
            </a:r>
            <a:endParaRPr lang="en-US" sz="1200" dirty="0"/>
          </a:p>
        </p:txBody>
      </p:sp>
      <p:sp>
        <p:nvSpPr>
          <p:cNvPr id="26" name="Shape 24"/>
          <p:cNvSpPr/>
          <p:nvPr/>
        </p:nvSpPr>
        <p:spPr>
          <a:xfrm>
            <a:off x="365760" y="4297680"/>
            <a:ext cx="347472" cy="347472"/>
          </a:xfrm>
          <a:prstGeom prst="rect">
            <a:avLst/>
          </a:prstGeom>
          <a:solidFill>
            <a:srgbClr val="1A3A5C"/>
          </a:solidFill>
          <a:ln w="12700">
            <a:solidFill>
              <a:srgbClr val="1A3A5C"/>
            </a:solidFill>
            <a:prstDash val="solid"/>
          </a:ln>
        </p:spPr>
        <p:txBody>
          <a:bodyPr/>
          <a:lstStyle/>
          <a:p>
            <a:endParaRPr lang="en-IN"/>
          </a:p>
        </p:txBody>
      </p:sp>
      <p:sp>
        <p:nvSpPr>
          <p:cNvPr id="27" name="Text 25"/>
          <p:cNvSpPr/>
          <p:nvPr/>
        </p:nvSpPr>
        <p:spPr>
          <a:xfrm>
            <a:off x="365760" y="4297680"/>
            <a:ext cx="347472" cy="347472"/>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07</a:t>
            </a:r>
            <a:endParaRPr lang="en-US" sz="1000" dirty="0"/>
          </a:p>
        </p:txBody>
      </p:sp>
      <p:sp>
        <p:nvSpPr>
          <p:cNvPr id="28" name="Text 26"/>
          <p:cNvSpPr/>
          <p:nvPr/>
        </p:nvSpPr>
        <p:spPr>
          <a:xfrm>
            <a:off x="777240" y="4251960"/>
            <a:ext cx="3840480" cy="438912"/>
          </a:xfrm>
          <a:prstGeom prst="rect">
            <a:avLst/>
          </a:prstGeom>
          <a:noFill/>
          <a:ln/>
        </p:spPr>
        <p:txBody>
          <a:bodyPr wrap="square" rtlCol="0" anchor="ctr"/>
          <a:lstStyle/>
          <a:p>
            <a:pPr marL="0" indent="0">
              <a:buNone/>
            </a:pPr>
            <a:r>
              <a:rPr lang="en-US" sz="1200" dirty="0">
                <a:solidFill>
                  <a:srgbClr val="334155"/>
                </a:solidFill>
                <a:latin typeface="Calibri" pitchFamily="34" charset="0"/>
                <a:ea typeface="Calibri" pitchFamily="34" charset="-122"/>
                <a:cs typeface="Calibri" pitchFamily="34" charset="-120"/>
              </a:rPr>
              <a:t>Dashboard 1 – Overview Analysis</a:t>
            </a:r>
            <a:endParaRPr lang="en-US" sz="1200" dirty="0"/>
          </a:p>
        </p:txBody>
      </p:sp>
      <p:sp>
        <p:nvSpPr>
          <p:cNvPr id="29" name="Shape 27"/>
          <p:cNvSpPr/>
          <p:nvPr/>
        </p:nvSpPr>
        <p:spPr>
          <a:xfrm>
            <a:off x="4846320" y="1280160"/>
            <a:ext cx="347472" cy="347472"/>
          </a:xfrm>
          <a:prstGeom prst="rect">
            <a:avLst/>
          </a:prstGeom>
          <a:solidFill>
            <a:srgbClr val="1A3A5C"/>
          </a:solidFill>
          <a:ln w="12700">
            <a:solidFill>
              <a:srgbClr val="1A3A5C"/>
            </a:solidFill>
            <a:prstDash val="solid"/>
          </a:ln>
        </p:spPr>
        <p:txBody>
          <a:bodyPr/>
          <a:lstStyle/>
          <a:p>
            <a:endParaRPr lang="en-IN"/>
          </a:p>
        </p:txBody>
      </p:sp>
      <p:sp>
        <p:nvSpPr>
          <p:cNvPr id="30" name="Text 28"/>
          <p:cNvSpPr/>
          <p:nvPr/>
        </p:nvSpPr>
        <p:spPr>
          <a:xfrm>
            <a:off x="4846320" y="1280160"/>
            <a:ext cx="347472" cy="301752"/>
          </a:xfrm>
          <a:prstGeom prst="rect">
            <a:avLst/>
          </a:prstGeom>
          <a:solidFill>
            <a:srgbClr val="1A3A5C"/>
          </a:solidFill>
          <a:ln>
            <a:solidFill>
              <a:srgbClr val="1A3A5C"/>
            </a:solid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08</a:t>
            </a:r>
            <a:endParaRPr lang="en-US" sz="1000" dirty="0"/>
          </a:p>
        </p:txBody>
      </p:sp>
      <p:sp>
        <p:nvSpPr>
          <p:cNvPr id="31" name="Text 29"/>
          <p:cNvSpPr/>
          <p:nvPr/>
        </p:nvSpPr>
        <p:spPr>
          <a:xfrm>
            <a:off x="5257800" y="1234440"/>
            <a:ext cx="3657600" cy="438912"/>
          </a:xfrm>
          <a:prstGeom prst="rect">
            <a:avLst/>
          </a:prstGeom>
          <a:noFill/>
          <a:ln/>
        </p:spPr>
        <p:txBody>
          <a:bodyPr wrap="square" rtlCol="0" anchor="ctr"/>
          <a:lstStyle/>
          <a:p>
            <a:pPr marL="0" indent="0">
              <a:buNone/>
            </a:pPr>
            <a:r>
              <a:rPr lang="en-US" sz="1200" dirty="0">
                <a:solidFill>
                  <a:srgbClr val="334155"/>
                </a:solidFill>
                <a:latin typeface="Calibri" pitchFamily="34" charset="0"/>
                <a:ea typeface="Calibri" pitchFamily="34" charset="-122"/>
                <a:cs typeface="Calibri" pitchFamily="34" charset="-120"/>
              </a:rPr>
              <a:t>Dashboard 2 - State Analysis Dashboard</a:t>
            </a:r>
            <a:endParaRPr lang="en-US" sz="1200" dirty="0"/>
          </a:p>
        </p:txBody>
      </p:sp>
      <p:sp>
        <p:nvSpPr>
          <p:cNvPr id="32" name="Shape 30"/>
          <p:cNvSpPr/>
          <p:nvPr/>
        </p:nvSpPr>
        <p:spPr>
          <a:xfrm>
            <a:off x="4846320" y="1783080"/>
            <a:ext cx="347472" cy="347472"/>
          </a:xfrm>
          <a:prstGeom prst="rect">
            <a:avLst/>
          </a:prstGeom>
          <a:solidFill>
            <a:srgbClr val="1A3A5C"/>
          </a:solidFill>
          <a:ln w="12700">
            <a:solidFill>
              <a:srgbClr val="1A3A5C"/>
            </a:solidFill>
            <a:prstDash val="solid"/>
          </a:ln>
        </p:spPr>
        <p:txBody>
          <a:bodyPr/>
          <a:lstStyle/>
          <a:p>
            <a:endParaRPr lang="en-IN"/>
          </a:p>
        </p:txBody>
      </p:sp>
      <p:sp>
        <p:nvSpPr>
          <p:cNvPr id="33" name="Text 31"/>
          <p:cNvSpPr/>
          <p:nvPr/>
        </p:nvSpPr>
        <p:spPr>
          <a:xfrm>
            <a:off x="4846320" y="1783080"/>
            <a:ext cx="347472" cy="347472"/>
          </a:xfrm>
          <a:prstGeom prst="rect">
            <a:avLst/>
          </a:prstGeom>
          <a:solidFill>
            <a:srgbClr val="1A3A5C"/>
          </a:solidFill>
          <a:ln>
            <a:solidFill>
              <a:srgbClr val="1A3A5C"/>
            </a:solid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09</a:t>
            </a:r>
            <a:endParaRPr lang="en-US" sz="1000" dirty="0"/>
          </a:p>
        </p:txBody>
      </p:sp>
      <p:sp>
        <p:nvSpPr>
          <p:cNvPr id="34" name="Text 32"/>
          <p:cNvSpPr/>
          <p:nvPr/>
        </p:nvSpPr>
        <p:spPr>
          <a:xfrm>
            <a:off x="5257800" y="1737360"/>
            <a:ext cx="3657600" cy="438912"/>
          </a:xfrm>
          <a:prstGeom prst="rect">
            <a:avLst/>
          </a:prstGeom>
          <a:noFill/>
          <a:ln/>
        </p:spPr>
        <p:txBody>
          <a:bodyPr wrap="square" rtlCol="0" anchor="ctr"/>
          <a:lstStyle/>
          <a:p>
            <a:pPr marL="0" indent="0">
              <a:buNone/>
            </a:pPr>
            <a:r>
              <a:rPr lang="en-US" sz="1200" dirty="0">
                <a:solidFill>
                  <a:srgbClr val="334155"/>
                </a:solidFill>
                <a:latin typeface="Calibri" pitchFamily="34" charset="0"/>
                <a:ea typeface="Calibri" pitchFamily="34" charset="-122"/>
                <a:cs typeface="Calibri" pitchFamily="34" charset="-120"/>
              </a:rPr>
              <a:t>Dashboard 3 - Constituency Analysis Dashboard</a:t>
            </a:r>
            <a:endParaRPr lang="en-US" sz="1200" dirty="0"/>
          </a:p>
        </p:txBody>
      </p:sp>
      <p:sp>
        <p:nvSpPr>
          <p:cNvPr id="35" name="Shape 33"/>
          <p:cNvSpPr/>
          <p:nvPr/>
        </p:nvSpPr>
        <p:spPr>
          <a:xfrm>
            <a:off x="4846320" y="2286000"/>
            <a:ext cx="347472" cy="347472"/>
          </a:xfrm>
          <a:prstGeom prst="rect">
            <a:avLst/>
          </a:prstGeom>
          <a:solidFill>
            <a:srgbClr val="1A3A5C"/>
          </a:solidFill>
          <a:ln w="12700">
            <a:solidFill>
              <a:srgbClr val="1A3A5C"/>
            </a:solidFill>
            <a:prstDash val="solid"/>
          </a:ln>
        </p:spPr>
        <p:txBody>
          <a:bodyPr/>
          <a:lstStyle/>
          <a:p>
            <a:endParaRPr lang="en-IN"/>
          </a:p>
        </p:txBody>
      </p:sp>
      <p:sp>
        <p:nvSpPr>
          <p:cNvPr id="36" name="Text 34"/>
          <p:cNvSpPr/>
          <p:nvPr/>
        </p:nvSpPr>
        <p:spPr>
          <a:xfrm>
            <a:off x="4846320" y="2286000"/>
            <a:ext cx="347472" cy="347472"/>
          </a:xfrm>
          <a:prstGeom prst="rect">
            <a:avLst/>
          </a:prstGeom>
          <a:solidFill>
            <a:srgbClr val="1A3A5C"/>
          </a:solidFill>
          <a:ln>
            <a:solidFill>
              <a:srgbClr val="1A3A5C"/>
            </a:solid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10</a:t>
            </a:r>
            <a:endParaRPr lang="en-US" sz="1000" dirty="0"/>
          </a:p>
        </p:txBody>
      </p:sp>
      <p:sp>
        <p:nvSpPr>
          <p:cNvPr id="37" name="Text 35"/>
          <p:cNvSpPr/>
          <p:nvPr/>
        </p:nvSpPr>
        <p:spPr>
          <a:xfrm>
            <a:off x="5257800" y="2240280"/>
            <a:ext cx="3657600" cy="438912"/>
          </a:xfrm>
          <a:prstGeom prst="rect">
            <a:avLst/>
          </a:prstGeom>
          <a:noFill/>
          <a:ln/>
        </p:spPr>
        <p:txBody>
          <a:bodyPr wrap="square" rtlCol="0" anchor="ctr"/>
          <a:lstStyle/>
          <a:p>
            <a:pPr marL="0" indent="0">
              <a:buNone/>
            </a:pPr>
            <a:r>
              <a:rPr lang="en-US" sz="1200" dirty="0">
                <a:solidFill>
                  <a:srgbClr val="334155"/>
                </a:solidFill>
                <a:latin typeface="Calibri" pitchFamily="34" charset="0"/>
                <a:ea typeface="Calibri" pitchFamily="34" charset="-122"/>
                <a:cs typeface="Calibri" pitchFamily="34" charset="-120"/>
              </a:rPr>
              <a:t>Dashboard 4 - Party Strategy &amp; Performance Dashboard</a:t>
            </a:r>
            <a:endParaRPr lang="en-US" sz="1200" dirty="0"/>
          </a:p>
        </p:txBody>
      </p:sp>
      <p:sp>
        <p:nvSpPr>
          <p:cNvPr id="38" name="Shape 36"/>
          <p:cNvSpPr/>
          <p:nvPr/>
        </p:nvSpPr>
        <p:spPr>
          <a:xfrm>
            <a:off x="4846320" y="2788920"/>
            <a:ext cx="347472" cy="347472"/>
          </a:xfrm>
          <a:prstGeom prst="rect">
            <a:avLst/>
          </a:prstGeom>
          <a:solidFill>
            <a:srgbClr val="1A3A5C"/>
          </a:solidFill>
          <a:ln w="12700">
            <a:solidFill>
              <a:srgbClr val="1A3A5C"/>
            </a:solidFill>
            <a:prstDash val="solid"/>
          </a:ln>
        </p:spPr>
        <p:txBody>
          <a:bodyPr/>
          <a:lstStyle/>
          <a:p>
            <a:endParaRPr lang="en-IN"/>
          </a:p>
        </p:txBody>
      </p:sp>
      <p:sp>
        <p:nvSpPr>
          <p:cNvPr id="39" name="Text 37"/>
          <p:cNvSpPr/>
          <p:nvPr/>
        </p:nvSpPr>
        <p:spPr>
          <a:xfrm>
            <a:off x="4846320" y="2788920"/>
            <a:ext cx="347472" cy="347472"/>
          </a:xfrm>
          <a:prstGeom prst="rect">
            <a:avLst/>
          </a:prstGeom>
          <a:solidFill>
            <a:srgbClr val="1A3A5C"/>
          </a:solidFill>
          <a:ln>
            <a:solidFill>
              <a:srgbClr val="1A3A5C"/>
            </a:solid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11</a:t>
            </a:r>
            <a:endParaRPr lang="en-US" sz="1000" dirty="0"/>
          </a:p>
        </p:txBody>
      </p:sp>
      <p:sp>
        <p:nvSpPr>
          <p:cNvPr id="40" name="Text 38"/>
          <p:cNvSpPr/>
          <p:nvPr/>
        </p:nvSpPr>
        <p:spPr>
          <a:xfrm>
            <a:off x="5257800" y="2743200"/>
            <a:ext cx="3657600" cy="438912"/>
          </a:xfrm>
          <a:prstGeom prst="rect">
            <a:avLst/>
          </a:prstGeom>
          <a:noFill/>
          <a:ln/>
        </p:spPr>
        <p:txBody>
          <a:bodyPr wrap="square" rtlCol="0" anchor="ctr"/>
          <a:lstStyle/>
          <a:p>
            <a:pPr marL="0" indent="0">
              <a:buNone/>
            </a:pPr>
            <a:r>
              <a:rPr lang="en-US" sz="1200" dirty="0">
                <a:solidFill>
                  <a:srgbClr val="334155"/>
                </a:solidFill>
                <a:latin typeface="Calibri" pitchFamily="34" charset="0"/>
                <a:ea typeface="Calibri" pitchFamily="34" charset="-122"/>
                <a:cs typeface="Calibri" pitchFamily="34" charset="-120"/>
              </a:rPr>
              <a:t>Key Findings &amp; Insights</a:t>
            </a:r>
            <a:endParaRPr lang="en-US" sz="1200" dirty="0"/>
          </a:p>
        </p:txBody>
      </p:sp>
      <p:sp>
        <p:nvSpPr>
          <p:cNvPr id="41" name="Shape 39"/>
          <p:cNvSpPr/>
          <p:nvPr/>
        </p:nvSpPr>
        <p:spPr>
          <a:xfrm>
            <a:off x="4846320" y="3291840"/>
            <a:ext cx="347472" cy="347472"/>
          </a:xfrm>
          <a:prstGeom prst="rect">
            <a:avLst/>
          </a:prstGeom>
          <a:solidFill>
            <a:srgbClr val="1A3A5C"/>
          </a:solidFill>
          <a:ln w="12700">
            <a:solidFill>
              <a:srgbClr val="1A3A5C"/>
            </a:solidFill>
            <a:prstDash val="solid"/>
          </a:ln>
        </p:spPr>
        <p:txBody>
          <a:bodyPr/>
          <a:lstStyle/>
          <a:p>
            <a:endParaRPr lang="en-IN"/>
          </a:p>
        </p:txBody>
      </p:sp>
      <p:sp>
        <p:nvSpPr>
          <p:cNvPr id="42" name="Text 40"/>
          <p:cNvSpPr/>
          <p:nvPr/>
        </p:nvSpPr>
        <p:spPr>
          <a:xfrm>
            <a:off x="4846320" y="3291840"/>
            <a:ext cx="347472" cy="347472"/>
          </a:xfrm>
          <a:prstGeom prst="rect">
            <a:avLst/>
          </a:prstGeom>
          <a:solidFill>
            <a:srgbClr val="1A3A5C"/>
          </a:solidFill>
          <a:ln>
            <a:solidFill>
              <a:srgbClr val="1A3A5C"/>
            </a:solid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12</a:t>
            </a:r>
            <a:endParaRPr lang="en-US" sz="1000" dirty="0"/>
          </a:p>
        </p:txBody>
      </p:sp>
      <p:sp>
        <p:nvSpPr>
          <p:cNvPr id="43" name="Text 41"/>
          <p:cNvSpPr/>
          <p:nvPr/>
        </p:nvSpPr>
        <p:spPr>
          <a:xfrm>
            <a:off x="5257800" y="3246120"/>
            <a:ext cx="3657600" cy="438912"/>
          </a:xfrm>
          <a:prstGeom prst="rect">
            <a:avLst/>
          </a:prstGeom>
          <a:noFill/>
          <a:ln/>
        </p:spPr>
        <p:txBody>
          <a:bodyPr wrap="square" rtlCol="0" anchor="ctr"/>
          <a:lstStyle/>
          <a:p>
            <a:pPr marL="0" indent="0">
              <a:buNone/>
            </a:pPr>
            <a:r>
              <a:rPr lang="en-US" sz="1200" dirty="0">
                <a:solidFill>
                  <a:srgbClr val="334155"/>
                </a:solidFill>
                <a:latin typeface="Calibri" pitchFamily="34" charset="0"/>
                <a:ea typeface="Calibri" pitchFamily="34" charset="-122"/>
                <a:cs typeface="Calibri" pitchFamily="34" charset="-120"/>
              </a:rPr>
              <a:t>Challenges &amp; Solutions</a:t>
            </a:r>
            <a:endParaRPr lang="en-US" sz="1200" dirty="0"/>
          </a:p>
        </p:txBody>
      </p:sp>
      <p:sp>
        <p:nvSpPr>
          <p:cNvPr id="44" name="Shape 42"/>
          <p:cNvSpPr/>
          <p:nvPr/>
        </p:nvSpPr>
        <p:spPr>
          <a:xfrm>
            <a:off x="4846320" y="3794760"/>
            <a:ext cx="347472" cy="347472"/>
          </a:xfrm>
          <a:prstGeom prst="rect">
            <a:avLst/>
          </a:prstGeom>
          <a:solidFill>
            <a:srgbClr val="1A3A5C"/>
          </a:solidFill>
          <a:ln w="12700">
            <a:solidFill>
              <a:srgbClr val="1A3A5C"/>
            </a:solidFill>
            <a:prstDash val="solid"/>
          </a:ln>
        </p:spPr>
        <p:txBody>
          <a:bodyPr/>
          <a:lstStyle/>
          <a:p>
            <a:endParaRPr lang="en-IN"/>
          </a:p>
        </p:txBody>
      </p:sp>
      <p:sp>
        <p:nvSpPr>
          <p:cNvPr id="45" name="Text 43"/>
          <p:cNvSpPr/>
          <p:nvPr/>
        </p:nvSpPr>
        <p:spPr>
          <a:xfrm>
            <a:off x="4846320" y="3794760"/>
            <a:ext cx="347472" cy="347472"/>
          </a:xfrm>
          <a:prstGeom prst="rect">
            <a:avLst/>
          </a:prstGeom>
          <a:solidFill>
            <a:srgbClr val="1A3A5C"/>
          </a:solidFill>
          <a:ln>
            <a:solidFill>
              <a:srgbClr val="1A3A5C"/>
            </a:solid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13</a:t>
            </a:r>
            <a:endParaRPr lang="en-US" sz="1000" dirty="0"/>
          </a:p>
        </p:txBody>
      </p:sp>
      <p:sp>
        <p:nvSpPr>
          <p:cNvPr id="46" name="Text 44"/>
          <p:cNvSpPr/>
          <p:nvPr/>
        </p:nvSpPr>
        <p:spPr>
          <a:xfrm>
            <a:off x="5257800" y="3749040"/>
            <a:ext cx="3657600" cy="438912"/>
          </a:xfrm>
          <a:prstGeom prst="rect">
            <a:avLst/>
          </a:prstGeom>
          <a:noFill/>
          <a:ln/>
        </p:spPr>
        <p:txBody>
          <a:bodyPr wrap="square" rtlCol="0" anchor="ctr"/>
          <a:lstStyle/>
          <a:p>
            <a:pPr marL="0" indent="0">
              <a:buNone/>
            </a:pPr>
            <a:r>
              <a:rPr lang="en-US" sz="1200" dirty="0">
                <a:solidFill>
                  <a:srgbClr val="334155"/>
                </a:solidFill>
                <a:latin typeface="Calibri" pitchFamily="34" charset="0"/>
                <a:ea typeface="Calibri" pitchFamily="34" charset="-122"/>
                <a:cs typeface="Calibri" pitchFamily="34" charset="-120"/>
              </a:rPr>
              <a:t>Conclusion</a:t>
            </a:r>
            <a:endParaRPr lang="en-US" sz="1200" dirty="0"/>
          </a:p>
        </p:txBody>
      </p:sp>
      <p:sp>
        <p:nvSpPr>
          <p:cNvPr id="47" name="Text 45"/>
          <p:cNvSpPr/>
          <p:nvPr/>
        </p:nvSpPr>
        <p:spPr>
          <a:xfrm>
            <a:off x="0" y="4846320"/>
            <a:ext cx="9144000" cy="274320"/>
          </a:xfrm>
          <a:prstGeom prst="rect">
            <a:avLst/>
          </a:prstGeom>
          <a:noFill/>
          <a:ln/>
        </p:spPr>
        <p:txBody>
          <a:bodyPr wrap="square" rtlCol="0" anchor="ctr"/>
          <a:lstStyle/>
          <a:p>
            <a:pPr marL="0" indent="0" algn="ctr">
              <a:buNone/>
            </a:pPr>
            <a:r>
              <a:rPr lang="en-US" sz="900" dirty="0">
                <a:solidFill>
                  <a:srgbClr val="999999"/>
                </a:solidFill>
                <a:latin typeface="Calibri" pitchFamily="34" charset="0"/>
                <a:ea typeface="Calibri" pitchFamily="34" charset="-122"/>
                <a:cs typeface="Calibri" pitchFamily="34" charset="-120"/>
              </a:rPr>
              <a:t>Infosys ElectViz | Team C | India General Election 2024</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A3A5C"/>
          </a:solidFill>
          <a:ln w="12700">
            <a:solidFill>
              <a:srgbClr val="1A3A5C"/>
            </a:solidFill>
            <a:prstDash val="solid"/>
          </a:ln>
        </p:spPr>
        <p:txBody>
          <a:bodyPr/>
          <a:lstStyle/>
          <a:p>
            <a:endParaRPr lang="en-IN"/>
          </a:p>
        </p:txBody>
      </p:sp>
      <p:sp>
        <p:nvSpPr>
          <p:cNvPr id="3" name="Shape 1"/>
          <p:cNvSpPr/>
          <p:nvPr/>
        </p:nvSpPr>
        <p:spPr>
          <a:xfrm>
            <a:off x="0" y="1005840"/>
            <a:ext cx="9144000" cy="64008"/>
          </a:xfrm>
          <a:prstGeom prst="rect">
            <a:avLst/>
          </a:prstGeom>
          <a:solidFill>
            <a:srgbClr val="E85D1A"/>
          </a:solidFill>
          <a:ln w="12700">
            <a:solidFill>
              <a:srgbClr val="E85D1A"/>
            </a:solidFill>
            <a:prstDash val="solid"/>
          </a:ln>
        </p:spPr>
        <p:txBody>
          <a:bodyPr/>
          <a:lstStyle/>
          <a:p>
            <a:endParaRPr lang="en-IN"/>
          </a:p>
        </p:txBody>
      </p:sp>
      <p:sp>
        <p:nvSpPr>
          <p:cNvPr id="4" name="Text 2"/>
          <p:cNvSpPr/>
          <p:nvPr/>
        </p:nvSpPr>
        <p:spPr>
          <a:xfrm>
            <a:off x="365760" y="91440"/>
            <a:ext cx="7315200" cy="54864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Abstract</a:t>
            </a:r>
            <a:endParaRPr lang="en-US" sz="2200" dirty="0"/>
          </a:p>
        </p:txBody>
      </p:sp>
      <p:sp>
        <p:nvSpPr>
          <p:cNvPr id="5" name="Text 3"/>
          <p:cNvSpPr/>
          <p:nvPr/>
        </p:nvSpPr>
        <p:spPr>
          <a:xfrm>
            <a:off x="365760" y="594360"/>
            <a:ext cx="7315200" cy="365760"/>
          </a:xfrm>
          <a:prstGeom prst="rect">
            <a:avLst/>
          </a:prstGeom>
          <a:noFill/>
          <a:ln/>
        </p:spPr>
        <p:txBody>
          <a:bodyPr wrap="square" rtlCol="0" anchor="ctr"/>
          <a:lstStyle/>
          <a:p>
            <a:pPr marL="0" indent="0">
              <a:buNone/>
            </a:pPr>
            <a:r>
              <a:rPr lang="en-US" sz="1400" i="1" dirty="0">
                <a:solidFill>
                  <a:srgbClr val="B0C4DE"/>
                </a:solidFill>
                <a:latin typeface="Calibri" pitchFamily="34" charset="0"/>
                <a:ea typeface="Calibri" pitchFamily="34" charset="-122"/>
                <a:cs typeface="Calibri" pitchFamily="34" charset="-120"/>
              </a:rPr>
              <a:t>Project Summary</a:t>
            </a:r>
            <a:endParaRPr lang="en-US" sz="1400" dirty="0"/>
          </a:p>
        </p:txBody>
      </p:sp>
      <p:sp>
        <p:nvSpPr>
          <p:cNvPr id="8" name="Shape 6"/>
          <p:cNvSpPr/>
          <p:nvPr/>
        </p:nvSpPr>
        <p:spPr>
          <a:xfrm>
            <a:off x="365760" y="1188720"/>
            <a:ext cx="8412480" cy="2560320"/>
          </a:xfrm>
          <a:prstGeom prst="rect">
            <a:avLst/>
          </a:prstGeom>
          <a:solidFill>
            <a:srgbClr val="EAF0F7"/>
          </a:solidFill>
          <a:ln w="6350">
            <a:solidFill>
              <a:srgbClr val="CBD5E1"/>
            </a:solidFill>
            <a:prstDash val="solid"/>
          </a:ln>
        </p:spPr>
        <p:txBody>
          <a:bodyPr/>
          <a:lstStyle/>
          <a:p>
            <a:endParaRPr lang="en-IN"/>
          </a:p>
        </p:txBody>
      </p:sp>
      <p:sp>
        <p:nvSpPr>
          <p:cNvPr id="9" name="Text 7"/>
          <p:cNvSpPr/>
          <p:nvPr/>
        </p:nvSpPr>
        <p:spPr>
          <a:xfrm>
            <a:off x="640080" y="1325880"/>
            <a:ext cx="7955280" cy="2377440"/>
          </a:xfrm>
          <a:prstGeom prst="rect">
            <a:avLst/>
          </a:prstGeom>
          <a:noFill/>
          <a:ln/>
        </p:spPr>
        <p:txBody>
          <a:bodyPr wrap="square" rtlCol="0" anchor="ctr"/>
          <a:lstStyle/>
          <a:p>
            <a:pPr marL="0" indent="0" algn="just">
              <a:spcAft>
                <a:spcPts val="600"/>
              </a:spcAft>
              <a:buNone/>
            </a:pPr>
            <a:r>
              <a:rPr lang="en-US" sz="1300" b="1" dirty="0">
                <a:solidFill>
                  <a:srgbClr val="334155"/>
                </a:solidFill>
                <a:latin typeface="Calibri" pitchFamily="34" charset="0"/>
                <a:ea typeface="Calibri" pitchFamily="34" charset="-122"/>
                <a:cs typeface="Calibri" pitchFamily="34" charset="-120"/>
              </a:rPr>
              <a:t>ElectViz</a:t>
            </a:r>
            <a:r>
              <a:rPr lang="en-US" sz="1300" dirty="0">
                <a:solidFill>
                  <a:srgbClr val="334155"/>
                </a:solidFill>
                <a:latin typeface="Calibri" pitchFamily="34" charset="0"/>
                <a:ea typeface="Calibri" pitchFamily="34" charset="-122"/>
                <a:cs typeface="Calibri" pitchFamily="34" charset="-120"/>
              </a:rPr>
              <a:t> is an interactive Power BI dashboard solution developed as part of the Infosys Springboard Capstone Project by Team C. The project focuses on transforming raw India General Election 2024 data into actionable, media-ready visual insights.
The solution encompasses three analytical dimensions: </a:t>
            </a:r>
            <a:r>
              <a:rPr lang="en-US" sz="1300" b="1" dirty="0">
                <a:solidFill>
                  <a:srgbClr val="334155"/>
                </a:solidFill>
                <a:latin typeface="Calibri" pitchFamily="34" charset="0"/>
                <a:ea typeface="Calibri" pitchFamily="34" charset="-122"/>
                <a:cs typeface="Calibri" pitchFamily="34" charset="-120"/>
              </a:rPr>
              <a:t>State-level demographics, Constituency-level results, and Party-wise strategy performance.</a:t>
            </a:r>
            <a:r>
              <a:rPr lang="en-US" sz="1300" dirty="0">
                <a:solidFill>
                  <a:srgbClr val="334155"/>
                </a:solidFill>
                <a:latin typeface="Calibri" pitchFamily="34" charset="0"/>
                <a:ea typeface="Calibri" pitchFamily="34" charset="-122"/>
                <a:cs typeface="Calibri" pitchFamily="34" charset="-120"/>
              </a:rPr>
              <a:t> Together, these dashboards enable journalists, political analysts, and the general public to explore election outcomes interactively.
</a:t>
            </a:r>
            <a:r>
              <a:rPr lang="en-US" sz="1300" i="1" dirty="0">
                <a:solidFill>
                  <a:srgbClr val="334155"/>
                </a:solidFill>
                <a:latin typeface="Calibri" pitchFamily="34" charset="0"/>
                <a:ea typeface="Calibri" pitchFamily="34" charset="-122"/>
                <a:cs typeface="Calibri" pitchFamily="34" charset="-120"/>
              </a:rPr>
              <a:t>Key deliverables include dynamic slicers, DAX-powered KPIs, alliance-based seat segmentation, and visual storytelling through charts, maps, and scorecards.</a:t>
            </a:r>
            <a:endParaRPr lang="en-US" sz="1300" dirty="0"/>
          </a:p>
        </p:txBody>
      </p:sp>
      <p:sp>
        <p:nvSpPr>
          <p:cNvPr id="10" name="Shape 8"/>
          <p:cNvSpPr/>
          <p:nvPr/>
        </p:nvSpPr>
        <p:spPr>
          <a:xfrm>
            <a:off x="365760" y="3931920"/>
            <a:ext cx="1920240" cy="777240"/>
          </a:xfrm>
          <a:prstGeom prst="rect">
            <a:avLst/>
          </a:prstGeom>
          <a:solidFill>
            <a:srgbClr val="1A3A5C"/>
          </a:solidFill>
          <a:ln w="12700">
            <a:solidFill>
              <a:srgbClr val="1A3A5C"/>
            </a:solidFill>
            <a:prstDash val="solid"/>
          </a:ln>
        </p:spPr>
        <p:txBody>
          <a:bodyPr/>
          <a:lstStyle/>
          <a:p>
            <a:endParaRPr lang="en-IN"/>
          </a:p>
        </p:txBody>
      </p:sp>
      <p:sp>
        <p:nvSpPr>
          <p:cNvPr id="11" name="Text 9"/>
          <p:cNvSpPr/>
          <p:nvPr/>
        </p:nvSpPr>
        <p:spPr>
          <a:xfrm>
            <a:off x="365760" y="3931920"/>
            <a:ext cx="1920240" cy="457200"/>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Power BI</a:t>
            </a:r>
            <a:endParaRPr lang="en-US" sz="2000" dirty="0"/>
          </a:p>
        </p:txBody>
      </p:sp>
      <p:sp>
        <p:nvSpPr>
          <p:cNvPr id="12" name="Text 10"/>
          <p:cNvSpPr/>
          <p:nvPr/>
        </p:nvSpPr>
        <p:spPr>
          <a:xfrm>
            <a:off x="365760" y="4343400"/>
            <a:ext cx="1920240" cy="320040"/>
          </a:xfrm>
          <a:prstGeom prst="rect">
            <a:avLst/>
          </a:prstGeom>
          <a:noFill/>
          <a:ln/>
        </p:spPr>
        <p:txBody>
          <a:bodyPr wrap="square" rtlCol="0" anchor="ctr"/>
          <a:lstStyle/>
          <a:p>
            <a:pPr marL="0" indent="0" algn="ctr">
              <a:buNone/>
            </a:pPr>
            <a:r>
              <a:rPr lang="en-US" sz="1000" dirty="0">
                <a:solidFill>
                  <a:srgbClr val="B0C4DE"/>
                </a:solidFill>
                <a:latin typeface="Calibri" pitchFamily="34" charset="0"/>
                <a:ea typeface="Calibri" pitchFamily="34" charset="-122"/>
                <a:cs typeface="Calibri" pitchFamily="34" charset="-120"/>
              </a:rPr>
              <a:t>Platform</a:t>
            </a:r>
            <a:endParaRPr lang="en-US" sz="1000" dirty="0"/>
          </a:p>
        </p:txBody>
      </p:sp>
      <p:sp>
        <p:nvSpPr>
          <p:cNvPr id="13" name="Shape 11"/>
          <p:cNvSpPr/>
          <p:nvPr/>
        </p:nvSpPr>
        <p:spPr>
          <a:xfrm>
            <a:off x="2468880" y="3931920"/>
            <a:ext cx="1920240" cy="777240"/>
          </a:xfrm>
          <a:prstGeom prst="rect">
            <a:avLst/>
          </a:prstGeom>
          <a:solidFill>
            <a:srgbClr val="1A3A5C"/>
          </a:solidFill>
          <a:ln w="12700">
            <a:solidFill>
              <a:srgbClr val="1A3A5C"/>
            </a:solidFill>
            <a:prstDash val="solid"/>
          </a:ln>
        </p:spPr>
        <p:txBody>
          <a:bodyPr/>
          <a:lstStyle/>
          <a:p>
            <a:endParaRPr lang="en-IN"/>
          </a:p>
        </p:txBody>
      </p:sp>
      <p:sp>
        <p:nvSpPr>
          <p:cNvPr id="14" name="Text 12"/>
          <p:cNvSpPr/>
          <p:nvPr/>
        </p:nvSpPr>
        <p:spPr>
          <a:xfrm>
            <a:off x="2468880" y="3931920"/>
            <a:ext cx="1920240" cy="457200"/>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15" name="Text 13"/>
          <p:cNvSpPr/>
          <p:nvPr/>
        </p:nvSpPr>
        <p:spPr>
          <a:xfrm>
            <a:off x="2468880" y="4343400"/>
            <a:ext cx="1920240" cy="320040"/>
          </a:xfrm>
          <a:prstGeom prst="rect">
            <a:avLst/>
          </a:prstGeom>
          <a:noFill/>
          <a:ln/>
        </p:spPr>
        <p:txBody>
          <a:bodyPr wrap="square" rtlCol="0" anchor="ctr"/>
          <a:lstStyle/>
          <a:p>
            <a:pPr marL="0" indent="0" algn="ctr">
              <a:buNone/>
            </a:pPr>
            <a:r>
              <a:rPr lang="en-US" sz="1000" dirty="0">
                <a:solidFill>
                  <a:srgbClr val="B0C4DE"/>
                </a:solidFill>
                <a:latin typeface="Calibri" pitchFamily="34" charset="0"/>
                <a:ea typeface="Calibri" pitchFamily="34" charset="-122"/>
                <a:cs typeface="Calibri" pitchFamily="34" charset="-120"/>
              </a:rPr>
              <a:t>Dashboards</a:t>
            </a:r>
            <a:endParaRPr lang="en-US" sz="1000" dirty="0"/>
          </a:p>
        </p:txBody>
      </p:sp>
      <p:sp>
        <p:nvSpPr>
          <p:cNvPr id="16" name="Shape 14"/>
          <p:cNvSpPr/>
          <p:nvPr/>
        </p:nvSpPr>
        <p:spPr>
          <a:xfrm>
            <a:off x="4572000" y="3931920"/>
            <a:ext cx="1920240" cy="777240"/>
          </a:xfrm>
          <a:prstGeom prst="rect">
            <a:avLst/>
          </a:prstGeom>
          <a:solidFill>
            <a:srgbClr val="1A3A5C"/>
          </a:solidFill>
          <a:ln w="12700">
            <a:solidFill>
              <a:srgbClr val="1A3A5C"/>
            </a:solidFill>
            <a:prstDash val="solid"/>
          </a:ln>
        </p:spPr>
        <p:txBody>
          <a:bodyPr/>
          <a:lstStyle/>
          <a:p>
            <a:endParaRPr lang="en-IN"/>
          </a:p>
        </p:txBody>
      </p:sp>
      <p:sp>
        <p:nvSpPr>
          <p:cNvPr id="17" name="Text 15"/>
          <p:cNvSpPr/>
          <p:nvPr/>
        </p:nvSpPr>
        <p:spPr>
          <a:xfrm>
            <a:off x="4572000" y="3931920"/>
            <a:ext cx="1920240" cy="457200"/>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18" name="Text 16"/>
          <p:cNvSpPr/>
          <p:nvPr/>
        </p:nvSpPr>
        <p:spPr>
          <a:xfrm>
            <a:off x="4572000" y="4343400"/>
            <a:ext cx="1920240" cy="320040"/>
          </a:xfrm>
          <a:prstGeom prst="rect">
            <a:avLst/>
          </a:prstGeom>
          <a:noFill/>
          <a:ln/>
        </p:spPr>
        <p:txBody>
          <a:bodyPr wrap="square" rtlCol="0" anchor="ctr"/>
          <a:lstStyle/>
          <a:p>
            <a:pPr marL="0" indent="0" algn="ctr">
              <a:buNone/>
            </a:pPr>
            <a:r>
              <a:rPr lang="en-US" sz="1000" dirty="0">
                <a:solidFill>
                  <a:srgbClr val="B0C4DE"/>
                </a:solidFill>
                <a:latin typeface="Calibri" pitchFamily="34" charset="0"/>
                <a:ea typeface="Calibri" pitchFamily="34" charset="-122"/>
                <a:cs typeface="Calibri" pitchFamily="34" charset="-120"/>
              </a:rPr>
              <a:t>CSV Datasets</a:t>
            </a:r>
            <a:endParaRPr lang="en-US" sz="1000" dirty="0"/>
          </a:p>
        </p:txBody>
      </p:sp>
      <p:sp>
        <p:nvSpPr>
          <p:cNvPr id="19" name="Shape 17"/>
          <p:cNvSpPr/>
          <p:nvPr/>
        </p:nvSpPr>
        <p:spPr>
          <a:xfrm>
            <a:off x="6675120" y="3931920"/>
            <a:ext cx="1920240" cy="777240"/>
          </a:xfrm>
          <a:prstGeom prst="rect">
            <a:avLst/>
          </a:prstGeom>
          <a:solidFill>
            <a:srgbClr val="1A3A5C"/>
          </a:solidFill>
          <a:ln w="12700">
            <a:solidFill>
              <a:srgbClr val="1A3A5C"/>
            </a:solidFill>
            <a:prstDash val="solid"/>
          </a:ln>
        </p:spPr>
        <p:txBody>
          <a:bodyPr/>
          <a:lstStyle/>
          <a:p>
            <a:endParaRPr lang="en-IN"/>
          </a:p>
        </p:txBody>
      </p:sp>
      <p:sp>
        <p:nvSpPr>
          <p:cNvPr id="20" name="Text 18"/>
          <p:cNvSpPr/>
          <p:nvPr/>
        </p:nvSpPr>
        <p:spPr>
          <a:xfrm>
            <a:off x="6675120" y="3931920"/>
            <a:ext cx="1920240" cy="457200"/>
          </a:xfrm>
          <a:prstGeom prst="rect">
            <a:avLst/>
          </a:prstGeom>
          <a:noFill/>
          <a:ln/>
        </p:spPr>
        <p:txBody>
          <a:bodyPr wrap="square"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543</a:t>
            </a:r>
            <a:endParaRPr lang="en-US" sz="2000" dirty="0"/>
          </a:p>
        </p:txBody>
      </p:sp>
      <p:sp>
        <p:nvSpPr>
          <p:cNvPr id="21" name="Text 19"/>
          <p:cNvSpPr/>
          <p:nvPr/>
        </p:nvSpPr>
        <p:spPr>
          <a:xfrm>
            <a:off x="6675120" y="4343400"/>
            <a:ext cx="1920240" cy="320040"/>
          </a:xfrm>
          <a:prstGeom prst="rect">
            <a:avLst/>
          </a:prstGeom>
          <a:noFill/>
          <a:ln/>
        </p:spPr>
        <p:txBody>
          <a:bodyPr wrap="square" rtlCol="0" anchor="ctr"/>
          <a:lstStyle/>
          <a:p>
            <a:pPr marL="0" indent="0" algn="ctr">
              <a:buNone/>
            </a:pPr>
            <a:r>
              <a:rPr lang="en-US" sz="1000" dirty="0">
                <a:solidFill>
                  <a:srgbClr val="B0C4DE"/>
                </a:solidFill>
                <a:latin typeface="Calibri" pitchFamily="34" charset="0"/>
                <a:ea typeface="Calibri" pitchFamily="34" charset="-122"/>
                <a:cs typeface="Calibri" pitchFamily="34" charset="-120"/>
              </a:rPr>
              <a:t>Constituencies</a:t>
            </a:r>
            <a:endParaRPr lang="en-US" sz="1000" dirty="0"/>
          </a:p>
        </p:txBody>
      </p:sp>
      <p:sp>
        <p:nvSpPr>
          <p:cNvPr id="22" name="Text 20"/>
          <p:cNvSpPr/>
          <p:nvPr/>
        </p:nvSpPr>
        <p:spPr>
          <a:xfrm>
            <a:off x="0" y="4846320"/>
            <a:ext cx="9144000" cy="274320"/>
          </a:xfrm>
          <a:prstGeom prst="rect">
            <a:avLst/>
          </a:prstGeom>
          <a:noFill/>
          <a:ln/>
        </p:spPr>
        <p:txBody>
          <a:bodyPr wrap="square" rtlCol="0" anchor="ctr"/>
          <a:lstStyle/>
          <a:p>
            <a:pPr marL="0" indent="0" algn="ctr">
              <a:buNone/>
            </a:pPr>
            <a:r>
              <a:rPr lang="en-US" sz="900" dirty="0">
                <a:solidFill>
                  <a:srgbClr val="999999"/>
                </a:solidFill>
                <a:latin typeface="Calibri" pitchFamily="34" charset="0"/>
                <a:ea typeface="Calibri" pitchFamily="34" charset="-122"/>
                <a:cs typeface="Calibri" pitchFamily="34" charset="-120"/>
              </a:rPr>
              <a:t>Infosys ElectViz | Team C | India General Election 2024</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A3A5C"/>
          </a:solidFill>
          <a:ln w="12700">
            <a:solidFill>
              <a:srgbClr val="1A3A5C"/>
            </a:solidFill>
            <a:prstDash val="solid"/>
          </a:ln>
        </p:spPr>
        <p:txBody>
          <a:bodyPr/>
          <a:lstStyle/>
          <a:p>
            <a:endParaRPr lang="en-IN"/>
          </a:p>
        </p:txBody>
      </p:sp>
      <p:sp>
        <p:nvSpPr>
          <p:cNvPr id="3" name="Shape 1"/>
          <p:cNvSpPr/>
          <p:nvPr/>
        </p:nvSpPr>
        <p:spPr>
          <a:xfrm>
            <a:off x="0" y="1005840"/>
            <a:ext cx="9144000" cy="64008"/>
          </a:xfrm>
          <a:prstGeom prst="rect">
            <a:avLst/>
          </a:prstGeom>
          <a:solidFill>
            <a:srgbClr val="E85D1A"/>
          </a:solidFill>
          <a:ln w="12700">
            <a:solidFill>
              <a:srgbClr val="E85D1A"/>
            </a:solidFill>
            <a:prstDash val="solid"/>
          </a:ln>
        </p:spPr>
        <p:txBody>
          <a:bodyPr/>
          <a:lstStyle/>
          <a:p>
            <a:endParaRPr lang="en-IN"/>
          </a:p>
        </p:txBody>
      </p:sp>
      <p:sp>
        <p:nvSpPr>
          <p:cNvPr id="4" name="Text 2"/>
          <p:cNvSpPr/>
          <p:nvPr/>
        </p:nvSpPr>
        <p:spPr>
          <a:xfrm>
            <a:off x="365760" y="91440"/>
            <a:ext cx="7315200" cy="54864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Background &amp; Motivation</a:t>
            </a:r>
            <a:endParaRPr lang="en-US" sz="2200" dirty="0"/>
          </a:p>
        </p:txBody>
      </p:sp>
      <p:sp>
        <p:nvSpPr>
          <p:cNvPr id="5" name="Text 3"/>
          <p:cNvSpPr/>
          <p:nvPr/>
        </p:nvSpPr>
        <p:spPr>
          <a:xfrm>
            <a:off x="365760" y="594360"/>
            <a:ext cx="7315200" cy="365760"/>
          </a:xfrm>
          <a:prstGeom prst="rect">
            <a:avLst/>
          </a:prstGeom>
          <a:noFill/>
          <a:ln/>
        </p:spPr>
        <p:txBody>
          <a:bodyPr wrap="square" rtlCol="0" anchor="ctr"/>
          <a:lstStyle/>
          <a:p>
            <a:pPr marL="0" indent="0">
              <a:buNone/>
            </a:pPr>
            <a:r>
              <a:rPr lang="en-US" sz="1400" i="1" dirty="0">
                <a:solidFill>
                  <a:srgbClr val="B0C4DE"/>
                </a:solidFill>
                <a:latin typeface="Calibri" pitchFamily="34" charset="0"/>
                <a:ea typeface="Calibri" pitchFamily="34" charset="-122"/>
                <a:cs typeface="Calibri" pitchFamily="34" charset="-120"/>
              </a:rPr>
              <a:t>Why ElectViz?</a:t>
            </a:r>
            <a:endParaRPr lang="en-US" sz="1400" dirty="0"/>
          </a:p>
        </p:txBody>
      </p:sp>
      <p:sp>
        <p:nvSpPr>
          <p:cNvPr id="8" name="Shape 6"/>
          <p:cNvSpPr/>
          <p:nvPr/>
        </p:nvSpPr>
        <p:spPr>
          <a:xfrm>
            <a:off x="365760" y="1234440"/>
            <a:ext cx="8412480" cy="804672"/>
          </a:xfrm>
          <a:prstGeom prst="rect">
            <a:avLst/>
          </a:prstGeom>
          <a:solidFill>
            <a:srgbClr val="F0F4F8"/>
          </a:solidFill>
          <a:ln w="6350">
            <a:solidFill>
              <a:srgbClr val="CBD5E1"/>
            </a:solidFill>
            <a:prstDash val="solid"/>
          </a:ln>
        </p:spPr>
        <p:txBody>
          <a:bodyPr/>
          <a:lstStyle/>
          <a:p>
            <a:endParaRPr lang="en-IN"/>
          </a:p>
        </p:txBody>
      </p:sp>
      <p:sp>
        <p:nvSpPr>
          <p:cNvPr id="9" name="Text 7"/>
          <p:cNvSpPr/>
          <p:nvPr/>
        </p:nvSpPr>
        <p:spPr>
          <a:xfrm>
            <a:off x="457200" y="1325880"/>
            <a:ext cx="457200" cy="548640"/>
          </a:xfrm>
          <a:prstGeom prst="rect">
            <a:avLst/>
          </a:prstGeom>
          <a:noFill/>
          <a:ln/>
        </p:spPr>
        <p:txBody>
          <a:bodyPr wrap="square" rtlCol="0" anchor="ctr"/>
          <a:lstStyle/>
          <a:p>
            <a:pPr marL="0" indent="0" algn="ctr">
              <a:buNone/>
            </a:pPr>
            <a:r>
              <a:rPr lang="en-US" sz="2000" dirty="0">
                <a:solidFill>
                  <a:srgbClr val="000000"/>
                </a:solidFill>
                <a:latin typeface="Calibri" pitchFamily="34" charset="0"/>
                <a:ea typeface="Calibri" pitchFamily="34" charset="-122"/>
                <a:cs typeface="Calibri" pitchFamily="34" charset="-120"/>
              </a:rPr>
              <a:t>📊</a:t>
            </a:r>
            <a:endParaRPr lang="en-US" sz="2000" dirty="0"/>
          </a:p>
        </p:txBody>
      </p:sp>
      <p:sp>
        <p:nvSpPr>
          <p:cNvPr id="10" name="Text 8"/>
          <p:cNvSpPr/>
          <p:nvPr/>
        </p:nvSpPr>
        <p:spPr>
          <a:xfrm>
            <a:off x="1005840" y="1280160"/>
            <a:ext cx="2011680" cy="320040"/>
          </a:xfrm>
          <a:prstGeom prst="rect">
            <a:avLst/>
          </a:prstGeom>
          <a:noFill/>
          <a:ln/>
        </p:spPr>
        <p:txBody>
          <a:bodyPr wrap="square" rtlCol="0" anchor="ctr"/>
          <a:lstStyle/>
          <a:p>
            <a:pPr marL="0" indent="0">
              <a:buNone/>
            </a:pPr>
            <a:r>
              <a:rPr lang="en-US" sz="1200" b="1" dirty="0">
                <a:solidFill>
                  <a:srgbClr val="1A3A5C"/>
                </a:solidFill>
                <a:latin typeface="Calibri" pitchFamily="34" charset="0"/>
                <a:ea typeface="Calibri" pitchFamily="34" charset="-122"/>
                <a:cs typeface="Calibri" pitchFamily="34" charset="-120"/>
              </a:rPr>
              <a:t>Data Complexity</a:t>
            </a:r>
            <a:endParaRPr lang="en-US" sz="1200" dirty="0"/>
          </a:p>
        </p:txBody>
      </p:sp>
      <p:sp>
        <p:nvSpPr>
          <p:cNvPr id="11" name="Text 9"/>
          <p:cNvSpPr/>
          <p:nvPr/>
        </p:nvSpPr>
        <p:spPr>
          <a:xfrm>
            <a:off x="1005840" y="1581912"/>
            <a:ext cx="7498080" cy="411480"/>
          </a:xfrm>
          <a:prstGeom prst="rect">
            <a:avLst/>
          </a:prstGeom>
          <a:noFill/>
          <a:ln/>
        </p:spPr>
        <p:txBody>
          <a:bodyPr wrap="square" rtlCol="0" anchor="ctr"/>
          <a:lstStyle/>
          <a:p>
            <a:pPr marL="0" indent="0">
              <a:buNone/>
            </a:pPr>
            <a:r>
              <a:rPr lang="en-US" sz="1050" dirty="0">
                <a:solidFill>
                  <a:srgbClr val="64748B"/>
                </a:solidFill>
                <a:latin typeface="Calibri" pitchFamily="34" charset="0"/>
                <a:ea typeface="Calibri" pitchFamily="34" charset="-122"/>
                <a:cs typeface="Calibri" pitchFamily="34" charset="-120"/>
              </a:rPr>
              <a:t>India's 2024 general election involved 543 constituencies, hundreds of parties, and millions of votes — making manual analysis impossible at scale.</a:t>
            </a:r>
            <a:endParaRPr lang="en-US" sz="1050" dirty="0"/>
          </a:p>
        </p:txBody>
      </p:sp>
      <p:sp>
        <p:nvSpPr>
          <p:cNvPr id="12" name="Shape 10"/>
          <p:cNvSpPr/>
          <p:nvPr/>
        </p:nvSpPr>
        <p:spPr>
          <a:xfrm>
            <a:off x="365760" y="2148840"/>
            <a:ext cx="8412480" cy="804672"/>
          </a:xfrm>
          <a:prstGeom prst="rect">
            <a:avLst/>
          </a:prstGeom>
          <a:solidFill>
            <a:srgbClr val="FFFFFF"/>
          </a:solidFill>
          <a:ln w="6350">
            <a:solidFill>
              <a:srgbClr val="CBD5E1"/>
            </a:solidFill>
            <a:prstDash val="solid"/>
          </a:ln>
        </p:spPr>
        <p:txBody>
          <a:bodyPr/>
          <a:lstStyle/>
          <a:p>
            <a:endParaRPr lang="en-IN"/>
          </a:p>
        </p:txBody>
      </p:sp>
      <p:sp>
        <p:nvSpPr>
          <p:cNvPr id="13" name="Text 11"/>
          <p:cNvSpPr/>
          <p:nvPr/>
        </p:nvSpPr>
        <p:spPr>
          <a:xfrm>
            <a:off x="457200" y="2240280"/>
            <a:ext cx="457200" cy="548640"/>
          </a:xfrm>
          <a:prstGeom prst="rect">
            <a:avLst/>
          </a:prstGeom>
          <a:noFill/>
          <a:ln/>
        </p:spPr>
        <p:txBody>
          <a:bodyPr wrap="square" rtlCol="0" anchor="ctr"/>
          <a:lstStyle/>
          <a:p>
            <a:pPr marL="0" indent="0" algn="ctr">
              <a:buNone/>
            </a:pPr>
            <a:r>
              <a:rPr lang="en-US" sz="2000" dirty="0">
                <a:solidFill>
                  <a:srgbClr val="000000"/>
                </a:solidFill>
                <a:latin typeface="Calibri" pitchFamily="34" charset="0"/>
                <a:ea typeface="Calibri" pitchFamily="34" charset="-122"/>
                <a:cs typeface="Calibri" pitchFamily="34" charset="-120"/>
              </a:rPr>
              <a:t>📰</a:t>
            </a:r>
            <a:endParaRPr lang="en-US" sz="2000" dirty="0"/>
          </a:p>
        </p:txBody>
      </p:sp>
      <p:sp>
        <p:nvSpPr>
          <p:cNvPr id="14" name="Text 12"/>
          <p:cNvSpPr/>
          <p:nvPr/>
        </p:nvSpPr>
        <p:spPr>
          <a:xfrm>
            <a:off x="1005840" y="2194560"/>
            <a:ext cx="2011680" cy="320040"/>
          </a:xfrm>
          <a:prstGeom prst="rect">
            <a:avLst/>
          </a:prstGeom>
          <a:noFill/>
          <a:ln/>
        </p:spPr>
        <p:txBody>
          <a:bodyPr wrap="square" rtlCol="0" anchor="ctr"/>
          <a:lstStyle/>
          <a:p>
            <a:pPr marL="0" indent="0">
              <a:buNone/>
            </a:pPr>
            <a:r>
              <a:rPr lang="en-US" sz="1200" b="1" dirty="0">
                <a:solidFill>
                  <a:srgbClr val="1A3A5C"/>
                </a:solidFill>
                <a:latin typeface="Calibri" pitchFamily="34" charset="0"/>
                <a:ea typeface="Calibri" pitchFamily="34" charset="-122"/>
                <a:cs typeface="Calibri" pitchFamily="34" charset="-120"/>
              </a:rPr>
              <a:t>Media Demand</a:t>
            </a:r>
            <a:endParaRPr lang="en-US" sz="1200" dirty="0"/>
          </a:p>
        </p:txBody>
      </p:sp>
      <p:sp>
        <p:nvSpPr>
          <p:cNvPr id="15" name="Text 13"/>
          <p:cNvSpPr/>
          <p:nvPr/>
        </p:nvSpPr>
        <p:spPr>
          <a:xfrm>
            <a:off x="1005840" y="2496312"/>
            <a:ext cx="7498080" cy="411480"/>
          </a:xfrm>
          <a:prstGeom prst="rect">
            <a:avLst/>
          </a:prstGeom>
          <a:noFill/>
          <a:ln/>
        </p:spPr>
        <p:txBody>
          <a:bodyPr wrap="square" rtlCol="0" anchor="ctr"/>
          <a:lstStyle/>
          <a:p>
            <a:pPr marL="0" indent="0">
              <a:buNone/>
            </a:pPr>
            <a:r>
              <a:rPr lang="en-US" sz="1050" dirty="0">
                <a:solidFill>
                  <a:srgbClr val="64748B"/>
                </a:solidFill>
                <a:latin typeface="Calibri" pitchFamily="34" charset="0"/>
                <a:ea typeface="Calibri" pitchFamily="34" charset="-122"/>
                <a:cs typeface="Calibri" pitchFamily="34" charset="-120"/>
              </a:rPr>
              <a:t>News organizations and media houses needed real-time, interactive dashboards for accurate election reporting and audience engagement.</a:t>
            </a:r>
            <a:endParaRPr lang="en-US" sz="1050" dirty="0"/>
          </a:p>
        </p:txBody>
      </p:sp>
      <p:sp>
        <p:nvSpPr>
          <p:cNvPr id="16" name="Shape 14"/>
          <p:cNvSpPr/>
          <p:nvPr/>
        </p:nvSpPr>
        <p:spPr>
          <a:xfrm>
            <a:off x="365760" y="3063240"/>
            <a:ext cx="8412480" cy="804672"/>
          </a:xfrm>
          <a:prstGeom prst="rect">
            <a:avLst/>
          </a:prstGeom>
          <a:solidFill>
            <a:srgbClr val="F0F4F8"/>
          </a:solidFill>
          <a:ln w="6350">
            <a:solidFill>
              <a:srgbClr val="CBD5E1"/>
            </a:solidFill>
            <a:prstDash val="solid"/>
          </a:ln>
        </p:spPr>
        <p:txBody>
          <a:bodyPr/>
          <a:lstStyle/>
          <a:p>
            <a:endParaRPr lang="en-IN"/>
          </a:p>
        </p:txBody>
      </p:sp>
      <p:sp>
        <p:nvSpPr>
          <p:cNvPr id="17" name="Text 15"/>
          <p:cNvSpPr/>
          <p:nvPr/>
        </p:nvSpPr>
        <p:spPr>
          <a:xfrm>
            <a:off x="457200" y="3154680"/>
            <a:ext cx="457200" cy="548640"/>
          </a:xfrm>
          <a:prstGeom prst="rect">
            <a:avLst/>
          </a:prstGeom>
          <a:noFill/>
          <a:ln/>
        </p:spPr>
        <p:txBody>
          <a:bodyPr wrap="square" rtlCol="0" anchor="ctr"/>
          <a:lstStyle/>
          <a:p>
            <a:pPr marL="0" indent="0" algn="ctr">
              <a:buNone/>
            </a:pPr>
            <a:r>
              <a:rPr lang="en-US" sz="2000" dirty="0">
                <a:solidFill>
                  <a:srgbClr val="000000"/>
                </a:solidFill>
                <a:latin typeface="Calibri" pitchFamily="34" charset="0"/>
                <a:ea typeface="Calibri" pitchFamily="34" charset="-122"/>
                <a:cs typeface="Calibri" pitchFamily="34" charset="-120"/>
              </a:rPr>
              <a:t>🔍</a:t>
            </a:r>
            <a:endParaRPr lang="en-US" sz="2000" dirty="0"/>
          </a:p>
        </p:txBody>
      </p:sp>
      <p:sp>
        <p:nvSpPr>
          <p:cNvPr id="18" name="Text 16"/>
          <p:cNvSpPr/>
          <p:nvPr/>
        </p:nvSpPr>
        <p:spPr>
          <a:xfrm>
            <a:off x="1005840" y="3108960"/>
            <a:ext cx="2011680" cy="320040"/>
          </a:xfrm>
          <a:prstGeom prst="rect">
            <a:avLst/>
          </a:prstGeom>
          <a:noFill/>
          <a:ln/>
        </p:spPr>
        <p:txBody>
          <a:bodyPr wrap="square" rtlCol="0" anchor="ctr"/>
          <a:lstStyle/>
          <a:p>
            <a:pPr marL="0" indent="0">
              <a:buNone/>
            </a:pPr>
            <a:r>
              <a:rPr lang="en-US" sz="1200" b="1" dirty="0">
                <a:solidFill>
                  <a:srgbClr val="1A3A5C"/>
                </a:solidFill>
                <a:latin typeface="Calibri" pitchFamily="34" charset="0"/>
                <a:ea typeface="Calibri" pitchFamily="34" charset="-122"/>
                <a:cs typeface="Calibri" pitchFamily="34" charset="-120"/>
              </a:rPr>
              <a:t>Transparency Gap</a:t>
            </a:r>
            <a:endParaRPr lang="en-US" sz="1200" dirty="0"/>
          </a:p>
        </p:txBody>
      </p:sp>
      <p:sp>
        <p:nvSpPr>
          <p:cNvPr id="19" name="Text 17"/>
          <p:cNvSpPr/>
          <p:nvPr/>
        </p:nvSpPr>
        <p:spPr>
          <a:xfrm>
            <a:off x="1005840" y="3410712"/>
            <a:ext cx="7498080" cy="411480"/>
          </a:xfrm>
          <a:prstGeom prst="rect">
            <a:avLst/>
          </a:prstGeom>
          <a:noFill/>
          <a:ln/>
        </p:spPr>
        <p:txBody>
          <a:bodyPr wrap="square" rtlCol="0" anchor="ctr"/>
          <a:lstStyle/>
          <a:p>
            <a:pPr marL="0" indent="0">
              <a:buNone/>
            </a:pPr>
            <a:r>
              <a:rPr lang="en-US" sz="1050" dirty="0">
                <a:solidFill>
                  <a:srgbClr val="64748B"/>
                </a:solidFill>
                <a:latin typeface="Calibri" pitchFamily="34" charset="0"/>
                <a:ea typeface="Calibri" pitchFamily="34" charset="-122"/>
                <a:cs typeface="Calibri" pitchFamily="34" charset="-120"/>
              </a:rPr>
              <a:t>Voters and political analysts lacked a single, unified view of election performance across alliances, states, and constituencies.</a:t>
            </a:r>
            <a:endParaRPr lang="en-US" sz="1050" dirty="0"/>
          </a:p>
        </p:txBody>
      </p:sp>
      <p:sp>
        <p:nvSpPr>
          <p:cNvPr id="20" name="Shape 18"/>
          <p:cNvSpPr/>
          <p:nvPr/>
        </p:nvSpPr>
        <p:spPr>
          <a:xfrm>
            <a:off x="365760" y="3977640"/>
            <a:ext cx="8412480" cy="804672"/>
          </a:xfrm>
          <a:prstGeom prst="rect">
            <a:avLst/>
          </a:prstGeom>
          <a:solidFill>
            <a:srgbClr val="FFFFFF"/>
          </a:solidFill>
          <a:ln w="6350">
            <a:solidFill>
              <a:srgbClr val="CBD5E1"/>
            </a:solidFill>
            <a:prstDash val="solid"/>
          </a:ln>
        </p:spPr>
        <p:txBody>
          <a:bodyPr/>
          <a:lstStyle/>
          <a:p>
            <a:endParaRPr lang="en-IN"/>
          </a:p>
        </p:txBody>
      </p:sp>
      <p:sp>
        <p:nvSpPr>
          <p:cNvPr id="21" name="Text 19"/>
          <p:cNvSpPr/>
          <p:nvPr/>
        </p:nvSpPr>
        <p:spPr>
          <a:xfrm>
            <a:off x="457200" y="4069080"/>
            <a:ext cx="457200" cy="548640"/>
          </a:xfrm>
          <a:prstGeom prst="rect">
            <a:avLst/>
          </a:prstGeom>
          <a:noFill/>
          <a:ln/>
        </p:spPr>
        <p:txBody>
          <a:bodyPr wrap="square" rtlCol="0" anchor="ctr"/>
          <a:lstStyle/>
          <a:p>
            <a:pPr marL="0" indent="0" algn="ctr">
              <a:buNone/>
            </a:pPr>
            <a:r>
              <a:rPr lang="en-US" sz="2000" dirty="0">
                <a:solidFill>
                  <a:srgbClr val="000000"/>
                </a:solidFill>
                <a:latin typeface="Calibri" pitchFamily="34" charset="0"/>
                <a:ea typeface="Calibri" pitchFamily="34" charset="-122"/>
                <a:cs typeface="Calibri" pitchFamily="34" charset="-120"/>
              </a:rPr>
              <a:t>💡</a:t>
            </a:r>
            <a:endParaRPr lang="en-US" sz="2000" dirty="0"/>
          </a:p>
        </p:txBody>
      </p:sp>
      <p:sp>
        <p:nvSpPr>
          <p:cNvPr id="22" name="Text 20"/>
          <p:cNvSpPr/>
          <p:nvPr/>
        </p:nvSpPr>
        <p:spPr>
          <a:xfrm>
            <a:off x="1005840" y="4023360"/>
            <a:ext cx="2011680" cy="320040"/>
          </a:xfrm>
          <a:prstGeom prst="rect">
            <a:avLst/>
          </a:prstGeom>
          <a:noFill/>
          <a:ln/>
        </p:spPr>
        <p:txBody>
          <a:bodyPr wrap="square" rtlCol="0" anchor="ctr"/>
          <a:lstStyle/>
          <a:p>
            <a:pPr marL="0" indent="0">
              <a:buNone/>
            </a:pPr>
            <a:r>
              <a:rPr lang="en-US" sz="1200" b="1" dirty="0">
                <a:solidFill>
                  <a:srgbClr val="1A3A5C"/>
                </a:solidFill>
                <a:latin typeface="Calibri" pitchFamily="34" charset="0"/>
                <a:ea typeface="Calibri" pitchFamily="34" charset="-122"/>
                <a:cs typeface="Calibri" pitchFamily="34" charset="-120"/>
              </a:rPr>
              <a:t>Infosys Springboard Goal</a:t>
            </a:r>
            <a:endParaRPr lang="en-US" sz="1200" dirty="0"/>
          </a:p>
        </p:txBody>
      </p:sp>
      <p:sp>
        <p:nvSpPr>
          <p:cNvPr id="23" name="Text 21"/>
          <p:cNvSpPr/>
          <p:nvPr/>
        </p:nvSpPr>
        <p:spPr>
          <a:xfrm>
            <a:off x="1005840" y="4325112"/>
            <a:ext cx="7498080" cy="411480"/>
          </a:xfrm>
          <a:prstGeom prst="rect">
            <a:avLst/>
          </a:prstGeom>
          <a:noFill/>
          <a:ln/>
        </p:spPr>
        <p:txBody>
          <a:bodyPr wrap="square" rtlCol="0" anchor="ctr"/>
          <a:lstStyle/>
          <a:p>
            <a:pPr marL="0" indent="0">
              <a:buNone/>
            </a:pPr>
            <a:r>
              <a:rPr lang="en-US" sz="1050" dirty="0">
                <a:solidFill>
                  <a:srgbClr val="64748B"/>
                </a:solidFill>
                <a:latin typeface="Calibri" pitchFamily="34" charset="0"/>
                <a:ea typeface="Calibri" pitchFamily="34" charset="-122"/>
                <a:cs typeface="Calibri" pitchFamily="34" charset="-120"/>
              </a:rPr>
              <a:t>To apply data engineering and visualization skills in a real-world, high-impact scenario using Power BI and DAX.</a:t>
            </a:r>
            <a:endParaRPr lang="en-US" sz="1050" dirty="0"/>
          </a:p>
        </p:txBody>
      </p:sp>
      <p:sp>
        <p:nvSpPr>
          <p:cNvPr id="24" name="Text 22"/>
          <p:cNvSpPr/>
          <p:nvPr/>
        </p:nvSpPr>
        <p:spPr>
          <a:xfrm>
            <a:off x="0" y="4846320"/>
            <a:ext cx="9144000" cy="274320"/>
          </a:xfrm>
          <a:prstGeom prst="rect">
            <a:avLst/>
          </a:prstGeom>
          <a:noFill/>
          <a:ln/>
        </p:spPr>
        <p:txBody>
          <a:bodyPr wrap="square" rtlCol="0" anchor="ctr"/>
          <a:lstStyle/>
          <a:p>
            <a:pPr marL="0" indent="0" algn="ctr">
              <a:buNone/>
            </a:pPr>
            <a:r>
              <a:rPr lang="en-US" sz="900" dirty="0">
                <a:solidFill>
                  <a:srgbClr val="999999"/>
                </a:solidFill>
                <a:latin typeface="Calibri" pitchFamily="34" charset="0"/>
                <a:ea typeface="Calibri" pitchFamily="34" charset="-122"/>
                <a:cs typeface="Calibri" pitchFamily="34" charset="-120"/>
              </a:rPr>
              <a:t>Infosys ElectViz | Team C | India General Election 2024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A3A5C"/>
          </a:solidFill>
          <a:ln w="12700">
            <a:solidFill>
              <a:srgbClr val="1A3A5C"/>
            </a:solidFill>
            <a:prstDash val="solid"/>
          </a:ln>
        </p:spPr>
        <p:txBody>
          <a:bodyPr/>
          <a:lstStyle/>
          <a:p>
            <a:endParaRPr lang="en-IN"/>
          </a:p>
        </p:txBody>
      </p:sp>
      <p:sp>
        <p:nvSpPr>
          <p:cNvPr id="3" name="Shape 1"/>
          <p:cNvSpPr/>
          <p:nvPr/>
        </p:nvSpPr>
        <p:spPr>
          <a:xfrm>
            <a:off x="0" y="1005840"/>
            <a:ext cx="9144000" cy="64008"/>
          </a:xfrm>
          <a:prstGeom prst="rect">
            <a:avLst/>
          </a:prstGeom>
          <a:solidFill>
            <a:srgbClr val="E85D1A"/>
          </a:solidFill>
          <a:ln w="12700">
            <a:solidFill>
              <a:srgbClr val="E85D1A"/>
            </a:solidFill>
            <a:prstDash val="solid"/>
          </a:ln>
        </p:spPr>
        <p:txBody>
          <a:bodyPr/>
          <a:lstStyle/>
          <a:p>
            <a:endParaRPr lang="en-IN"/>
          </a:p>
        </p:txBody>
      </p:sp>
      <p:sp>
        <p:nvSpPr>
          <p:cNvPr id="4" name="Text 2"/>
          <p:cNvSpPr/>
          <p:nvPr/>
        </p:nvSpPr>
        <p:spPr>
          <a:xfrm>
            <a:off x="365760" y="91440"/>
            <a:ext cx="7315200" cy="54864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Project Overview</a:t>
            </a:r>
            <a:endParaRPr lang="en-US" sz="2200" dirty="0"/>
          </a:p>
        </p:txBody>
      </p:sp>
      <p:sp>
        <p:nvSpPr>
          <p:cNvPr id="5" name="Text 3"/>
          <p:cNvSpPr/>
          <p:nvPr/>
        </p:nvSpPr>
        <p:spPr>
          <a:xfrm>
            <a:off x="365760" y="594360"/>
            <a:ext cx="7315200" cy="365760"/>
          </a:xfrm>
          <a:prstGeom prst="rect">
            <a:avLst/>
          </a:prstGeom>
          <a:noFill/>
          <a:ln/>
        </p:spPr>
        <p:txBody>
          <a:bodyPr wrap="square" rtlCol="0" anchor="ctr"/>
          <a:lstStyle/>
          <a:p>
            <a:pPr marL="0" indent="0">
              <a:buNone/>
            </a:pPr>
            <a:r>
              <a:rPr lang="en-US" sz="1400" i="1" dirty="0">
                <a:solidFill>
                  <a:srgbClr val="B0C4DE"/>
                </a:solidFill>
                <a:latin typeface="Calibri" pitchFamily="34" charset="0"/>
                <a:ea typeface="Calibri" pitchFamily="34" charset="-122"/>
                <a:cs typeface="Calibri" pitchFamily="34" charset="-120"/>
              </a:rPr>
              <a:t>ElectViz — Architecture at a Glance</a:t>
            </a:r>
            <a:endParaRPr lang="en-US" sz="1400" dirty="0"/>
          </a:p>
        </p:txBody>
      </p:sp>
      <p:sp>
        <p:nvSpPr>
          <p:cNvPr id="8" name="Shape 6"/>
          <p:cNvSpPr/>
          <p:nvPr/>
        </p:nvSpPr>
        <p:spPr>
          <a:xfrm>
            <a:off x="274320" y="1156371"/>
            <a:ext cx="2108871" cy="502920"/>
          </a:xfrm>
          <a:prstGeom prst="rect">
            <a:avLst/>
          </a:prstGeom>
          <a:solidFill>
            <a:srgbClr val="1565C0"/>
          </a:solidFill>
          <a:ln w="12700">
            <a:solidFill>
              <a:srgbClr val="4472C4"/>
            </a:solidFill>
            <a:prstDash val="solid"/>
          </a:ln>
        </p:spPr>
        <p:txBody>
          <a:bodyPr/>
          <a:lstStyle/>
          <a:p>
            <a:endParaRPr lang="en-IN"/>
          </a:p>
        </p:txBody>
      </p:sp>
      <p:sp>
        <p:nvSpPr>
          <p:cNvPr id="9" name="Text 7"/>
          <p:cNvSpPr/>
          <p:nvPr/>
        </p:nvSpPr>
        <p:spPr>
          <a:xfrm>
            <a:off x="-182880" y="1181862"/>
            <a:ext cx="2743200" cy="502920"/>
          </a:xfrm>
          <a:prstGeom prst="rect">
            <a:avLst/>
          </a:prstGeom>
          <a:noFill/>
          <a:ln/>
        </p:spPr>
        <p:txBody>
          <a:bodyPr wrap="square" lIns="91440" tIns="45720" rIns="91440" bIns="45720" rtlCol="0" anchor="ctr"/>
          <a:lstStyle/>
          <a:p>
            <a:pPr marL="0" indent="0" algn="ctr">
              <a:buNone/>
            </a:pPr>
            <a:endParaRPr lang="en-US" sz="1200" b="1" dirty="0">
              <a:solidFill>
                <a:srgbClr val="FFFFFF"/>
              </a:solidFill>
              <a:ea typeface="Calibri"/>
              <a:cs typeface="Calibri"/>
            </a:endParaRPr>
          </a:p>
        </p:txBody>
      </p:sp>
      <p:sp>
        <p:nvSpPr>
          <p:cNvPr id="10" name="Shape 8"/>
          <p:cNvSpPr/>
          <p:nvPr/>
        </p:nvSpPr>
        <p:spPr>
          <a:xfrm>
            <a:off x="274320" y="1691640"/>
            <a:ext cx="2133600" cy="1645920"/>
          </a:xfrm>
          <a:prstGeom prst="rect">
            <a:avLst/>
          </a:prstGeom>
          <a:solidFill>
            <a:srgbClr val="F0F4F8"/>
          </a:solidFill>
          <a:ln w="6350">
            <a:solidFill>
              <a:srgbClr val="CBD5E1"/>
            </a:solidFill>
            <a:prstDash val="solid"/>
          </a:ln>
        </p:spPr>
        <p:txBody>
          <a:bodyPr/>
          <a:lstStyle/>
          <a:p>
            <a:endParaRPr lang="en-IN"/>
          </a:p>
        </p:txBody>
      </p:sp>
      <p:sp>
        <p:nvSpPr>
          <p:cNvPr id="11" name="Text 9"/>
          <p:cNvSpPr/>
          <p:nvPr/>
        </p:nvSpPr>
        <p:spPr>
          <a:xfrm>
            <a:off x="274320" y="1773936"/>
            <a:ext cx="2133600" cy="1508760"/>
          </a:xfrm>
          <a:prstGeom prst="rect">
            <a:avLst/>
          </a:prstGeom>
          <a:noFill/>
          <a:ln/>
        </p:spPr>
        <p:txBody>
          <a:bodyPr wrap="square" lIns="91440" tIns="45720" rIns="91440" bIns="45720" rtlCol="0" anchor="t"/>
          <a:lstStyle/>
          <a:p>
            <a:r>
              <a:rPr lang="en-GB" sz="1100" dirty="0">
                <a:solidFill>
                  <a:schemeClr val="tx2"/>
                </a:solidFill>
                <a:latin typeface="Calibri"/>
                <a:ea typeface="Calibri"/>
                <a:cs typeface="Calibri"/>
              </a:rPr>
              <a:t>This dashboard shows a state-wise overview of the 2024Indian elections (Bihar),including seat </a:t>
            </a:r>
            <a:r>
              <a:rPr lang="en-GB" sz="1100" dirty="0" err="1">
                <a:solidFill>
                  <a:schemeClr val="tx2"/>
                </a:solidFill>
                <a:latin typeface="Calibri"/>
                <a:ea typeface="Calibri"/>
                <a:cs typeface="Calibri"/>
              </a:rPr>
              <a:t>distribution,total</a:t>
            </a:r>
            <a:r>
              <a:rPr lang="en-GB" sz="1100" dirty="0">
                <a:solidFill>
                  <a:schemeClr val="tx2"/>
                </a:solidFill>
                <a:latin typeface="Calibri"/>
                <a:ea typeface="Calibri"/>
                <a:cs typeface="Calibri"/>
              </a:rPr>
              <a:t> votes, and </a:t>
            </a:r>
            <a:r>
              <a:rPr lang="en-GB" sz="1100" dirty="0" err="1">
                <a:solidFill>
                  <a:schemeClr val="tx2"/>
                </a:solidFill>
                <a:latin typeface="Calibri"/>
                <a:ea typeface="Calibri"/>
                <a:cs typeface="Calibri"/>
              </a:rPr>
              <a:t>partyperformance</a:t>
            </a:r>
            <a:r>
              <a:rPr lang="en-GB" sz="1100" dirty="0">
                <a:solidFill>
                  <a:schemeClr val="tx2"/>
                </a:solidFill>
                <a:latin typeface="Calibri"/>
                <a:ea typeface="Calibri"/>
                <a:cs typeface="Calibri"/>
              </a:rPr>
              <a:t>.</a:t>
            </a:r>
            <a:endParaRPr lang="en-US" sz="1100">
              <a:solidFill>
                <a:schemeClr val="tx2"/>
              </a:solidFill>
              <a:latin typeface="Calibri"/>
              <a:ea typeface="Calibri"/>
              <a:cs typeface="Calibri"/>
            </a:endParaRPr>
          </a:p>
          <a:p>
            <a:endParaRPr lang="en-US" sz="1100">
              <a:solidFill>
                <a:srgbClr val="334155"/>
              </a:solidFill>
              <a:ea typeface="Calibri"/>
              <a:cs typeface="Calibri"/>
            </a:endParaRPr>
          </a:p>
        </p:txBody>
      </p:sp>
      <p:sp>
        <p:nvSpPr>
          <p:cNvPr id="12" name="Shape 10"/>
          <p:cNvSpPr/>
          <p:nvPr/>
        </p:nvSpPr>
        <p:spPr>
          <a:xfrm>
            <a:off x="2560320" y="1175004"/>
            <a:ext cx="2082129" cy="502920"/>
          </a:xfrm>
          <a:prstGeom prst="rect">
            <a:avLst/>
          </a:prstGeom>
          <a:solidFill>
            <a:srgbClr val="2E7D32"/>
          </a:solidFill>
          <a:ln w="12700">
            <a:solidFill>
              <a:srgbClr val="2E7D32"/>
            </a:solidFill>
            <a:prstDash val="solid"/>
          </a:ln>
        </p:spPr>
        <p:txBody>
          <a:bodyPr/>
          <a:lstStyle/>
          <a:p>
            <a:endParaRPr lang="en-IN"/>
          </a:p>
        </p:txBody>
      </p:sp>
      <p:sp>
        <p:nvSpPr>
          <p:cNvPr id="13" name="Text 11"/>
          <p:cNvSpPr/>
          <p:nvPr/>
        </p:nvSpPr>
        <p:spPr>
          <a:xfrm>
            <a:off x="2284131" y="1164221"/>
            <a:ext cx="2743200" cy="502920"/>
          </a:xfrm>
          <a:prstGeom prst="rect">
            <a:avLst/>
          </a:prstGeom>
          <a:noFill/>
          <a:ln/>
        </p:spPr>
        <p:txBody>
          <a:bodyPr wrap="square" lIns="91440" tIns="45720" rIns="91440" bIns="45720" rtlCol="0" anchor="ctr"/>
          <a:lstStyle/>
          <a:p>
            <a:pPr algn="ctr"/>
            <a:r>
              <a:rPr lang="en-US" sz="1200" b="1" dirty="0">
                <a:solidFill>
                  <a:srgbClr val="FFFFFF"/>
                </a:solidFill>
                <a:latin typeface="Calibri"/>
                <a:ea typeface="Calibri"/>
                <a:cs typeface="Calibri"/>
              </a:rPr>
              <a:t>State </a:t>
            </a:r>
            <a:r>
              <a:rPr lang="en-US" sz="1200" b="1">
                <a:solidFill>
                  <a:srgbClr val="FFFFFF"/>
                </a:solidFill>
                <a:latin typeface="Calibri"/>
                <a:ea typeface="Calibri"/>
                <a:cs typeface="Calibri"/>
              </a:rPr>
              <a:t>Analysis</a:t>
            </a:r>
            <a:endParaRPr lang="en-US" sz="1200" b="1" dirty="0">
              <a:solidFill>
                <a:srgbClr val="FFFFFF"/>
              </a:solidFill>
              <a:latin typeface="Calibri"/>
              <a:ea typeface="Calibri"/>
              <a:cs typeface="Calibri"/>
            </a:endParaRPr>
          </a:p>
        </p:txBody>
      </p:sp>
      <p:sp>
        <p:nvSpPr>
          <p:cNvPr id="14" name="Shape 12"/>
          <p:cNvSpPr/>
          <p:nvPr/>
        </p:nvSpPr>
        <p:spPr>
          <a:xfrm>
            <a:off x="2526102" y="1707110"/>
            <a:ext cx="2127130" cy="1635137"/>
          </a:xfrm>
          <a:prstGeom prst="rect">
            <a:avLst/>
          </a:prstGeom>
          <a:solidFill>
            <a:srgbClr val="F0F4F8"/>
          </a:solidFill>
          <a:ln w="6350">
            <a:solidFill>
              <a:srgbClr val="CBD5E1"/>
            </a:solidFill>
            <a:prstDash val="solid"/>
          </a:ln>
        </p:spPr>
        <p:txBody>
          <a:bodyPr/>
          <a:lstStyle/>
          <a:p>
            <a:endParaRPr lang="en-IN"/>
          </a:p>
        </p:txBody>
      </p:sp>
      <p:sp>
        <p:nvSpPr>
          <p:cNvPr id="15" name="Text 13"/>
          <p:cNvSpPr/>
          <p:nvPr/>
        </p:nvSpPr>
        <p:spPr>
          <a:xfrm>
            <a:off x="2735580" y="1773936"/>
            <a:ext cx="1938212" cy="1487194"/>
          </a:xfrm>
          <a:prstGeom prst="rect">
            <a:avLst/>
          </a:prstGeom>
          <a:noFill/>
          <a:ln/>
        </p:spPr>
        <p:txBody>
          <a:bodyPr wrap="square" lIns="91440" tIns="45720" rIns="91440" bIns="45720" rtlCol="0" anchor="t"/>
          <a:lstStyle/>
          <a:p>
            <a:pPr algn="just"/>
            <a:r>
              <a:rPr lang="en-US" sz="1100" dirty="0">
                <a:solidFill>
                  <a:srgbClr val="334155"/>
                </a:solidFill>
                <a:latin typeface="Calibri"/>
                <a:ea typeface="Calibri"/>
                <a:cs typeface="Calibri"/>
              </a:rPr>
              <a:t>Constituency-level winner, runner-up, vote share, margin details, and participating </a:t>
            </a:r>
            <a:r>
              <a:rPr lang="en-US" sz="1100" dirty="0" err="1">
                <a:solidFill>
                  <a:srgbClr val="334155"/>
                </a:solidFill>
                <a:latin typeface="Calibri"/>
                <a:ea typeface="Calibri"/>
                <a:cs typeface="Calibri"/>
              </a:rPr>
              <a:t>candidates.State</a:t>
            </a:r>
            <a:r>
              <a:rPr lang="en-US" sz="1100" dirty="0">
                <a:solidFill>
                  <a:srgbClr val="334155"/>
                </a:solidFill>
                <a:latin typeface="Calibri"/>
                <a:ea typeface="Calibri"/>
                <a:cs typeface="Calibri"/>
              </a:rPr>
              <a:t>-wise seat distribution, </a:t>
            </a:r>
            <a:r>
              <a:rPr lang="en-US" sz="1100" dirty="0" err="1">
                <a:solidFill>
                  <a:srgbClr val="334155"/>
                </a:solidFill>
                <a:latin typeface="Calibri"/>
                <a:ea typeface="Calibri"/>
                <a:cs typeface="Calibri"/>
              </a:rPr>
              <a:t>NDAvs</a:t>
            </a:r>
            <a:r>
              <a:rPr lang="en-US" sz="1100" dirty="0">
                <a:solidFill>
                  <a:srgbClr val="334155"/>
                </a:solidFill>
                <a:latin typeface="Calibri"/>
                <a:ea typeface="Calibri"/>
                <a:cs typeface="Calibri"/>
              </a:rPr>
              <a:t> INDIA alliance </a:t>
            </a:r>
            <a:r>
              <a:rPr lang="en-US" sz="1100" dirty="0" err="1">
                <a:solidFill>
                  <a:srgbClr val="334155"/>
                </a:solidFill>
                <a:latin typeface="Calibri"/>
                <a:ea typeface="Calibri"/>
                <a:cs typeface="Calibri"/>
              </a:rPr>
              <a:t>breakdown,geographic</a:t>
            </a:r>
            <a:r>
              <a:rPr lang="en-US" sz="1100" dirty="0">
                <a:solidFill>
                  <a:srgbClr val="334155"/>
                </a:solidFill>
                <a:latin typeface="Calibri"/>
                <a:ea typeface="Calibri"/>
                <a:cs typeface="Calibri"/>
              </a:rPr>
              <a:t> mapping with </a:t>
            </a:r>
            <a:r>
              <a:rPr lang="en-US" sz="1100" dirty="0" err="1">
                <a:solidFill>
                  <a:srgbClr val="334155"/>
                </a:solidFill>
                <a:latin typeface="Calibri"/>
                <a:ea typeface="Calibri"/>
                <a:cs typeface="Calibri"/>
              </a:rPr>
              <a:t>hoverdetails</a:t>
            </a:r>
            <a:endParaRPr lang="en-US" sz="1100" dirty="0"/>
          </a:p>
        </p:txBody>
      </p:sp>
      <p:sp>
        <p:nvSpPr>
          <p:cNvPr id="16" name="Shape 14"/>
          <p:cNvSpPr/>
          <p:nvPr/>
        </p:nvSpPr>
        <p:spPr>
          <a:xfrm>
            <a:off x="4792980" y="1158240"/>
            <a:ext cx="1996440" cy="502920"/>
          </a:xfrm>
          <a:prstGeom prst="rect">
            <a:avLst/>
          </a:prstGeom>
          <a:solidFill>
            <a:srgbClr val="E85D1A"/>
          </a:solidFill>
          <a:ln w="12700">
            <a:solidFill>
              <a:srgbClr val="E85D1A"/>
            </a:solidFill>
            <a:prstDash val="solid"/>
          </a:ln>
        </p:spPr>
        <p:txBody>
          <a:bodyPr/>
          <a:lstStyle/>
          <a:p>
            <a:endParaRPr lang="en-IN"/>
          </a:p>
        </p:txBody>
      </p:sp>
      <p:sp>
        <p:nvSpPr>
          <p:cNvPr id="17" name="Text 15"/>
          <p:cNvSpPr/>
          <p:nvPr/>
        </p:nvSpPr>
        <p:spPr>
          <a:xfrm>
            <a:off x="4358640" y="1165860"/>
            <a:ext cx="2743200" cy="502920"/>
          </a:xfrm>
          <a:prstGeom prst="rect">
            <a:avLst/>
          </a:prstGeom>
          <a:noFill/>
          <a:ln/>
        </p:spPr>
        <p:txBody>
          <a:bodyPr wrap="square" lIns="91440" tIns="45720" rIns="91440" bIns="45720" rtlCol="0" anchor="ctr"/>
          <a:lstStyle/>
          <a:p>
            <a:pPr algn="ctr"/>
            <a:endParaRPr lang="en-US" sz="1200" b="1" dirty="0">
              <a:solidFill>
                <a:srgbClr val="FFFFFF"/>
              </a:solidFill>
              <a:latin typeface="Calibri"/>
              <a:ea typeface="Calibri"/>
              <a:cs typeface="Calibri"/>
            </a:endParaRPr>
          </a:p>
          <a:p>
            <a:pPr algn="ctr"/>
            <a:r>
              <a:rPr lang="en-US" sz="1200" b="1">
                <a:solidFill>
                  <a:srgbClr val="FFFFFF"/>
                </a:solidFill>
                <a:latin typeface="Calibri"/>
                <a:ea typeface="Calibri"/>
                <a:cs typeface="Calibri"/>
              </a:rPr>
              <a:t>Constituency Analysis</a:t>
            </a:r>
            <a:endParaRPr lang="en-US" sz="1200">
              <a:solidFill>
                <a:srgbClr val="000000"/>
              </a:solidFill>
              <a:latin typeface="Calibri"/>
              <a:ea typeface="Calibri"/>
              <a:cs typeface="Calibri"/>
            </a:endParaRPr>
          </a:p>
          <a:p>
            <a:pPr marL="0" indent="0" algn="ctr">
              <a:buNone/>
            </a:pPr>
            <a:endParaRPr lang="en-US" sz="1200" b="1" dirty="0">
              <a:solidFill>
                <a:srgbClr val="FFFFFF"/>
              </a:solidFill>
              <a:latin typeface="Calibri"/>
              <a:ea typeface="Calibri"/>
              <a:cs typeface="Calibri"/>
            </a:endParaRPr>
          </a:p>
        </p:txBody>
      </p:sp>
      <p:sp>
        <p:nvSpPr>
          <p:cNvPr id="18" name="Shape 16"/>
          <p:cNvSpPr/>
          <p:nvPr/>
        </p:nvSpPr>
        <p:spPr>
          <a:xfrm>
            <a:off x="4789817" y="1668780"/>
            <a:ext cx="2007223" cy="1635137"/>
          </a:xfrm>
          <a:prstGeom prst="rect">
            <a:avLst/>
          </a:prstGeom>
          <a:solidFill>
            <a:srgbClr val="F0F4F8"/>
          </a:solidFill>
          <a:ln w="6350">
            <a:solidFill>
              <a:srgbClr val="CBD5E1"/>
            </a:solidFill>
            <a:prstDash val="solid"/>
          </a:ln>
        </p:spPr>
        <p:txBody>
          <a:bodyPr/>
          <a:lstStyle/>
          <a:p>
            <a:endParaRPr lang="en-IN"/>
          </a:p>
        </p:txBody>
      </p:sp>
      <p:sp>
        <p:nvSpPr>
          <p:cNvPr id="19" name="Text 17"/>
          <p:cNvSpPr/>
          <p:nvPr/>
        </p:nvSpPr>
        <p:spPr>
          <a:xfrm>
            <a:off x="4800600" y="1776984"/>
            <a:ext cx="1996440" cy="1508760"/>
          </a:xfrm>
          <a:prstGeom prst="rect">
            <a:avLst/>
          </a:prstGeom>
          <a:noFill/>
          <a:ln/>
        </p:spPr>
        <p:txBody>
          <a:bodyPr wrap="square" lIns="91440" tIns="45720" rIns="91440" bIns="45720" rtlCol="0" anchor="t"/>
          <a:lstStyle/>
          <a:p>
            <a:pPr algn="just"/>
            <a:r>
              <a:rPr lang="en-US" sz="1100" dirty="0">
                <a:solidFill>
                  <a:srgbClr val="334155"/>
                </a:solidFill>
                <a:latin typeface="Calibri"/>
                <a:ea typeface="Calibri"/>
                <a:cs typeface="Calibri"/>
              </a:rPr>
              <a:t>Party-wise performance scorecard, vote share %, strike rate, and best-performing party per constituency.</a:t>
            </a:r>
            <a:br>
              <a:rPr lang="en-US" sz="1100" dirty="0">
                <a:solidFill>
                  <a:srgbClr val="334155"/>
                </a:solidFill>
                <a:latin typeface="Calibri"/>
                <a:ea typeface="Calibri"/>
                <a:cs typeface="Calibri"/>
              </a:rPr>
            </a:br>
            <a:r>
              <a:rPr lang="en-US" sz="1100" dirty="0">
                <a:solidFill>
                  <a:srgbClr val="334155"/>
                </a:solidFill>
                <a:ea typeface="Calibri"/>
                <a:cs typeface="Calibri"/>
              </a:rPr>
              <a:t>Constituency-level </a:t>
            </a:r>
            <a:r>
              <a:rPr lang="en-US" sz="1100" dirty="0" err="1">
                <a:solidFill>
                  <a:srgbClr val="334155"/>
                </a:solidFill>
                <a:ea typeface="Calibri"/>
                <a:cs typeface="Calibri"/>
              </a:rPr>
              <a:t>winner,runner</a:t>
            </a:r>
            <a:r>
              <a:rPr lang="en-US" sz="1100" dirty="0">
                <a:solidFill>
                  <a:srgbClr val="334155"/>
                </a:solidFill>
                <a:ea typeface="Calibri"/>
                <a:cs typeface="Calibri"/>
              </a:rPr>
              <a:t>-up, vote share, </a:t>
            </a:r>
            <a:r>
              <a:rPr lang="en-US" sz="1100" dirty="0" err="1">
                <a:solidFill>
                  <a:srgbClr val="334155"/>
                </a:solidFill>
                <a:ea typeface="Calibri"/>
                <a:cs typeface="Calibri"/>
              </a:rPr>
              <a:t>margindetails</a:t>
            </a:r>
            <a:r>
              <a:rPr lang="en-US" sz="1100" dirty="0">
                <a:solidFill>
                  <a:srgbClr val="334155"/>
                </a:solidFill>
                <a:ea typeface="Calibri"/>
                <a:cs typeface="Calibri"/>
              </a:rPr>
              <a:t>, and </a:t>
            </a:r>
            <a:r>
              <a:rPr lang="en-US" sz="1100" dirty="0" err="1">
                <a:solidFill>
                  <a:srgbClr val="334155"/>
                </a:solidFill>
                <a:ea typeface="Calibri"/>
                <a:cs typeface="Calibri"/>
              </a:rPr>
              <a:t>participatingcandidates</a:t>
            </a:r>
            <a:endParaRPr lang="en-US" sz="1100" dirty="0" err="1"/>
          </a:p>
        </p:txBody>
      </p:sp>
      <p:sp>
        <p:nvSpPr>
          <p:cNvPr id="20" name="Text 18"/>
          <p:cNvSpPr/>
          <p:nvPr/>
        </p:nvSpPr>
        <p:spPr>
          <a:xfrm>
            <a:off x="365760" y="3474720"/>
            <a:ext cx="8229600" cy="320040"/>
          </a:xfrm>
          <a:prstGeom prst="rect">
            <a:avLst/>
          </a:prstGeom>
          <a:noFill/>
          <a:ln/>
        </p:spPr>
        <p:txBody>
          <a:bodyPr wrap="square" rtlCol="0" anchor="ctr"/>
          <a:lstStyle/>
          <a:p>
            <a:pPr marL="0" indent="0">
              <a:buNone/>
            </a:pPr>
            <a:r>
              <a:rPr lang="en-US" sz="1300" b="1" dirty="0">
                <a:solidFill>
                  <a:srgbClr val="1A3A5C"/>
                </a:solidFill>
                <a:latin typeface="Calibri" pitchFamily="34" charset="0"/>
                <a:ea typeface="Calibri" pitchFamily="34" charset="-122"/>
                <a:cs typeface="Calibri" pitchFamily="34" charset="-120"/>
              </a:rPr>
              <a:t>Project Workflow</a:t>
            </a:r>
            <a:endParaRPr lang="en-US" sz="1300" dirty="0"/>
          </a:p>
        </p:txBody>
      </p:sp>
      <p:sp>
        <p:nvSpPr>
          <p:cNvPr id="21" name="Shape 19"/>
          <p:cNvSpPr/>
          <p:nvPr/>
        </p:nvSpPr>
        <p:spPr>
          <a:xfrm>
            <a:off x="274320" y="3840480"/>
            <a:ext cx="1325880" cy="594360"/>
          </a:xfrm>
          <a:prstGeom prst="rect">
            <a:avLst/>
          </a:prstGeom>
          <a:solidFill>
            <a:srgbClr val="1A3A5C"/>
          </a:solidFill>
          <a:ln w="12700">
            <a:solidFill>
              <a:srgbClr val="1A3A5C"/>
            </a:solidFill>
            <a:prstDash val="solid"/>
          </a:ln>
        </p:spPr>
        <p:txBody>
          <a:bodyPr/>
          <a:lstStyle/>
          <a:p>
            <a:endParaRPr lang="en-IN"/>
          </a:p>
        </p:txBody>
      </p:sp>
      <p:sp>
        <p:nvSpPr>
          <p:cNvPr id="22" name="Text 20"/>
          <p:cNvSpPr/>
          <p:nvPr/>
        </p:nvSpPr>
        <p:spPr>
          <a:xfrm>
            <a:off x="274320" y="3840480"/>
            <a:ext cx="1325880" cy="594360"/>
          </a:xfrm>
          <a:prstGeom prst="rect">
            <a:avLst/>
          </a:prstGeom>
          <a:noFill/>
          <a:ln/>
        </p:spPr>
        <p:txBody>
          <a:bodyPr wrap="square"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Raw CSV Data</a:t>
            </a:r>
            <a:endParaRPr lang="en-US" sz="850" dirty="0"/>
          </a:p>
        </p:txBody>
      </p:sp>
      <p:sp>
        <p:nvSpPr>
          <p:cNvPr id="23" name="Text 21"/>
          <p:cNvSpPr/>
          <p:nvPr/>
        </p:nvSpPr>
        <p:spPr>
          <a:xfrm>
            <a:off x="1600200" y="3931920"/>
            <a:ext cx="182880" cy="411480"/>
          </a:xfrm>
          <a:prstGeom prst="rect">
            <a:avLst/>
          </a:prstGeom>
          <a:noFill/>
          <a:ln/>
        </p:spPr>
        <p:txBody>
          <a:bodyPr wrap="square" rtlCol="0" anchor="ctr"/>
          <a:lstStyle/>
          <a:p>
            <a:pPr marL="0" indent="0" algn="ctr">
              <a:buNone/>
            </a:pPr>
            <a:r>
              <a:rPr lang="en-US" sz="1400" dirty="0">
                <a:solidFill>
                  <a:srgbClr val="64748B"/>
                </a:solidFill>
                <a:latin typeface="Calibri" pitchFamily="34" charset="0"/>
                <a:ea typeface="Calibri" pitchFamily="34" charset="-122"/>
                <a:cs typeface="Calibri" pitchFamily="34" charset="-120"/>
              </a:rPr>
              <a:t>→</a:t>
            </a:r>
            <a:endParaRPr lang="en-US" sz="1400" dirty="0"/>
          </a:p>
        </p:txBody>
      </p:sp>
      <p:sp>
        <p:nvSpPr>
          <p:cNvPr id="24" name="Shape 22"/>
          <p:cNvSpPr/>
          <p:nvPr/>
        </p:nvSpPr>
        <p:spPr>
          <a:xfrm>
            <a:off x="1737360" y="3840480"/>
            <a:ext cx="1325880" cy="594360"/>
          </a:xfrm>
          <a:prstGeom prst="rect">
            <a:avLst/>
          </a:prstGeom>
          <a:solidFill>
            <a:srgbClr val="E85D1A"/>
          </a:solidFill>
          <a:ln w="12700">
            <a:solidFill>
              <a:srgbClr val="1A3A5C"/>
            </a:solidFill>
            <a:prstDash val="solid"/>
          </a:ln>
        </p:spPr>
        <p:txBody>
          <a:bodyPr/>
          <a:lstStyle/>
          <a:p>
            <a:endParaRPr lang="en-IN"/>
          </a:p>
        </p:txBody>
      </p:sp>
      <p:sp>
        <p:nvSpPr>
          <p:cNvPr id="25" name="Text 23"/>
          <p:cNvSpPr/>
          <p:nvPr/>
        </p:nvSpPr>
        <p:spPr>
          <a:xfrm>
            <a:off x="1737360" y="3840480"/>
            <a:ext cx="1325880" cy="594360"/>
          </a:xfrm>
          <a:prstGeom prst="rect">
            <a:avLst/>
          </a:prstGeom>
          <a:noFill/>
          <a:ln/>
        </p:spPr>
        <p:txBody>
          <a:bodyPr wrap="square"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Power Query ETL</a:t>
            </a:r>
            <a:endParaRPr lang="en-US" sz="850" dirty="0"/>
          </a:p>
        </p:txBody>
      </p:sp>
      <p:sp>
        <p:nvSpPr>
          <p:cNvPr id="26" name="Text 24"/>
          <p:cNvSpPr/>
          <p:nvPr/>
        </p:nvSpPr>
        <p:spPr>
          <a:xfrm>
            <a:off x="3063240" y="3931920"/>
            <a:ext cx="182880" cy="411480"/>
          </a:xfrm>
          <a:prstGeom prst="rect">
            <a:avLst/>
          </a:prstGeom>
          <a:noFill/>
          <a:ln/>
        </p:spPr>
        <p:txBody>
          <a:bodyPr wrap="square" rtlCol="0" anchor="ctr"/>
          <a:lstStyle/>
          <a:p>
            <a:pPr marL="0" indent="0" algn="ctr">
              <a:buNone/>
            </a:pPr>
            <a:r>
              <a:rPr lang="en-US" sz="1400" dirty="0">
                <a:solidFill>
                  <a:srgbClr val="64748B"/>
                </a:solidFill>
                <a:latin typeface="Calibri" pitchFamily="34" charset="0"/>
                <a:ea typeface="Calibri" pitchFamily="34" charset="-122"/>
                <a:cs typeface="Calibri" pitchFamily="34" charset="-120"/>
              </a:rPr>
              <a:t>→</a:t>
            </a:r>
            <a:endParaRPr lang="en-US" sz="1400" dirty="0"/>
          </a:p>
        </p:txBody>
      </p:sp>
      <p:sp>
        <p:nvSpPr>
          <p:cNvPr id="27" name="Shape 25"/>
          <p:cNvSpPr/>
          <p:nvPr/>
        </p:nvSpPr>
        <p:spPr>
          <a:xfrm>
            <a:off x="3200400" y="3840480"/>
            <a:ext cx="1325880" cy="594360"/>
          </a:xfrm>
          <a:prstGeom prst="rect">
            <a:avLst/>
          </a:prstGeom>
          <a:solidFill>
            <a:srgbClr val="1A3A5C"/>
          </a:solidFill>
          <a:ln w="12700">
            <a:solidFill>
              <a:srgbClr val="1A3A5C"/>
            </a:solidFill>
            <a:prstDash val="solid"/>
          </a:ln>
        </p:spPr>
        <p:txBody>
          <a:bodyPr/>
          <a:lstStyle/>
          <a:p>
            <a:endParaRPr lang="en-IN"/>
          </a:p>
        </p:txBody>
      </p:sp>
      <p:sp>
        <p:nvSpPr>
          <p:cNvPr id="28" name="Text 26"/>
          <p:cNvSpPr/>
          <p:nvPr/>
        </p:nvSpPr>
        <p:spPr>
          <a:xfrm>
            <a:off x="3200400" y="3840480"/>
            <a:ext cx="1325880" cy="594360"/>
          </a:xfrm>
          <a:prstGeom prst="rect">
            <a:avLst/>
          </a:prstGeom>
          <a:noFill/>
          <a:ln/>
        </p:spPr>
        <p:txBody>
          <a:bodyPr wrap="square"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Data Modeling</a:t>
            </a:r>
            <a:endParaRPr lang="en-US" sz="850" dirty="0"/>
          </a:p>
        </p:txBody>
      </p:sp>
      <p:sp>
        <p:nvSpPr>
          <p:cNvPr id="29" name="Text 27"/>
          <p:cNvSpPr/>
          <p:nvPr/>
        </p:nvSpPr>
        <p:spPr>
          <a:xfrm>
            <a:off x="4526280" y="3931920"/>
            <a:ext cx="182880" cy="411480"/>
          </a:xfrm>
          <a:prstGeom prst="rect">
            <a:avLst/>
          </a:prstGeom>
          <a:noFill/>
          <a:ln/>
        </p:spPr>
        <p:txBody>
          <a:bodyPr wrap="square" rtlCol="0" anchor="ctr"/>
          <a:lstStyle/>
          <a:p>
            <a:pPr marL="0" indent="0" algn="ctr">
              <a:buNone/>
            </a:pPr>
            <a:r>
              <a:rPr lang="en-US" sz="1400" dirty="0">
                <a:solidFill>
                  <a:srgbClr val="64748B"/>
                </a:solidFill>
                <a:latin typeface="Calibri" pitchFamily="34" charset="0"/>
                <a:ea typeface="Calibri" pitchFamily="34" charset="-122"/>
                <a:cs typeface="Calibri" pitchFamily="34" charset="-120"/>
              </a:rPr>
              <a:t>→</a:t>
            </a:r>
            <a:endParaRPr lang="en-US" sz="1400" dirty="0"/>
          </a:p>
        </p:txBody>
      </p:sp>
      <p:sp>
        <p:nvSpPr>
          <p:cNvPr id="30" name="Shape 28"/>
          <p:cNvSpPr/>
          <p:nvPr/>
        </p:nvSpPr>
        <p:spPr>
          <a:xfrm>
            <a:off x="4663440" y="3840480"/>
            <a:ext cx="1325880" cy="594360"/>
          </a:xfrm>
          <a:prstGeom prst="rect">
            <a:avLst/>
          </a:prstGeom>
          <a:solidFill>
            <a:srgbClr val="E85D1A"/>
          </a:solidFill>
          <a:ln w="12700">
            <a:solidFill>
              <a:srgbClr val="1A3A5C"/>
            </a:solidFill>
            <a:prstDash val="solid"/>
          </a:ln>
        </p:spPr>
        <p:txBody>
          <a:bodyPr/>
          <a:lstStyle/>
          <a:p>
            <a:endParaRPr lang="en-IN"/>
          </a:p>
        </p:txBody>
      </p:sp>
      <p:sp>
        <p:nvSpPr>
          <p:cNvPr id="31" name="Text 29"/>
          <p:cNvSpPr/>
          <p:nvPr/>
        </p:nvSpPr>
        <p:spPr>
          <a:xfrm>
            <a:off x="4663440" y="3840480"/>
            <a:ext cx="1325880" cy="594360"/>
          </a:xfrm>
          <a:prstGeom prst="rect">
            <a:avLst/>
          </a:prstGeom>
          <a:noFill/>
          <a:ln/>
        </p:spPr>
        <p:txBody>
          <a:bodyPr wrap="square"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DAX Measures</a:t>
            </a:r>
            <a:endParaRPr lang="en-US" sz="850" dirty="0"/>
          </a:p>
        </p:txBody>
      </p:sp>
      <p:sp>
        <p:nvSpPr>
          <p:cNvPr id="32" name="Text 30"/>
          <p:cNvSpPr/>
          <p:nvPr/>
        </p:nvSpPr>
        <p:spPr>
          <a:xfrm>
            <a:off x="5989320" y="3931920"/>
            <a:ext cx="182880" cy="411480"/>
          </a:xfrm>
          <a:prstGeom prst="rect">
            <a:avLst/>
          </a:prstGeom>
          <a:noFill/>
          <a:ln/>
        </p:spPr>
        <p:txBody>
          <a:bodyPr wrap="square" rtlCol="0" anchor="ctr"/>
          <a:lstStyle/>
          <a:p>
            <a:pPr marL="0" indent="0" algn="ctr">
              <a:buNone/>
            </a:pPr>
            <a:r>
              <a:rPr lang="en-US" sz="1400" dirty="0">
                <a:solidFill>
                  <a:srgbClr val="64748B"/>
                </a:solidFill>
                <a:latin typeface="Calibri" pitchFamily="34" charset="0"/>
                <a:ea typeface="Calibri" pitchFamily="34" charset="-122"/>
                <a:cs typeface="Calibri" pitchFamily="34" charset="-120"/>
              </a:rPr>
              <a:t>→</a:t>
            </a:r>
            <a:endParaRPr lang="en-US" sz="1400" dirty="0"/>
          </a:p>
        </p:txBody>
      </p:sp>
      <p:sp>
        <p:nvSpPr>
          <p:cNvPr id="33" name="Shape 31"/>
          <p:cNvSpPr/>
          <p:nvPr/>
        </p:nvSpPr>
        <p:spPr>
          <a:xfrm>
            <a:off x="6126480" y="3840480"/>
            <a:ext cx="1325880" cy="594360"/>
          </a:xfrm>
          <a:prstGeom prst="rect">
            <a:avLst/>
          </a:prstGeom>
          <a:solidFill>
            <a:srgbClr val="1A3A5C"/>
          </a:solidFill>
          <a:ln w="12700">
            <a:solidFill>
              <a:srgbClr val="1A3A5C"/>
            </a:solidFill>
            <a:prstDash val="solid"/>
          </a:ln>
        </p:spPr>
        <p:txBody>
          <a:bodyPr/>
          <a:lstStyle/>
          <a:p>
            <a:endParaRPr lang="en-IN"/>
          </a:p>
        </p:txBody>
      </p:sp>
      <p:sp>
        <p:nvSpPr>
          <p:cNvPr id="34" name="Text 32"/>
          <p:cNvSpPr/>
          <p:nvPr/>
        </p:nvSpPr>
        <p:spPr>
          <a:xfrm>
            <a:off x="6126480" y="3840480"/>
            <a:ext cx="1325880" cy="594360"/>
          </a:xfrm>
          <a:prstGeom prst="rect">
            <a:avLst/>
          </a:prstGeom>
          <a:noFill/>
          <a:ln/>
        </p:spPr>
        <p:txBody>
          <a:bodyPr wrap="square"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Dashboard Design</a:t>
            </a:r>
            <a:endParaRPr lang="en-US" sz="850" dirty="0"/>
          </a:p>
        </p:txBody>
      </p:sp>
      <p:sp>
        <p:nvSpPr>
          <p:cNvPr id="35" name="Text 33"/>
          <p:cNvSpPr/>
          <p:nvPr/>
        </p:nvSpPr>
        <p:spPr>
          <a:xfrm>
            <a:off x="7452360" y="3931920"/>
            <a:ext cx="182880" cy="411480"/>
          </a:xfrm>
          <a:prstGeom prst="rect">
            <a:avLst/>
          </a:prstGeom>
          <a:noFill/>
          <a:ln/>
        </p:spPr>
        <p:txBody>
          <a:bodyPr wrap="square" rtlCol="0" anchor="ctr"/>
          <a:lstStyle/>
          <a:p>
            <a:pPr marL="0" indent="0" algn="ctr">
              <a:buNone/>
            </a:pPr>
            <a:r>
              <a:rPr lang="en-US" sz="1400" dirty="0">
                <a:solidFill>
                  <a:srgbClr val="64748B"/>
                </a:solidFill>
                <a:latin typeface="Calibri" pitchFamily="34" charset="0"/>
                <a:ea typeface="Calibri" pitchFamily="34" charset="-122"/>
                <a:cs typeface="Calibri" pitchFamily="34" charset="-120"/>
              </a:rPr>
              <a:t>→</a:t>
            </a:r>
            <a:endParaRPr lang="en-US" sz="1400" dirty="0"/>
          </a:p>
        </p:txBody>
      </p:sp>
      <p:sp>
        <p:nvSpPr>
          <p:cNvPr id="36" name="Shape 34"/>
          <p:cNvSpPr/>
          <p:nvPr/>
        </p:nvSpPr>
        <p:spPr>
          <a:xfrm>
            <a:off x="7589520" y="3840480"/>
            <a:ext cx="1325880" cy="594360"/>
          </a:xfrm>
          <a:prstGeom prst="rect">
            <a:avLst/>
          </a:prstGeom>
          <a:solidFill>
            <a:srgbClr val="E85D1A"/>
          </a:solidFill>
          <a:ln w="12700">
            <a:solidFill>
              <a:srgbClr val="1A3A5C"/>
            </a:solidFill>
            <a:prstDash val="solid"/>
          </a:ln>
        </p:spPr>
        <p:txBody>
          <a:bodyPr/>
          <a:lstStyle/>
          <a:p>
            <a:endParaRPr lang="en-IN"/>
          </a:p>
        </p:txBody>
      </p:sp>
      <p:sp>
        <p:nvSpPr>
          <p:cNvPr id="37" name="Text 35"/>
          <p:cNvSpPr/>
          <p:nvPr/>
        </p:nvSpPr>
        <p:spPr>
          <a:xfrm>
            <a:off x="7589520" y="3840480"/>
            <a:ext cx="1325880" cy="594360"/>
          </a:xfrm>
          <a:prstGeom prst="rect">
            <a:avLst/>
          </a:prstGeom>
          <a:noFill/>
          <a:ln/>
        </p:spPr>
        <p:txBody>
          <a:bodyPr wrap="square"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Insights &amp; Reporting</a:t>
            </a:r>
            <a:endParaRPr lang="en-US" sz="850" dirty="0"/>
          </a:p>
        </p:txBody>
      </p:sp>
      <p:sp>
        <p:nvSpPr>
          <p:cNvPr id="38" name="Text 36"/>
          <p:cNvSpPr/>
          <p:nvPr/>
        </p:nvSpPr>
        <p:spPr>
          <a:xfrm>
            <a:off x="0" y="4846320"/>
            <a:ext cx="9144000" cy="274320"/>
          </a:xfrm>
          <a:prstGeom prst="rect">
            <a:avLst/>
          </a:prstGeom>
          <a:noFill/>
          <a:ln/>
        </p:spPr>
        <p:txBody>
          <a:bodyPr wrap="square" rtlCol="0" anchor="ctr"/>
          <a:lstStyle/>
          <a:p>
            <a:pPr marL="0" indent="0" algn="ctr">
              <a:buNone/>
            </a:pPr>
            <a:r>
              <a:rPr lang="en-US" sz="900" dirty="0">
                <a:solidFill>
                  <a:srgbClr val="999999"/>
                </a:solidFill>
                <a:latin typeface="Calibri" pitchFamily="34" charset="0"/>
                <a:ea typeface="Calibri" pitchFamily="34" charset="-122"/>
                <a:cs typeface="Calibri" pitchFamily="34" charset="-120"/>
              </a:rPr>
              <a:t>Infosys ElectViz | Team C | India General Election 2024</a:t>
            </a:r>
            <a:endParaRPr lang="en-US" sz="900" dirty="0"/>
          </a:p>
        </p:txBody>
      </p:sp>
      <p:sp>
        <p:nvSpPr>
          <p:cNvPr id="39" name="Rectangle 38"/>
          <p:cNvSpPr/>
          <p:nvPr/>
        </p:nvSpPr>
        <p:spPr>
          <a:xfrm>
            <a:off x="6976757" y="1777904"/>
            <a:ext cx="1996440" cy="1629918"/>
          </a:xfrm>
          <a:prstGeom prst="rect">
            <a:avLst/>
          </a:prstGeom>
          <a:solidFill>
            <a:schemeClr val="bg1">
              <a:lumMod val="95000"/>
            </a:schemeClr>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r>
              <a:rPr lang="en-US" sz="1100">
                <a:solidFill>
                  <a:srgbClr val="334155"/>
                </a:solidFill>
                <a:ea typeface="Calibri"/>
                <a:cs typeface="Calibri"/>
              </a:rPr>
              <a:t>Party-wise performance scorecard, vote share %, strike rate, and best-performing party per constituency.</a:t>
            </a:r>
            <a:endParaRPr lang="en-US">
              <a:ea typeface="Calibri" panose="020F0502020204030204"/>
              <a:cs typeface="Calibri" panose="020F0502020204030204"/>
            </a:endParaRPr>
          </a:p>
        </p:txBody>
      </p:sp>
      <p:sp>
        <p:nvSpPr>
          <p:cNvPr id="40" name="Rectangle 39"/>
          <p:cNvSpPr/>
          <p:nvPr/>
        </p:nvSpPr>
        <p:spPr>
          <a:xfrm>
            <a:off x="6972300" y="1156371"/>
            <a:ext cx="2004060" cy="502920"/>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IN">
              <a:ln w="0"/>
              <a:solidFill>
                <a:schemeClr val="tx1"/>
              </a:solidFill>
              <a:effectLst>
                <a:outerShdw blurRad="38100" dist="19050" dir="2700000" algn="tl" rotWithShape="0">
                  <a:schemeClr val="dk1">
                    <a:alpha val="40000"/>
                  </a:schemeClr>
                </a:outerShdw>
              </a:effectLst>
            </a:endParaRPr>
          </a:p>
        </p:txBody>
      </p:sp>
      <p:sp>
        <p:nvSpPr>
          <p:cNvPr id="42" name="TextBox 41"/>
          <p:cNvSpPr txBox="1"/>
          <p:nvPr/>
        </p:nvSpPr>
        <p:spPr>
          <a:xfrm>
            <a:off x="7101840" y="1263431"/>
            <a:ext cx="2133600" cy="276999"/>
          </a:xfrm>
          <a:prstGeom prst="rect">
            <a:avLst/>
          </a:prstGeom>
          <a:noFill/>
        </p:spPr>
        <p:txBody>
          <a:bodyPr wrap="square" lIns="91440" tIns="45720" rIns="91440" bIns="45720" rtlCol="0" anchor="t">
            <a:spAutoFit/>
          </a:bodyPr>
          <a:lstStyle/>
          <a:p>
            <a:r>
              <a:rPr lang="en-US" sz="1200" b="1">
                <a:solidFill>
                  <a:schemeClr val="bg1"/>
                </a:solidFill>
              </a:rPr>
              <a:t>           Party Strategy</a:t>
            </a:r>
            <a:endParaRPr lang="en-IN" sz="1400" b="1">
              <a:solidFill>
                <a:schemeClr val="bg1"/>
              </a:solidFill>
              <a:ea typeface="Calibri"/>
              <a:cs typeface="Calibri"/>
            </a:endParaRPr>
          </a:p>
        </p:txBody>
      </p:sp>
      <p:sp>
        <p:nvSpPr>
          <p:cNvPr id="43" name="TextBox 42">
            <a:extLst>
              <a:ext uri="{FF2B5EF4-FFF2-40B4-BE49-F238E27FC236}">
                <a16:creationId xmlns:a16="http://schemas.microsoft.com/office/drawing/2014/main" id="{57B5A180-35D6-0590-C8DA-72AEAB644692}"/>
              </a:ext>
            </a:extLst>
          </p:cNvPr>
          <p:cNvSpPr txBox="1"/>
          <p:nvPr/>
        </p:nvSpPr>
        <p:spPr>
          <a:xfrm>
            <a:off x="-485236" y="1268360"/>
            <a:ext cx="3353519" cy="276999"/>
          </a:xfrm>
          <a:prstGeom prst="rect">
            <a:avLst/>
          </a:prstGeom>
          <a:noFill/>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r>
              <a:rPr lang="en-US" sz="1200" b="1">
                <a:solidFill>
                  <a:srgbClr val="FFFFFF"/>
                </a:solidFill>
                <a:ea typeface="Calibri" panose="020F0502020204030204"/>
                <a:cs typeface="Calibri" panose="020F0502020204030204"/>
              </a:rPr>
              <a:t>        Overview Analysis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A3A5C"/>
          </a:solidFill>
          <a:ln w="12700">
            <a:solidFill>
              <a:srgbClr val="1A3A5C"/>
            </a:solidFill>
            <a:prstDash val="solid"/>
          </a:ln>
        </p:spPr>
        <p:txBody>
          <a:bodyPr/>
          <a:lstStyle/>
          <a:p>
            <a:endParaRPr lang="en-IN"/>
          </a:p>
        </p:txBody>
      </p:sp>
      <p:sp>
        <p:nvSpPr>
          <p:cNvPr id="3" name="Shape 1"/>
          <p:cNvSpPr/>
          <p:nvPr/>
        </p:nvSpPr>
        <p:spPr>
          <a:xfrm>
            <a:off x="0" y="1005840"/>
            <a:ext cx="9144000" cy="64008"/>
          </a:xfrm>
          <a:prstGeom prst="rect">
            <a:avLst/>
          </a:prstGeom>
          <a:solidFill>
            <a:srgbClr val="E85D1A"/>
          </a:solidFill>
          <a:ln w="12700">
            <a:solidFill>
              <a:srgbClr val="E85D1A"/>
            </a:solidFill>
            <a:prstDash val="solid"/>
          </a:ln>
        </p:spPr>
        <p:txBody>
          <a:bodyPr/>
          <a:lstStyle/>
          <a:p>
            <a:endParaRPr lang="en-IN"/>
          </a:p>
        </p:txBody>
      </p:sp>
      <p:sp>
        <p:nvSpPr>
          <p:cNvPr id="4" name="Text 2"/>
          <p:cNvSpPr/>
          <p:nvPr/>
        </p:nvSpPr>
        <p:spPr>
          <a:xfrm>
            <a:off x="365760" y="91440"/>
            <a:ext cx="7315200" cy="54864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Dataset Overview</a:t>
            </a:r>
            <a:endParaRPr lang="en-US" sz="2200" dirty="0"/>
          </a:p>
        </p:txBody>
      </p:sp>
      <p:sp>
        <p:nvSpPr>
          <p:cNvPr id="5" name="Text 3"/>
          <p:cNvSpPr/>
          <p:nvPr/>
        </p:nvSpPr>
        <p:spPr>
          <a:xfrm>
            <a:off x="365760" y="594360"/>
            <a:ext cx="7315200" cy="365760"/>
          </a:xfrm>
          <a:prstGeom prst="rect">
            <a:avLst/>
          </a:prstGeom>
          <a:noFill/>
          <a:ln/>
        </p:spPr>
        <p:txBody>
          <a:bodyPr wrap="square" rtlCol="0" anchor="ctr"/>
          <a:lstStyle/>
          <a:p>
            <a:pPr marL="0" indent="0">
              <a:buNone/>
            </a:pPr>
            <a:r>
              <a:rPr lang="en-US" sz="1400" i="1" dirty="0">
                <a:solidFill>
                  <a:srgbClr val="B0C4DE"/>
                </a:solidFill>
                <a:latin typeface="Calibri" pitchFamily="34" charset="0"/>
                <a:ea typeface="Calibri" pitchFamily="34" charset="-122"/>
                <a:cs typeface="Calibri" pitchFamily="34" charset="-120"/>
              </a:rPr>
              <a:t>Source Data Used in the Project</a:t>
            </a:r>
            <a:endParaRPr lang="en-US" sz="1400" dirty="0"/>
          </a:p>
        </p:txBody>
      </p:sp>
      <p:sp>
        <p:nvSpPr>
          <p:cNvPr id="8" name="Shape 6"/>
          <p:cNvSpPr/>
          <p:nvPr/>
        </p:nvSpPr>
        <p:spPr>
          <a:xfrm>
            <a:off x="274320" y="1188720"/>
            <a:ext cx="182880" cy="777240"/>
          </a:xfrm>
          <a:prstGeom prst="rect">
            <a:avLst/>
          </a:prstGeom>
          <a:solidFill>
            <a:srgbClr val="1565C0"/>
          </a:solidFill>
          <a:ln w="12700">
            <a:solidFill>
              <a:srgbClr val="1565C0"/>
            </a:solidFill>
            <a:prstDash val="solid"/>
          </a:ln>
        </p:spPr>
        <p:txBody>
          <a:bodyPr/>
          <a:lstStyle/>
          <a:p>
            <a:endParaRPr lang="en-IN"/>
          </a:p>
        </p:txBody>
      </p:sp>
      <p:sp>
        <p:nvSpPr>
          <p:cNvPr id="9" name="Shape 7"/>
          <p:cNvSpPr/>
          <p:nvPr/>
        </p:nvSpPr>
        <p:spPr>
          <a:xfrm>
            <a:off x="457200" y="1188720"/>
            <a:ext cx="8321040" cy="777240"/>
          </a:xfrm>
          <a:prstGeom prst="rect">
            <a:avLst/>
          </a:prstGeom>
          <a:solidFill>
            <a:srgbClr val="F0F4F8"/>
          </a:solidFill>
          <a:ln w="6350">
            <a:solidFill>
              <a:srgbClr val="CBD5E1"/>
            </a:solidFill>
            <a:prstDash val="solid"/>
          </a:ln>
        </p:spPr>
        <p:txBody>
          <a:bodyPr/>
          <a:lstStyle/>
          <a:p>
            <a:endParaRPr lang="en-IN"/>
          </a:p>
        </p:txBody>
      </p:sp>
      <p:sp>
        <p:nvSpPr>
          <p:cNvPr id="10" name="Text 8"/>
          <p:cNvSpPr/>
          <p:nvPr/>
        </p:nvSpPr>
        <p:spPr>
          <a:xfrm>
            <a:off x="640080" y="1252728"/>
            <a:ext cx="8229600" cy="274320"/>
          </a:xfrm>
          <a:prstGeom prst="rect">
            <a:avLst/>
          </a:prstGeom>
          <a:noFill/>
          <a:ln/>
        </p:spPr>
        <p:txBody>
          <a:bodyPr wrap="square" rtlCol="0" anchor="ctr"/>
          <a:lstStyle/>
          <a:p>
            <a:pPr marL="0" indent="0">
              <a:buNone/>
            </a:pPr>
            <a:r>
              <a:rPr lang="en-US" sz="1200" b="1" dirty="0">
                <a:solidFill>
                  <a:srgbClr val="1A3A5C"/>
                </a:solidFill>
                <a:latin typeface="Calibri" pitchFamily="34" charset="0"/>
                <a:ea typeface="Calibri" pitchFamily="34" charset="-122"/>
                <a:cs typeface="Calibri" pitchFamily="34" charset="-120"/>
              </a:rPr>
              <a:t>1. CandidateResults.csv</a:t>
            </a:r>
            <a:endParaRPr lang="en-US" sz="1200" dirty="0"/>
          </a:p>
        </p:txBody>
      </p:sp>
      <p:sp>
        <p:nvSpPr>
          <p:cNvPr id="11" name="Text 9"/>
          <p:cNvSpPr/>
          <p:nvPr/>
        </p:nvSpPr>
        <p:spPr>
          <a:xfrm>
            <a:off x="640080" y="1536192"/>
            <a:ext cx="8046720" cy="384048"/>
          </a:xfrm>
          <a:prstGeom prst="rect">
            <a:avLst/>
          </a:prstGeom>
          <a:noFill/>
          <a:ln/>
        </p:spPr>
        <p:txBody>
          <a:bodyPr wrap="square" rtlCol="0" anchor="ctr"/>
          <a:lstStyle/>
          <a:p>
            <a:pPr marL="0" indent="0">
              <a:buNone/>
            </a:pPr>
            <a:r>
              <a:rPr lang="en-US" sz="950" dirty="0">
                <a:solidFill>
                  <a:srgbClr val="64748B"/>
                </a:solidFill>
                <a:latin typeface="Calibri" pitchFamily="34" charset="0"/>
                <a:ea typeface="Calibri" pitchFamily="34" charset="-122"/>
                <a:cs typeface="Calibri" pitchFamily="34" charset="-120"/>
              </a:rPr>
              <a:t>Contains individual candidate-level results for all 543 constituencies.  |  Key Columns: Constituency ID, Candidate Name, Party, Total Votes, EVM Votes, Postal Votes, Vote Share %</a:t>
            </a:r>
            <a:endParaRPr lang="en-US" sz="950" dirty="0"/>
          </a:p>
        </p:txBody>
      </p:sp>
      <p:sp>
        <p:nvSpPr>
          <p:cNvPr id="12" name="Shape 10"/>
          <p:cNvSpPr/>
          <p:nvPr/>
        </p:nvSpPr>
        <p:spPr>
          <a:xfrm>
            <a:off x="274320" y="2103120"/>
            <a:ext cx="182880" cy="777240"/>
          </a:xfrm>
          <a:prstGeom prst="rect">
            <a:avLst/>
          </a:prstGeom>
          <a:solidFill>
            <a:srgbClr val="2E7D32"/>
          </a:solidFill>
          <a:ln w="12700">
            <a:solidFill>
              <a:srgbClr val="2E7D32"/>
            </a:solidFill>
            <a:prstDash val="solid"/>
          </a:ln>
        </p:spPr>
        <p:txBody>
          <a:bodyPr/>
          <a:lstStyle/>
          <a:p>
            <a:endParaRPr lang="en-IN"/>
          </a:p>
        </p:txBody>
      </p:sp>
      <p:sp>
        <p:nvSpPr>
          <p:cNvPr id="13" name="Shape 11"/>
          <p:cNvSpPr/>
          <p:nvPr/>
        </p:nvSpPr>
        <p:spPr>
          <a:xfrm>
            <a:off x="457200" y="2103120"/>
            <a:ext cx="8321040" cy="777240"/>
          </a:xfrm>
          <a:prstGeom prst="rect">
            <a:avLst/>
          </a:prstGeom>
          <a:solidFill>
            <a:srgbClr val="F0F4F8"/>
          </a:solidFill>
          <a:ln w="6350">
            <a:solidFill>
              <a:srgbClr val="CBD5E1"/>
            </a:solidFill>
            <a:prstDash val="solid"/>
          </a:ln>
        </p:spPr>
        <p:txBody>
          <a:bodyPr/>
          <a:lstStyle/>
          <a:p>
            <a:endParaRPr lang="en-IN"/>
          </a:p>
        </p:txBody>
      </p:sp>
      <p:sp>
        <p:nvSpPr>
          <p:cNvPr id="14" name="Text 12"/>
          <p:cNvSpPr/>
          <p:nvPr/>
        </p:nvSpPr>
        <p:spPr>
          <a:xfrm>
            <a:off x="640080" y="2167128"/>
            <a:ext cx="8229600" cy="274320"/>
          </a:xfrm>
          <a:prstGeom prst="rect">
            <a:avLst/>
          </a:prstGeom>
          <a:noFill/>
          <a:ln/>
        </p:spPr>
        <p:txBody>
          <a:bodyPr wrap="square" rtlCol="0" anchor="ctr"/>
          <a:lstStyle/>
          <a:p>
            <a:pPr marL="0" indent="0">
              <a:buNone/>
            </a:pPr>
            <a:r>
              <a:rPr lang="en-US" sz="1200" b="1" dirty="0">
                <a:solidFill>
                  <a:srgbClr val="1A3A5C"/>
                </a:solidFill>
                <a:latin typeface="Calibri" pitchFamily="34" charset="0"/>
                <a:ea typeface="Calibri" pitchFamily="34" charset="-122"/>
                <a:cs typeface="Calibri" pitchFamily="34" charset="-120"/>
              </a:rPr>
              <a:t>2. ConstituencyWiseResults.csv</a:t>
            </a:r>
            <a:endParaRPr lang="en-US" sz="1200" dirty="0"/>
          </a:p>
        </p:txBody>
      </p:sp>
      <p:sp>
        <p:nvSpPr>
          <p:cNvPr id="15" name="Text 13"/>
          <p:cNvSpPr/>
          <p:nvPr/>
        </p:nvSpPr>
        <p:spPr>
          <a:xfrm>
            <a:off x="640080" y="2450592"/>
            <a:ext cx="8046720" cy="384048"/>
          </a:xfrm>
          <a:prstGeom prst="rect">
            <a:avLst/>
          </a:prstGeom>
          <a:noFill/>
          <a:ln/>
        </p:spPr>
        <p:txBody>
          <a:bodyPr wrap="square" rtlCol="0" anchor="ctr"/>
          <a:lstStyle/>
          <a:p>
            <a:pPr marL="0" indent="0">
              <a:buNone/>
            </a:pPr>
            <a:r>
              <a:rPr lang="en-US" sz="950" dirty="0">
                <a:solidFill>
                  <a:srgbClr val="64748B"/>
                </a:solidFill>
                <a:latin typeface="Calibri" pitchFamily="34" charset="0"/>
                <a:ea typeface="Calibri" pitchFamily="34" charset="-122"/>
                <a:cs typeface="Calibri" pitchFamily="34" charset="-120"/>
              </a:rPr>
              <a:t>Captures the final outcome of each constituency — winner, runner-up, and second runner-up.  |  Key Columns: Constituency ID, Constituency Name, State, Winning Candidate, Winning Party, Winning Margin</a:t>
            </a:r>
            <a:endParaRPr lang="en-US" sz="950" dirty="0"/>
          </a:p>
        </p:txBody>
      </p:sp>
      <p:sp>
        <p:nvSpPr>
          <p:cNvPr id="16" name="Shape 14"/>
          <p:cNvSpPr/>
          <p:nvPr/>
        </p:nvSpPr>
        <p:spPr>
          <a:xfrm>
            <a:off x="274320" y="3017520"/>
            <a:ext cx="182880" cy="777240"/>
          </a:xfrm>
          <a:prstGeom prst="rect">
            <a:avLst/>
          </a:prstGeom>
          <a:solidFill>
            <a:srgbClr val="E85D1A"/>
          </a:solidFill>
          <a:ln w="12700">
            <a:solidFill>
              <a:srgbClr val="E85D1A"/>
            </a:solidFill>
            <a:prstDash val="solid"/>
          </a:ln>
        </p:spPr>
        <p:txBody>
          <a:bodyPr/>
          <a:lstStyle/>
          <a:p>
            <a:endParaRPr lang="en-IN"/>
          </a:p>
        </p:txBody>
      </p:sp>
      <p:sp>
        <p:nvSpPr>
          <p:cNvPr id="17" name="Shape 15"/>
          <p:cNvSpPr/>
          <p:nvPr/>
        </p:nvSpPr>
        <p:spPr>
          <a:xfrm>
            <a:off x="457200" y="3017520"/>
            <a:ext cx="8321040" cy="777240"/>
          </a:xfrm>
          <a:prstGeom prst="rect">
            <a:avLst/>
          </a:prstGeom>
          <a:solidFill>
            <a:srgbClr val="F0F4F8"/>
          </a:solidFill>
          <a:ln w="6350">
            <a:solidFill>
              <a:srgbClr val="CBD5E1"/>
            </a:solidFill>
            <a:prstDash val="solid"/>
          </a:ln>
        </p:spPr>
        <p:txBody>
          <a:bodyPr/>
          <a:lstStyle/>
          <a:p>
            <a:endParaRPr lang="en-IN"/>
          </a:p>
        </p:txBody>
      </p:sp>
      <p:sp>
        <p:nvSpPr>
          <p:cNvPr id="18" name="Text 16"/>
          <p:cNvSpPr/>
          <p:nvPr/>
        </p:nvSpPr>
        <p:spPr>
          <a:xfrm>
            <a:off x="640080" y="3081528"/>
            <a:ext cx="8229600" cy="274320"/>
          </a:xfrm>
          <a:prstGeom prst="rect">
            <a:avLst/>
          </a:prstGeom>
          <a:noFill/>
          <a:ln/>
        </p:spPr>
        <p:txBody>
          <a:bodyPr wrap="square" rtlCol="0" anchor="ctr"/>
          <a:lstStyle/>
          <a:p>
            <a:pPr marL="0" indent="0">
              <a:buNone/>
            </a:pPr>
            <a:r>
              <a:rPr lang="en-US" sz="1200" b="1" dirty="0">
                <a:solidFill>
                  <a:srgbClr val="1A3A5C"/>
                </a:solidFill>
                <a:latin typeface="Calibri" pitchFamily="34" charset="0"/>
                <a:ea typeface="Calibri" pitchFamily="34" charset="-122"/>
                <a:cs typeface="Calibri" pitchFamily="34" charset="-120"/>
              </a:rPr>
              <a:t>3. PartyWiseResults.csv</a:t>
            </a:r>
            <a:endParaRPr lang="en-US" sz="1200" dirty="0"/>
          </a:p>
        </p:txBody>
      </p:sp>
      <p:sp>
        <p:nvSpPr>
          <p:cNvPr id="19" name="Text 17"/>
          <p:cNvSpPr/>
          <p:nvPr/>
        </p:nvSpPr>
        <p:spPr>
          <a:xfrm>
            <a:off x="640080" y="3364992"/>
            <a:ext cx="8046720" cy="384048"/>
          </a:xfrm>
          <a:prstGeom prst="rect">
            <a:avLst/>
          </a:prstGeom>
          <a:noFill/>
          <a:ln/>
        </p:spPr>
        <p:txBody>
          <a:bodyPr wrap="square" rtlCol="0" anchor="ctr"/>
          <a:lstStyle/>
          <a:p>
            <a:pPr marL="0" indent="0">
              <a:buNone/>
            </a:pPr>
            <a:r>
              <a:rPr lang="en-US" sz="950" dirty="0">
                <a:solidFill>
                  <a:srgbClr val="64748B"/>
                </a:solidFill>
                <a:latin typeface="Calibri" pitchFamily="34" charset="0"/>
                <a:ea typeface="Calibri" pitchFamily="34" charset="-122"/>
                <a:cs typeface="Calibri" pitchFamily="34" charset="-120"/>
              </a:rPr>
              <a:t>Provides party-level performance aggregated across constituencies.  |  Key Columns: Party Name, Seats Won, Alliance (derived using DAX logic)</a:t>
            </a:r>
            <a:endParaRPr lang="en-US" sz="950" dirty="0"/>
          </a:p>
        </p:txBody>
      </p:sp>
      <p:sp>
        <p:nvSpPr>
          <p:cNvPr id="20" name="Shape 18"/>
          <p:cNvSpPr/>
          <p:nvPr/>
        </p:nvSpPr>
        <p:spPr>
          <a:xfrm>
            <a:off x="274320" y="3931920"/>
            <a:ext cx="182880" cy="777240"/>
          </a:xfrm>
          <a:prstGeom prst="rect">
            <a:avLst/>
          </a:prstGeom>
          <a:solidFill>
            <a:srgbClr val="7B1FA2"/>
          </a:solidFill>
          <a:ln w="12700">
            <a:solidFill>
              <a:srgbClr val="7B1FA2"/>
            </a:solidFill>
            <a:prstDash val="solid"/>
          </a:ln>
        </p:spPr>
        <p:txBody>
          <a:bodyPr/>
          <a:lstStyle/>
          <a:p>
            <a:endParaRPr lang="en-IN"/>
          </a:p>
        </p:txBody>
      </p:sp>
      <p:sp>
        <p:nvSpPr>
          <p:cNvPr id="21" name="Shape 19"/>
          <p:cNvSpPr/>
          <p:nvPr/>
        </p:nvSpPr>
        <p:spPr>
          <a:xfrm>
            <a:off x="457200" y="3931920"/>
            <a:ext cx="8321040" cy="777240"/>
          </a:xfrm>
          <a:prstGeom prst="rect">
            <a:avLst/>
          </a:prstGeom>
          <a:solidFill>
            <a:srgbClr val="F0F4F8"/>
          </a:solidFill>
          <a:ln w="6350">
            <a:solidFill>
              <a:srgbClr val="CBD5E1"/>
            </a:solidFill>
            <a:prstDash val="solid"/>
          </a:ln>
        </p:spPr>
        <p:txBody>
          <a:bodyPr/>
          <a:lstStyle/>
          <a:p>
            <a:endParaRPr lang="en-IN"/>
          </a:p>
        </p:txBody>
      </p:sp>
      <p:sp>
        <p:nvSpPr>
          <p:cNvPr id="22" name="Text 20"/>
          <p:cNvSpPr/>
          <p:nvPr/>
        </p:nvSpPr>
        <p:spPr>
          <a:xfrm>
            <a:off x="640080" y="3995928"/>
            <a:ext cx="8229600" cy="274320"/>
          </a:xfrm>
          <a:prstGeom prst="rect">
            <a:avLst/>
          </a:prstGeom>
          <a:noFill/>
          <a:ln/>
        </p:spPr>
        <p:txBody>
          <a:bodyPr wrap="square" rtlCol="0" anchor="ctr"/>
          <a:lstStyle/>
          <a:p>
            <a:pPr marL="0" indent="0">
              <a:buNone/>
            </a:pPr>
            <a:r>
              <a:rPr lang="en-US" sz="1200" b="1" dirty="0">
                <a:solidFill>
                  <a:srgbClr val="1A3A5C"/>
                </a:solidFill>
                <a:latin typeface="Calibri" pitchFamily="34" charset="0"/>
                <a:ea typeface="Calibri" pitchFamily="34" charset="-122"/>
                <a:cs typeface="Calibri" pitchFamily="34" charset="-120"/>
              </a:rPr>
              <a:t>4. StateDemographics.csv</a:t>
            </a:r>
            <a:endParaRPr lang="en-US" sz="1200" dirty="0"/>
          </a:p>
        </p:txBody>
      </p:sp>
      <p:sp>
        <p:nvSpPr>
          <p:cNvPr id="23" name="Text 21"/>
          <p:cNvSpPr/>
          <p:nvPr/>
        </p:nvSpPr>
        <p:spPr>
          <a:xfrm>
            <a:off x="640080" y="4279392"/>
            <a:ext cx="8046720" cy="384048"/>
          </a:xfrm>
          <a:prstGeom prst="rect">
            <a:avLst/>
          </a:prstGeom>
          <a:noFill/>
          <a:ln/>
        </p:spPr>
        <p:txBody>
          <a:bodyPr wrap="square" rtlCol="0" anchor="ctr"/>
          <a:lstStyle/>
          <a:p>
            <a:pPr marL="0" indent="0">
              <a:buNone/>
            </a:pPr>
            <a:r>
              <a:rPr lang="en-US" sz="950" dirty="0">
                <a:solidFill>
                  <a:srgbClr val="64748B"/>
                </a:solidFill>
                <a:latin typeface="Calibri" pitchFamily="34" charset="0"/>
                <a:ea typeface="Calibri" pitchFamily="34" charset="-122"/>
                <a:cs typeface="Calibri" pitchFamily="34" charset="-120"/>
              </a:rPr>
              <a:t>Supports state-level geographic and demographic analysis.  |  Key Columns: State Name, Total Seats, NDA Seats, INDIA Seats, Other Seats</a:t>
            </a:r>
            <a:endParaRPr lang="en-US" sz="950" dirty="0"/>
          </a:p>
        </p:txBody>
      </p:sp>
      <p:sp>
        <p:nvSpPr>
          <p:cNvPr id="24" name="Text 22"/>
          <p:cNvSpPr/>
          <p:nvPr/>
        </p:nvSpPr>
        <p:spPr>
          <a:xfrm>
            <a:off x="0" y="4846320"/>
            <a:ext cx="9144000" cy="274320"/>
          </a:xfrm>
          <a:prstGeom prst="rect">
            <a:avLst/>
          </a:prstGeom>
          <a:noFill/>
          <a:ln/>
        </p:spPr>
        <p:txBody>
          <a:bodyPr wrap="square" rtlCol="0" anchor="ctr"/>
          <a:lstStyle/>
          <a:p>
            <a:pPr marL="0" indent="0" algn="ctr">
              <a:buNone/>
            </a:pPr>
            <a:r>
              <a:rPr lang="en-US" sz="900" dirty="0">
                <a:solidFill>
                  <a:srgbClr val="999999"/>
                </a:solidFill>
                <a:latin typeface="Calibri" pitchFamily="34" charset="0"/>
                <a:ea typeface="Calibri" pitchFamily="34" charset="-122"/>
                <a:cs typeface="Calibri" pitchFamily="34" charset="-120"/>
              </a:rPr>
              <a:t>Infosys ElectViz | Team C | India General Election 2024</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A3A5C"/>
          </a:solidFill>
          <a:ln w="12700">
            <a:solidFill>
              <a:srgbClr val="1A3A5C"/>
            </a:solidFill>
            <a:prstDash val="solid"/>
          </a:ln>
        </p:spPr>
        <p:txBody>
          <a:bodyPr/>
          <a:lstStyle/>
          <a:p>
            <a:endParaRPr lang="en-IN"/>
          </a:p>
        </p:txBody>
      </p:sp>
      <p:sp>
        <p:nvSpPr>
          <p:cNvPr id="3" name="Shape 1"/>
          <p:cNvSpPr/>
          <p:nvPr/>
        </p:nvSpPr>
        <p:spPr>
          <a:xfrm>
            <a:off x="0" y="1005840"/>
            <a:ext cx="9144000" cy="64008"/>
          </a:xfrm>
          <a:prstGeom prst="rect">
            <a:avLst/>
          </a:prstGeom>
          <a:solidFill>
            <a:srgbClr val="E85D1A"/>
          </a:solidFill>
          <a:ln w="12700">
            <a:solidFill>
              <a:srgbClr val="E85D1A"/>
            </a:solidFill>
            <a:prstDash val="solid"/>
          </a:ln>
        </p:spPr>
        <p:txBody>
          <a:bodyPr/>
          <a:lstStyle/>
          <a:p>
            <a:endParaRPr lang="en-IN"/>
          </a:p>
        </p:txBody>
      </p:sp>
      <p:sp>
        <p:nvSpPr>
          <p:cNvPr id="4" name="Text 2"/>
          <p:cNvSpPr/>
          <p:nvPr/>
        </p:nvSpPr>
        <p:spPr>
          <a:xfrm>
            <a:off x="365760" y="91440"/>
            <a:ext cx="7315200" cy="54864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Data Modeling &amp; Architecture</a:t>
            </a:r>
            <a:endParaRPr lang="en-US" sz="2200" dirty="0"/>
          </a:p>
        </p:txBody>
      </p:sp>
      <p:sp>
        <p:nvSpPr>
          <p:cNvPr id="5" name="Text 3"/>
          <p:cNvSpPr/>
          <p:nvPr/>
        </p:nvSpPr>
        <p:spPr>
          <a:xfrm>
            <a:off x="365760" y="594360"/>
            <a:ext cx="7315200" cy="365760"/>
          </a:xfrm>
          <a:prstGeom prst="rect">
            <a:avLst/>
          </a:prstGeom>
          <a:noFill/>
          <a:ln/>
        </p:spPr>
        <p:txBody>
          <a:bodyPr wrap="square" rtlCol="0" anchor="ctr"/>
          <a:lstStyle/>
          <a:p>
            <a:pPr marL="0" indent="0">
              <a:buNone/>
            </a:pPr>
            <a:r>
              <a:rPr lang="en-US" sz="1400" i="1" dirty="0">
                <a:solidFill>
                  <a:srgbClr val="B0C4DE"/>
                </a:solidFill>
                <a:latin typeface="Calibri" pitchFamily="34" charset="0"/>
                <a:ea typeface="Calibri" pitchFamily="34" charset="-122"/>
                <a:cs typeface="Calibri" pitchFamily="34" charset="-120"/>
              </a:rPr>
              <a:t>Model View in Power BI</a:t>
            </a:r>
            <a:endParaRPr lang="en-US" sz="1400" dirty="0"/>
          </a:p>
        </p:txBody>
      </p:sp>
      <p:sp>
        <p:nvSpPr>
          <p:cNvPr id="9" name="Text 7"/>
          <p:cNvSpPr/>
          <p:nvPr/>
        </p:nvSpPr>
        <p:spPr>
          <a:xfrm>
            <a:off x="3474720" y="1828800"/>
            <a:ext cx="2194560" cy="91440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Fact: CandidateResults</a:t>
            </a:r>
            <a:endParaRPr lang="en-US" sz="1100" dirty="0"/>
          </a:p>
        </p:txBody>
      </p:sp>
      <p:sp>
        <p:nvSpPr>
          <p:cNvPr id="11" name="Text 9"/>
          <p:cNvSpPr/>
          <p:nvPr/>
        </p:nvSpPr>
        <p:spPr>
          <a:xfrm>
            <a:off x="365760" y="1463040"/>
            <a:ext cx="2011680" cy="68580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Dim: Constituencies</a:t>
            </a:r>
            <a:endParaRPr lang="en-US" sz="1000" dirty="0"/>
          </a:p>
        </p:txBody>
      </p:sp>
      <p:sp>
        <p:nvSpPr>
          <p:cNvPr id="13" name="Text 11"/>
          <p:cNvSpPr/>
          <p:nvPr/>
        </p:nvSpPr>
        <p:spPr>
          <a:xfrm>
            <a:off x="6583680" y="1463040"/>
            <a:ext cx="2011680" cy="68580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Dim: Parties</a:t>
            </a:r>
            <a:endParaRPr lang="en-US" sz="1000" dirty="0"/>
          </a:p>
        </p:txBody>
      </p:sp>
      <p:sp>
        <p:nvSpPr>
          <p:cNvPr id="15" name="Text 13"/>
          <p:cNvSpPr/>
          <p:nvPr/>
        </p:nvSpPr>
        <p:spPr>
          <a:xfrm>
            <a:off x="365760" y="2926080"/>
            <a:ext cx="2011680" cy="68580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Dim: States</a:t>
            </a:r>
            <a:endParaRPr lang="en-US" sz="1000" dirty="0"/>
          </a:p>
        </p:txBody>
      </p:sp>
      <p:sp>
        <p:nvSpPr>
          <p:cNvPr id="17" name="Text 15"/>
          <p:cNvSpPr/>
          <p:nvPr/>
        </p:nvSpPr>
        <p:spPr>
          <a:xfrm rot="338664">
            <a:off x="9846672" y="1022874"/>
            <a:ext cx="2011680" cy="685800"/>
          </a:xfrm>
          <a:prstGeom prst="rect">
            <a:avLst/>
          </a:prstGeom>
          <a:noFill/>
          <a:ln/>
        </p:spPr>
        <p:txBody>
          <a:bodyPr wrap="square" rtlCol="0" anchor="ctr"/>
          <a:lstStyle/>
          <a:p>
            <a:pPr marL="0" indent="0" algn="ctr">
              <a:buNone/>
            </a:pPr>
            <a:endParaRPr lang="en-US" sz="1000" dirty="0"/>
          </a:p>
        </p:txBody>
      </p:sp>
      <p:sp>
        <p:nvSpPr>
          <p:cNvPr id="24" name="Text 22"/>
          <p:cNvSpPr/>
          <p:nvPr/>
        </p:nvSpPr>
        <p:spPr>
          <a:xfrm>
            <a:off x="0" y="4846320"/>
            <a:ext cx="9144000" cy="274320"/>
          </a:xfrm>
          <a:prstGeom prst="rect">
            <a:avLst/>
          </a:prstGeom>
          <a:noFill/>
          <a:ln/>
        </p:spPr>
        <p:txBody>
          <a:bodyPr wrap="square" rtlCol="0" anchor="ctr"/>
          <a:lstStyle/>
          <a:p>
            <a:pPr marL="0" indent="0" algn="ctr">
              <a:buNone/>
            </a:pPr>
            <a:r>
              <a:rPr lang="en-US" sz="900" dirty="0">
                <a:solidFill>
                  <a:srgbClr val="999999"/>
                </a:solidFill>
                <a:latin typeface="Calibri" pitchFamily="34" charset="0"/>
                <a:ea typeface="Calibri" pitchFamily="34" charset="-122"/>
                <a:cs typeface="Calibri" pitchFamily="34" charset="-120"/>
              </a:rPr>
              <a:t>Infosys ElectViz | Team C | India General Election 2024</a:t>
            </a:r>
            <a:endParaRPr lang="en-US" sz="900" dirty="0"/>
          </a:p>
        </p:txBody>
      </p:sp>
      <p:pic>
        <p:nvPicPr>
          <p:cNvPr id="6" name="Picture 5"/>
          <p:cNvPicPr>
            <a:picLocks noChangeAspect="1"/>
          </p:cNvPicPr>
          <p:nvPr/>
        </p:nvPicPr>
        <p:blipFill>
          <a:blip r:embed="rId3"/>
          <a:stretch>
            <a:fillRect/>
          </a:stretch>
        </p:blipFill>
        <p:spPr>
          <a:xfrm>
            <a:off x="678093" y="1074473"/>
            <a:ext cx="7715893" cy="3776472"/>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A3A5C"/>
          </a:solidFill>
          <a:ln w="12700">
            <a:solidFill>
              <a:srgbClr val="1A3A5C"/>
            </a:solidFill>
            <a:prstDash val="solid"/>
          </a:ln>
        </p:spPr>
        <p:txBody>
          <a:bodyPr/>
          <a:lstStyle/>
          <a:p>
            <a:endParaRPr lang="en-IN"/>
          </a:p>
        </p:txBody>
      </p:sp>
      <p:sp>
        <p:nvSpPr>
          <p:cNvPr id="3" name="Shape 1"/>
          <p:cNvSpPr/>
          <p:nvPr/>
        </p:nvSpPr>
        <p:spPr>
          <a:xfrm>
            <a:off x="0" y="1005840"/>
            <a:ext cx="9144000" cy="64008"/>
          </a:xfrm>
          <a:prstGeom prst="rect">
            <a:avLst/>
          </a:prstGeom>
          <a:solidFill>
            <a:srgbClr val="E85D1A"/>
          </a:solidFill>
          <a:ln w="12700">
            <a:solidFill>
              <a:srgbClr val="E85D1A"/>
            </a:solidFill>
            <a:prstDash val="solid"/>
          </a:ln>
        </p:spPr>
        <p:txBody>
          <a:bodyPr/>
          <a:lstStyle/>
          <a:p>
            <a:endParaRPr lang="en-IN"/>
          </a:p>
        </p:txBody>
      </p:sp>
      <p:sp>
        <p:nvSpPr>
          <p:cNvPr id="4" name="Text 2"/>
          <p:cNvSpPr/>
          <p:nvPr/>
        </p:nvSpPr>
        <p:spPr>
          <a:xfrm>
            <a:off x="365760" y="91440"/>
            <a:ext cx="7315200" cy="548640"/>
          </a:xfrm>
          <a:prstGeom prst="rect">
            <a:avLst/>
          </a:prstGeom>
          <a:noFill/>
          <a:ln/>
        </p:spPr>
        <p:txBody>
          <a:bodyPr wrap="square"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DAX Measures &amp; Business Logic</a:t>
            </a:r>
            <a:endParaRPr lang="en-US" sz="2200" dirty="0"/>
          </a:p>
        </p:txBody>
      </p:sp>
      <p:sp>
        <p:nvSpPr>
          <p:cNvPr id="5" name="Text 3"/>
          <p:cNvSpPr/>
          <p:nvPr/>
        </p:nvSpPr>
        <p:spPr>
          <a:xfrm>
            <a:off x="365760" y="594360"/>
            <a:ext cx="7315200" cy="365760"/>
          </a:xfrm>
          <a:prstGeom prst="rect">
            <a:avLst/>
          </a:prstGeom>
          <a:noFill/>
          <a:ln/>
        </p:spPr>
        <p:txBody>
          <a:bodyPr wrap="square" rtlCol="0" anchor="ctr"/>
          <a:lstStyle/>
          <a:p>
            <a:pPr marL="0" indent="0">
              <a:buNone/>
            </a:pPr>
            <a:r>
              <a:rPr lang="en-US" sz="1400" i="1" dirty="0">
                <a:solidFill>
                  <a:srgbClr val="B0C4DE"/>
                </a:solidFill>
                <a:latin typeface="Calibri" pitchFamily="34" charset="0"/>
                <a:ea typeface="Calibri" pitchFamily="34" charset="-122"/>
                <a:cs typeface="Calibri" pitchFamily="34" charset="-120"/>
              </a:rPr>
              <a:t>Core Calculations Powering the Dashboards</a:t>
            </a:r>
            <a:endParaRPr lang="en-US" sz="1400" dirty="0"/>
          </a:p>
        </p:txBody>
      </p:sp>
      <p:sp>
        <p:nvSpPr>
          <p:cNvPr id="8" name="Shape 6"/>
          <p:cNvSpPr/>
          <p:nvPr/>
        </p:nvSpPr>
        <p:spPr>
          <a:xfrm>
            <a:off x="274320" y="1188720"/>
            <a:ext cx="1920240" cy="658368"/>
          </a:xfrm>
          <a:prstGeom prst="rect">
            <a:avLst/>
          </a:prstGeom>
          <a:solidFill>
            <a:srgbClr val="1A3A5C"/>
          </a:solidFill>
          <a:ln w="12700">
            <a:solidFill>
              <a:srgbClr val="1A3A5C"/>
            </a:solidFill>
            <a:prstDash val="solid"/>
          </a:ln>
        </p:spPr>
        <p:txBody>
          <a:bodyPr/>
          <a:lstStyle/>
          <a:p>
            <a:endParaRPr lang="en-IN"/>
          </a:p>
        </p:txBody>
      </p:sp>
      <p:sp>
        <p:nvSpPr>
          <p:cNvPr id="9" name="Text 7"/>
          <p:cNvSpPr/>
          <p:nvPr/>
        </p:nvSpPr>
        <p:spPr>
          <a:xfrm>
            <a:off x="274320" y="1188720"/>
            <a:ext cx="1920240" cy="658368"/>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Total Seats Won</a:t>
            </a:r>
            <a:endParaRPr lang="en-US" sz="1000" dirty="0"/>
          </a:p>
        </p:txBody>
      </p:sp>
      <p:sp>
        <p:nvSpPr>
          <p:cNvPr id="10" name="Shape 8"/>
          <p:cNvSpPr/>
          <p:nvPr/>
        </p:nvSpPr>
        <p:spPr>
          <a:xfrm>
            <a:off x="2194560" y="1188720"/>
            <a:ext cx="6583680" cy="658368"/>
          </a:xfrm>
          <a:prstGeom prst="rect">
            <a:avLst/>
          </a:prstGeom>
          <a:solidFill>
            <a:srgbClr val="F0F4F8"/>
          </a:solidFill>
          <a:ln w="6350">
            <a:solidFill>
              <a:srgbClr val="CBD5E1"/>
            </a:solidFill>
            <a:prstDash val="solid"/>
          </a:ln>
        </p:spPr>
        <p:txBody>
          <a:bodyPr/>
          <a:lstStyle/>
          <a:p>
            <a:endParaRPr lang="en-IN"/>
          </a:p>
        </p:txBody>
      </p:sp>
      <p:sp>
        <p:nvSpPr>
          <p:cNvPr id="11" name="Text 9"/>
          <p:cNvSpPr/>
          <p:nvPr/>
        </p:nvSpPr>
        <p:spPr>
          <a:xfrm>
            <a:off x="2331720" y="1225296"/>
            <a:ext cx="6400800" cy="256032"/>
          </a:xfrm>
          <a:prstGeom prst="rect">
            <a:avLst/>
          </a:prstGeom>
          <a:noFill/>
          <a:ln/>
        </p:spPr>
        <p:txBody>
          <a:bodyPr wrap="square" rtlCol="0" anchor="ctr"/>
          <a:lstStyle/>
          <a:p>
            <a:pPr marL="0" indent="0">
              <a:buNone/>
            </a:pPr>
            <a:r>
              <a:rPr lang="en-US" sz="900" b="1" dirty="0">
                <a:solidFill>
                  <a:srgbClr val="E85D1A"/>
                </a:solidFill>
                <a:latin typeface="Consolas" pitchFamily="34" charset="0"/>
                <a:ea typeface="Consolas" pitchFamily="34" charset="-122"/>
                <a:cs typeface="Consolas" pitchFamily="34" charset="-120"/>
              </a:rPr>
              <a:t>CALCULATE(COUNTROWS(PartyWiseResults), [Seats] &gt; 0)</a:t>
            </a:r>
            <a:endParaRPr lang="en-US" sz="900" dirty="0"/>
          </a:p>
        </p:txBody>
      </p:sp>
      <p:sp>
        <p:nvSpPr>
          <p:cNvPr id="12" name="Text 10"/>
          <p:cNvSpPr/>
          <p:nvPr/>
        </p:nvSpPr>
        <p:spPr>
          <a:xfrm>
            <a:off x="2331720" y="1508760"/>
            <a:ext cx="6400800" cy="292608"/>
          </a:xfrm>
          <a:prstGeom prst="rect">
            <a:avLst/>
          </a:prstGeom>
          <a:noFill/>
          <a:ln/>
        </p:spPr>
        <p:txBody>
          <a:bodyPr wrap="square" rtlCol="0" anchor="ctr"/>
          <a:lstStyle/>
          <a:p>
            <a:pPr marL="0" indent="0">
              <a:buNone/>
            </a:pPr>
            <a:r>
              <a:rPr lang="en-US" sz="950" dirty="0">
                <a:solidFill>
                  <a:srgbClr val="64748B"/>
                </a:solidFill>
                <a:latin typeface="Calibri" pitchFamily="34" charset="0"/>
                <a:ea typeface="Calibri" pitchFamily="34" charset="-122"/>
                <a:cs typeface="Calibri" pitchFamily="34" charset="-120"/>
              </a:rPr>
              <a:t>Aggregates total constituencies won per party or alliance.</a:t>
            </a:r>
            <a:endParaRPr lang="en-US" sz="950" dirty="0"/>
          </a:p>
        </p:txBody>
      </p:sp>
      <p:sp>
        <p:nvSpPr>
          <p:cNvPr id="13" name="Shape 11"/>
          <p:cNvSpPr/>
          <p:nvPr/>
        </p:nvSpPr>
        <p:spPr>
          <a:xfrm>
            <a:off x="274320" y="1938528"/>
            <a:ext cx="1920240" cy="658368"/>
          </a:xfrm>
          <a:prstGeom prst="rect">
            <a:avLst/>
          </a:prstGeom>
          <a:solidFill>
            <a:srgbClr val="1A3A5C"/>
          </a:solidFill>
          <a:ln w="12700">
            <a:solidFill>
              <a:srgbClr val="1A3A5C"/>
            </a:solidFill>
            <a:prstDash val="solid"/>
          </a:ln>
        </p:spPr>
        <p:txBody>
          <a:bodyPr/>
          <a:lstStyle/>
          <a:p>
            <a:endParaRPr lang="en-IN"/>
          </a:p>
        </p:txBody>
      </p:sp>
      <p:sp>
        <p:nvSpPr>
          <p:cNvPr id="14" name="Text 12"/>
          <p:cNvSpPr/>
          <p:nvPr/>
        </p:nvSpPr>
        <p:spPr>
          <a:xfrm>
            <a:off x="274320" y="1938528"/>
            <a:ext cx="1920240" cy="658368"/>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Vote Share %</a:t>
            </a:r>
            <a:endParaRPr lang="en-US" sz="1000" dirty="0"/>
          </a:p>
        </p:txBody>
      </p:sp>
      <p:sp>
        <p:nvSpPr>
          <p:cNvPr id="15" name="Shape 13"/>
          <p:cNvSpPr/>
          <p:nvPr/>
        </p:nvSpPr>
        <p:spPr>
          <a:xfrm>
            <a:off x="2194560" y="1938528"/>
            <a:ext cx="6583680" cy="658368"/>
          </a:xfrm>
          <a:prstGeom prst="rect">
            <a:avLst/>
          </a:prstGeom>
          <a:solidFill>
            <a:srgbClr val="F0F4F8"/>
          </a:solidFill>
          <a:ln w="6350">
            <a:solidFill>
              <a:srgbClr val="CBD5E1"/>
            </a:solidFill>
            <a:prstDash val="solid"/>
          </a:ln>
        </p:spPr>
        <p:txBody>
          <a:bodyPr/>
          <a:lstStyle/>
          <a:p>
            <a:endParaRPr lang="en-IN"/>
          </a:p>
        </p:txBody>
      </p:sp>
      <p:sp>
        <p:nvSpPr>
          <p:cNvPr id="16" name="Text 14"/>
          <p:cNvSpPr/>
          <p:nvPr/>
        </p:nvSpPr>
        <p:spPr>
          <a:xfrm>
            <a:off x="2331720" y="1975104"/>
            <a:ext cx="6400800" cy="256032"/>
          </a:xfrm>
          <a:prstGeom prst="rect">
            <a:avLst/>
          </a:prstGeom>
          <a:noFill/>
          <a:ln/>
        </p:spPr>
        <p:txBody>
          <a:bodyPr wrap="square" rtlCol="0" anchor="ctr"/>
          <a:lstStyle/>
          <a:p>
            <a:pPr marL="0" indent="0">
              <a:buNone/>
            </a:pPr>
            <a:r>
              <a:rPr lang="en-US" sz="900" b="1" dirty="0">
                <a:solidFill>
                  <a:srgbClr val="E85D1A"/>
                </a:solidFill>
                <a:latin typeface="Consolas" pitchFamily="34" charset="0"/>
                <a:ea typeface="Consolas" pitchFamily="34" charset="-122"/>
                <a:cs typeface="Consolas" pitchFamily="34" charset="-120"/>
              </a:rPr>
              <a:t>DIVIDE([Total Votes Party], [Total Votes All], 0) * 100</a:t>
            </a:r>
            <a:endParaRPr lang="en-US" sz="900" dirty="0"/>
          </a:p>
        </p:txBody>
      </p:sp>
      <p:sp>
        <p:nvSpPr>
          <p:cNvPr id="17" name="Text 15"/>
          <p:cNvSpPr/>
          <p:nvPr/>
        </p:nvSpPr>
        <p:spPr>
          <a:xfrm>
            <a:off x="2331720" y="2258568"/>
            <a:ext cx="6400800" cy="292608"/>
          </a:xfrm>
          <a:prstGeom prst="rect">
            <a:avLst/>
          </a:prstGeom>
          <a:noFill/>
          <a:ln/>
        </p:spPr>
        <p:txBody>
          <a:bodyPr wrap="square" rtlCol="0" anchor="ctr"/>
          <a:lstStyle/>
          <a:p>
            <a:pPr marL="0" indent="0">
              <a:buNone/>
            </a:pPr>
            <a:r>
              <a:rPr lang="en-US" sz="950" dirty="0">
                <a:solidFill>
                  <a:srgbClr val="64748B"/>
                </a:solidFill>
                <a:latin typeface="Calibri" pitchFamily="34" charset="0"/>
                <a:ea typeface="Calibri" pitchFamily="34" charset="-122"/>
                <a:cs typeface="Calibri" pitchFamily="34" charset="-120"/>
              </a:rPr>
              <a:t>Computes percentage of total votes secured by each party.</a:t>
            </a:r>
            <a:endParaRPr lang="en-US" sz="950" dirty="0"/>
          </a:p>
        </p:txBody>
      </p:sp>
      <p:sp>
        <p:nvSpPr>
          <p:cNvPr id="18" name="Shape 16"/>
          <p:cNvSpPr/>
          <p:nvPr/>
        </p:nvSpPr>
        <p:spPr>
          <a:xfrm>
            <a:off x="274320" y="2688336"/>
            <a:ext cx="1920240" cy="658368"/>
          </a:xfrm>
          <a:prstGeom prst="rect">
            <a:avLst/>
          </a:prstGeom>
          <a:solidFill>
            <a:srgbClr val="1A3A5C"/>
          </a:solidFill>
          <a:ln w="12700">
            <a:solidFill>
              <a:srgbClr val="1A3A5C"/>
            </a:solidFill>
            <a:prstDash val="solid"/>
          </a:ln>
        </p:spPr>
        <p:txBody>
          <a:bodyPr/>
          <a:lstStyle/>
          <a:p>
            <a:endParaRPr lang="en-IN"/>
          </a:p>
        </p:txBody>
      </p:sp>
      <p:sp>
        <p:nvSpPr>
          <p:cNvPr id="19" name="Text 17"/>
          <p:cNvSpPr/>
          <p:nvPr/>
        </p:nvSpPr>
        <p:spPr>
          <a:xfrm>
            <a:off x="274320" y="2688336"/>
            <a:ext cx="1920240" cy="658368"/>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Alliance Classification</a:t>
            </a:r>
            <a:endParaRPr lang="en-US" sz="1000" dirty="0"/>
          </a:p>
        </p:txBody>
      </p:sp>
      <p:sp>
        <p:nvSpPr>
          <p:cNvPr id="20" name="Shape 18"/>
          <p:cNvSpPr/>
          <p:nvPr/>
        </p:nvSpPr>
        <p:spPr>
          <a:xfrm>
            <a:off x="2194560" y="2688336"/>
            <a:ext cx="6583680" cy="658368"/>
          </a:xfrm>
          <a:prstGeom prst="rect">
            <a:avLst/>
          </a:prstGeom>
          <a:solidFill>
            <a:srgbClr val="F0F4F8"/>
          </a:solidFill>
          <a:ln w="6350">
            <a:solidFill>
              <a:srgbClr val="CBD5E1"/>
            </a:solidFill>
            <a:prstDash val="solid"/>
          </a:ln>
        </p:spPr>
        <p:txBody>
          <a:bodyPr/>
          <a:lstStyle/>
          <a:p>
            <a:endParaRPr lang="en-IN"/>
          </a:p>
        </p:txBody>
      </p:sp>
      <p:sp>
        <p:nvSpPr>
          <p:cNvPr id="21" name="Text 19"/>
          <p:cNvSpPr/>
          <p:nvPr/>
        </p:nvSpPr>
        <p:spPr>
          <a:xfrm>
            <a:off x="2331720" y="2724912"/>
            <a:ext cx="6400800" cy="256032"/>
          </a:xfrm>
          <a:prstGeom prst="rect">
            <a:avLst/>
          </a:prstGeom>
          <a:noFill/>
          <a:ln/>
        </p:spPr>
        <p:txBody>
          <a:bodyPr wrap="square" rtlCol="0" anchor="ctr"/>
          <a:lstStyle/>
          <a:p>
            <a:pPr marL="0" indent="0">
              <a:buNone/>
            </a:pPr>
            <a:r>
              <a:rPr lang="en-US" sz="900" b="1" dirty="0">
                <a:solidFill>
                  <a:srgbClr val="E85D1A"/>
                </a:solidFill>
                <a:latin typeface="Consolas" pitchFamily="34" charset="0"/>
                <a:ea typeface="Consolas" pitchFamily="34" charset="-122"/>
                <a:cs typeface="Consolas" pitchFamily="34" charset="-120"/>
              </a:rPr>
              <a:t>SWITCH(TRUE(), Party IN NDA_LIST, "NDA", Party IN INDIA_LIST, "I.N.D.I.A.", "Others")</a:t>
            </a:r>
            <a:endParaRPr lang="en-US" sz="900" dirty="0"/>
          </a:p>
        </p:txBody>
      </p:sp>
      <p:sp>
        <p:nvSpPr>
          <p:cNvPr id="22" name="Text 20"/>
          <p:cNvSpPr/>
          <p:nvPr/>
        </p:nvSpPr>
        <p:spPr>
          <a:xfrm>
            <a:off x="2331720" y="3008376"/>
            <a:ext cx="6400800" cy="292608"/>
          </a:xfrm>
          <a:prstGeom prst="rect">
            <a:avLst/>
          </a:prstGeom>
          <a:noFill/>
          <a:ln/>
        </p:spPr>
        <p:txBody>
          <a:bodyPr wrap="square" rtlCol="0" anchor="ctr"/>
          <a:lstStyle/>
          <a:p>
            <a:pPr marL="0" indent="0">
              <a:buNone/>
            </a:pPr>
            <a:r>
              <a:rPr lang="en-US" sz="950" dirty="0">
                <a:solidFill>
                  <a:srgbClr val="64748B"/>
                </a:solidFill>
                <a:latin typeface="Calibri" pitchFamily="34" charset="0"/>
                <a:ea typeface="Calibri" pitchFamily="34" charset="-122"/>
                <a:cs typeface="Calibri" pitchFamily="34" charset="-120"/>
              </a:rPr>
              <a:t>Classifies each party into the correct political alliance.</a:t>
            </a:r>
            <a:endParaRPr lang="en-US" sz="950" dirty="0"/>
          </a:p>
        </p:txBody>
      </p:sp>
      <p:sp>
        <p:nvSpPr>
          <p:cNvPr id="23" name="Shape 21"/>
          <p:cNvSpPr/>
          <p:nvPr/>
        </p:nvSpPr>
        <p:spPr>
          <a:xfrm>
            <a:off x="274320" y="3438144"/>
            <a:ext cx="1920240" cy="658368"/>
          </a:xfrm>
          <a:prstGeom prst="rect">
            <a:avLst/>
          </a:prstGeom>
          <a:solidFill>
            <a:srgbClr val="1A3A5C"/>
          </a:solidFill>
          <a:ln w="12700">
            <a:solidFill>
              <a:srgbClr val="1A3A5C"/>
            </a:solidFill>
            <a:prstDash val="solid"/>
          </a:ln>
        </p:spPr>
        <p:txBody>
          <a:bodyPr/>
          <a:lstStyle/>
          <a:p>
            <a:endParaRPr lang="en-IN"/>
          </a:p>
        </p:txBody>
      </p:sp>
      <p:sp>
        <p:nvSpPr>
          <p:cNvPr id="24" name="Text 22"/>
          <p:cNvSpPr/>
          <p:nvPr/>
        </p:nvSpPr>
        <p:spPr>
          <a:xfrm>
            <a:off x="274320" y="3438144"/>
            <a:ext cx="1920240" cy="658368"/>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Strike Rate %</a:t>
            </a:r>
            <a:endParaRPr lang="en-US" sz="1000" dirty="0"/>
          </a:p>
        </p:txBody>
      </p:sp>
      <p:sp>
        <p:nvSpPr>
          <p:cNvPr id="25" name="Shape 23"/>
          <p:cNvSpPr/>
          <p:nvPr/>
        </p:nvSpPr>
        <p:spPr>
          <a:xfrm>
            <a:off x="2194560" y="3438144"/>
            <a:ext cx="6583680" cy="658368"/>
          </a:xfrm>
          <a:prstGeom prst="rect">
            <a:avLst/>
          </a:prstGeom>
          <a:solidFill>
            <a:srgbClr val="F0F4F8"/>
          </a:solidFill>
          <a:ln w="6350">
            <a:solidFill>
              <a:srgbClr val="CBD5E1"/>
            </a:solidFill>
            <a:prstDash val="solid"/>
          </a:ln>
        </p:spPr>
        <p:txBody>
          <a:bodyPr/>
          <a:lstStyle/>
          <a:p>
            <a:endParaRPr lang="en-IN"/>
          </a:p>
        </p:txBody>
      </p:sp>
      <p:sp>
        <p:nvSpPr>
          <p:cNvPr id="26" name="Text 24"/>
          <p:cNvSpPr/>
          <p:nvPr/>
        </p:nvSpPr>
        <p:spPr>
          <a:xfrm>
            <a:off x="2331720" y="3474720"/>
            <a:ext cx="6400800" cy="256032"/>
          </a:xfrm>
          <a:prstGeom prst="rect">
            <a:avLst/>
          </a:prstGeom>
          <a:noFill/>
          <a:ln/>
        </p:spPr>
        <p:txBody>
          <a:bodyPr wrap="square" rtlCol="0" anchor="ctr"/>
          <a:lstStyle/>
          <a:p>
            <a:pPr marL="0" indent="0">
              <a:buNone/>
            </a:pPr>
            <a:r>
              <a:rPr lang="en-US" sz="900" b="1" dirty="0">
                <a:solidFill>
                  <a:srgbClr val="E85D1A"/>
                </a:solidFill>
                <a:latin typeface="Consolas" pitchFamily="34" charset="0"/>
                <a:ea typeface="Consolas" pitchFamily="34" charset="-122"/>
                <a:cs typeface="Consolas" pitchFamily="34" charset="-120"/>
              </a:rPr>
              <a:t>DIVIDE([Seats Won], [Total Candidates Fielded], 0) * 100</a:t>
            </a:r>
            <a:endParaRPr lang="en-US" sz="900" dirty="0"/>
          </a:p>
        </p:txBody>
      </p:sp>
      <p:sp>
        <p:nvSpPr>
          <p:cNvPr id="27" name="Text 25"/>
          <p:cNvSpPr/>
          <p:nvPr/>
        </p:nvSpPr>
        <p:spPr>
          <a:xfrm>
            <a:off x="2331720" y="3758184"/>
            <a:ext cx="6400800" cy="292608"/>
          </a:xfrm>
          <a:prstGeom prst="rect">
            <a:avLst/>
          </a:prstGeom>
          <a:noFill/>
          <a:ln/>
        </p:spPr>
        <p:txBody>
          <a:bodyPr wrap="square" rtlCol="0" anchor="ctr"/>
          <a:lstStyle/>
          <a:p>
            <a:pPr marL="0" indent="0">
              <a:buNone/>
            </a:pPr>
            <a:r>
              <a:rPr lang="en-US" sz="950" dirty="0">
                <a:solidFill>
                  <a:srgbClr val="64748B"/>
                </a:solidFill>
                <a:latin typeface="Calibri" pitchFamily="34" charset="0"/>
                <a:ea typeface="Calibri" pitchFamily="34" charset="-122"/>
                <a:cs typeface="Calibri" pitchFamily="34" charset="-120"/>
              </a:rPr>
              <a:t>Measures efficiency of seats converted from candidates fielded.</a:t>
            </a:r>
            <a:endParaRPr lang="en-US" sz="950" dirty="0"/>
          </a:p>
        </p:txBody>
      </p:sp>
      <p:sp>
        <p:nvSpPr>
          <p:cNvPr id="28" name="Shape 26"/>
          <p:cNvSpPr/>
          <p:nvPr/>
        </p:nvSpPr>
        <p:spPr>
          <a:xfrm>
            <a:off x="274320" y="4187952"/>
            <a:ext cx="1920240" cy="658368"/>
          </a:xfrm>
          <a:prstGeom prst="rect">
            <a:avLst/>
          </a:prstGeom>
          <a:solidFill>
            <a:srgbClr val="1A3A5C"/>
          </a:solidFill>
          <a:ln w="12700">
            <a:solidFill>
              <a:srgbClr val="1A3A5C"/>
            </a:solidFill>
            <a:prstDash val="solid"/>
          </a:ln>
        </p:spPr>
        <p:txBody>
          <a:bodyPr/>
          <a:lstStyle/>
          <a:p>
            <a:endParaRPr lang="en-IN"/>
          </a:p>
        </p:txBody>
      </p:sp>
      <p:sp>
        <p:nvSpPr>
          <p:cNvPr id="29" name="Text 27"/>
          <p:cNvSpPr/>
          <p:nvPr/>
        </p:nvSpPr>
        <p:spPr>
          <a:xfrm>
            <a:off x="274320" y="4187952"/>
            <a:ext cx="1920240" cy="658368"/>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Winning Margin</a:t>
            </a:r>
            <a:endParaRPr lang="en-US" sz="1000" dirty="0"/>
          </a:p>
        </p:txBody>
      </p:sp>
      <p:sp>
        <p:nvSpPr>
          <p:cNvPr id="30" name="Shape 28"/>
          <p:cNvSpPr/>
          <p:nvPr/>
        </p:nvSpPr>
        <p:spPr>
          <a:xfrm>
            <a:off x="2194560" y="4187952"/>
            <a:ext cx="6583680" cy="658368"/>
          </a:xfrm>
          <a:prstGeom prst="rect">
            <a:avLst/>
          </a:prstGeom>
          <a:solidFill>
            <a:srgbClr val="F0F4F8"/>
          </a:solidFill>
          <a:ln w="6350">
            <a:solidFill>
              <a:srgbClr val="CBD5E1"/>
            </a:solidFill>
            <a:prstDash val="solid"/>
          </a:ln>
        </p:spPr>
        <p:txBody>
          <a:bodyPr/>
          <a:lstStyle/>
          <a:p>
            <a:endParaRPr lang="en-IN"/>
          </a:p>
        </p:txBody>
      </p:sp>
      <p:sp>
        <p:nvSpPr>
          <p:cNvPr id="31" name="Text 29"/>
          <p:cNvSpPr/>
          <p:nvPr/>
        </p:nvSpPr>
        <p:spPr>
          <a:xfrm>
            <a:off x="2331720" y="4224528"/>
            <a:ext cx="6400800" cy="256032"/>
          </a:xfrm>
          <a:prstGeom prst="rect">
            <a:avLst/>
          </a:prstGeom>
          <a:noFill/>
          <a:ln/>
        </p:spPr>
        <p:txBody>
          <a:bodyPr wrap="square" rtlCol="0" anchor="ctr"/>
          <a:lstStyle/>
          <a:p>
            <a:pPr marL="0" indent="0">
              <a:buNone/>
            </a:pPr>
            <a:r>
              <a:rPr lang="en-US" sz="900" b="1" dirty="0">
                <a:solidFill>
                  <a:srgbClr val="E85D1A"/>
                </a:solidFill>
                <a:latin typeface="Consolas" pitchFamily="34" charset="0"/>
                <a:ea typeface="Consolas" pitchFamily="34" charset="-122"/>
                <a:cs typeface="Consolas" pitchFamily="34" charset="-120"/>
              </a:rPr>
              <a:t>MAX(Candidate Votes) - SECOND MAX(Candidate Votes)</a:t>
            </a:r>
            <a:endParaRPr lang="en-US" sz="900" dirty="0"/>
          </a:p>
        </p:txBody>
      </p:sp>
      <p:sp>
        <p:nvSpPr>
          <p:cNvPr id="32" name="Text 30"/>
          <p:cNvSpPr/>
          <p:nvPr/>
        </p:nvSpPr>
        <p:spPr>
          <a:xfrm>
            <a:off x="2331720" y="4507992"/>
            <a:ext cx="6400800" cy="292608"/>
          </a:xfrm>
          <a:prstGeom prst="rect">
            <a:avLst/>
          </a:prstGeom>
          <a:noFill/>
          <a:ln/>
        </p:spPr>
        <p:txBody>
          <a:bodyPr wrap="square" rtlCol="0" anchor="ctr"/>
          <a:lstStyle/>
          <a:p>
            <a:pPr marL="0" indent="0">
              <a:buNone/>
            </a:pPr>
            <a:r>
              <a:rPr lang="en-US" sz="950" dirty="0">
                <a:solidFill>
                  <a:srgbClr val="64748B"/>
                </a:solidFill>
                <a:latin typeface="Calibri" pitchFamily="34" charset="0"/>
                <a:ea typeface="Calibri" pitchFamily="34" charset="-122"/>
                <a:cs typeface="Calibri" pitchFamily="34" charset="-120"/>
              </a:rPr>
              <a:t>Calculates absolute vote margin of the winning candidate.</a:t>
            </a:r>
            <a:endParaRPr lang="en-US" sz="950" dirty="0"/>
          </a:p>
        </p:txBody>
      </p:sp>
      <p:sp>
        <p:nvSpPr>
          <p:cNvPr id="33" name="Text 31"/>
          <p:cNvSpPr/>
          <p:nvPr/>
        </p:nvSpPr>
        <p:spPr>
          <a:xfrm>
            <a:off x="0" y="4846320"/>
            <a:ext cx="9144000" cy="274320"/>
          </a:xfrm>
          <a:prstGeom prst="rect">
            <a:avLst/>
          </a:prstGeom>
          <a:noFill/>
          <a:ln/>
        </p:spPr>
        <p:txBody>
          <a:bodyPr wrap="square" rtlCol="0" anchor="ctr"/>
          <a:lstStyle/>
          <a:p>
            <a:pPr marL="0" indent="0" algn="ctr">
              <a:buNone/>
            </a:pPr>
            <a:r>
              <a:rPr lang="en-US" sz="900" dirty="0">
                <a:solidFill>
                  <a:srgbClr val="999999"/>
                </a:solidFill>
                <a:latin typeface="Calibri" pitchFamily="34" charset="0"/>
                <a:ea typeface="Calibri" pitchFamily="34" charset="-122"/>
                <a:cs typeface="Calibri" pitchFamily="34" charset="-120"/>
              </a:rPr>
              <a:t>Infosys ElectViz | Team C | India General Election 2024</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A3A5C"/>
          </a:solidFill>
          <a:ln w="12700">
            <a:solidFill>
              <a:srgbClr val="1A3A5C"/>
            </a:solidFill>
            <a:prstDash val="solid"/>
          </a:ln>
        </p:spPr>
        <p:txBody>
          <a:bodyPr/>
          <a:lstStyle/>
          <a:p>
            <a:endParaRPr lang="en-IN"/>
          </a:p>
        </p:txBody>
      </p:sp>
      <p:sp>
        <p:nvSpPr>
          <p:cNvPr id="3" name="Shape 1"/>
          <p:cNvSpPr/>
          <p:nvPr/>
        </p:nvSpPr>
        <p:spPr>
          <a:xfrm>
            <a:off x="0" y="1005840"/>
            <a:ext cx="9144000" cy="64008"/>
          </a:xfrm>
          <a:prstGeom prst="rect">
            <a:avLst/>
          </a:prstGeom>
          <a:solidFill>
            <a:srgbClr val="E85D1A"/>
          </a:solidFill>
          <a:ln w="12700">
            <a:solidFill>
              <a:srgbClr val="E85D1A"/>
            </a:solidFill>
            <a:prstDash val="solid"/>
          </a:ln>
        </p:spPr>
        <p:txBody>
          <a:bodyPr/>
          <a:lstStyle/>
          <a:p>
            <a:endParaRPr lang="en-IN"/>
          </a:p>
        </p:txBody>
      </p:sp>
      <p:sp>
        <p:nvSpPr>
          <p:cNvPr id="4" name="Text 2"/>
          <p:cNvSpPr/>
          <p:nvPr/>
        </p:nvSpPr>
        <p:spPr>
          <a:xfrm>
            <a:off x="365760" y="91440"/>
            <a:ext cx="7315200" cy="548640"/>
          </a:xfrm>
          <a:prstGeom prst="rect">
            <a:avLst/>
          </a:prstGeom>
          <a:noFill/>
          <a:ln/>
        </p:spPr>
        <p:txBody>
          <a:bodyPr wrap="square" rtlCol="0" anchor="ctr"/>
          <a:lstStyle/>
          <a:p>
            <a:pPr marL="0" indent="0">
              <a:buNone/>
            </a:pPr>
            <a:r>
              <a:rPr lang="en-US" sz="2200" b="1" dirty="0">
                <a:solidFill>
                  <a:srgbClr val="FFFFFF"/>
                </a:solidFill>
                <a:latin typeface="Times New Roman" panose="02020603050405020304" pitchFamily="18" charset="0"/>
                <a:ea typeface="Calibri" pitchFamily="34" charset="-122"/>
                <a:cs typeface="Times New Roman" panose="02020603050405020304" pitchFamily="18" charset="0"/>
              </a:rPr>
              <a:t>Dashboard 1 — Overview Analysis</a:t>
            </a:r>
            <a:endParaRPr lang="en-US" sz="2200" dirty="0">
              <a:latin typeface="Times New Roman" panose="02020603050405020304" pitchFamily="18" charset="0"/>
              <a:cs typeface="Times New Roman" panose="02020603050405020304" pitchFamily="18" charset="0"/>
            </a:endParaRPr>
          </a:p>
        </p:txBody>
      </p:sp>
      <p:sp>
        <p:nvSpPr>
          <p:cNvPr id="5" name="Text 3"/>
          <p:cNvSpPr/>
          <p:nvPr/>
        </p:nvSpPr>
        <p:spPr>
          <a:xfrm>
            <a:off x="365760" y="594360"/>
            <a:ext cx="7315200" cy="365760"/>
          </a:xfrm>
          <a:prstGeom prst="rect">
            <a:avLst/>
          </a:prstGeom>
          <a:noFill/>
          <a:ln/>
        </p:spPr>
        <p:txBody>
          <a:bodyPr wrap="square" rtlCol="0" anchor="ctr"/>
          <a:lstStyle/>
          <a:p>
            <a:pPr marL="0" indent="0">
              <a:buNone/>
            </a:pPr>
            <a:r>
              <a:rPr lang="en-US" sz="1400" i="1" dirty="0">
                <a:solidFill>
                  <a:srgbClr val="B0C4DE"/>
                </a:solidFill>
                <a:latin typeface="Calibri" pitchFamily="34" charset="0"/>
                <a:ea typeface="Calibri" pitchFamily="34" charset="-122"/>
                <a:cs typeface="Calibri" pitchFamily="34" charset="-120"/>
              </a:rPr>
              <a:t>National-Level Election Results Summary</a:t>
            </a:r>
            <a:endParaRPr lang="en-US" sz="1400" dirty="0"/>
          </a:p>
        </p:txBody>
      </p:sp>
      <p:sp>
        <p:nvSpPr>
          <p:cNvPr id="9" name="Text 6"/>
          <p:cNvSpPr/>
          <p:nvPr/>
        </p:nvSpPr>
        <p:spPr>
          <a:xfrm>
            <a:off x="0" y="4846320"/>
            <a:ext cx="9144000" cy="274320"/>
          </a:xfrm>
          <a:prstGeom prst="rect">
            <a:avLst/>
          </a:prstGeom>
          <a:noFill/>
          <a:ln/>
        </p:spPr>
        <p:txBody>
          <a:bodyPr wrap="square" rtlCol="0" anchor="ctr"/>
          <a:lstStyle/>
          <a:p>
            <a:pPr marL="0" indent="0" algn="ctr">
              <a:buNone/>
            </a:pPr>
            <a:r>
              <a:rPr lang="en-US" sz="900" dirty="0">
                <a:solidFill>
                  <a:srgbClr val="999999"/>
                </a:solidFill>
                <a:latin typeface="Calibri" pitchFamily="34" charset="0"/>
                <a:ea typeface="Calibri" pitchFamily="34" charset="-122"/>
                <a:cs typeface="Calibri" pitchFamily="34" charset="-120"/>
              </a:rPr>
              <a:t>Infosys ElectViz | Team C | India General Election 2024</a:t>
            </a:r>
            <a:endParaRPr lang="en-US" sz="900" dirty="0"/>
          </a:p>
        </p:txBody>
      </p:sp>
      <p:pic>
        <p:nvPicPr>
          <p:cNvPr id="6" name="Picture 5"/>
          <p:cNvPicPr>
            <a:picLocks noChangeAspect="1"/>
          </p:cNvPicPr>
          <p:nvPr/>
        </p:nvPicPr>
        <p:blipFill>
          <a:blip r:embed="rId3"/>
          <a:stretch>
            <a:fillRect/>
          </a:stretch>
        </p:blipFill>
        <p:spPr>
          <a:xfrm>
            <a:off x="0" y="1097280"/>
            <a:ext cx="9144000" cy="374904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A3A5C"/>
          </a:solidFill>
          <a:ln w="12700">
            <a:solidFill>
              <a:srgbClr val="1A3A5C"/>
            </a:solidFill>
            <a:prstDash val="solid"/>
          </a:ln>
        </p:spPr>
        <p:txBody>
          <a:bodyPr/>
          <a:lstStyle/>
          <a:p>
            <a:endParaRPr lang="en-IN"/>
          </a:p>
        </p:txBody>
      </p:sp>
      <p:sp>
        <p:nvSpPr>
          <p:cNvPr id="3" name="Shape 1"/>
          <p:cNvSpPr/>
          <p:nvPr/>
        </p:nvSpPr>
        <p:spPr>
          <a:xfrm>
            <a:off x="0" y="1005840"/>
            <a:ext cx="9144000" cy="64008"/>
          </a:xfrm>
          <a:prstGeom prst="rect">
            <a:avLst/>
          </a:prstGeom>
          <a:solidFill>
            <a:srgbClr val="E85D1A"/>
          </a:solidFill>
          <a:ln w="12700">
            <a:solidFill>
              <a:srgbClr val="E85D1A"/>
            </a:solidFill>
            <a:prstDash val="solid"/>
          </a:ln>
        </p:spPr>
        <p:txBody>
          <a:bodyPr/>
          <a:lstStyle/>
          <a:p>
            <a:endParaRPr lang="en-IN"/>
          </a:p>
        </p:txBody>
      </p:sp>
      <p:sp>
        <p:nvSpPr>
          <p:cNvPr id="4" name="Text 2"/>
          <p:cNvSpPr/>
          <p:nvPr/>
        </p:nvSpPr>
        <p:spPr>
          <a:xfrm>
            <a:off x="365760" y="91440"/>
            <a:ext cx="7315200" cy="548640"/>
          </a:xfrm>
          <a:prstGeom prst="rect">
            <a:avLst/>
          </a:prstGeom>
          <a:noFill/>
          <a:ln/>
        </p:spPr>
        <p:txBody>
          <a:bodyPr wrap="square" rtlCol="0" anchor="ctr"/>
          <a:lstStyle/>
          <a:p>
            <a:pPr marL="0" indent="0">
              <a:buNone/>
            </a:pPr>
            <a:r>
              <a:rPr lang="en-US" sz="2200" b="1" dirty="0">
                <a:solidFill>
                  <a:srgbClr val="FFFFFF"/>
                </a:solidFill>
                <a:latin typeface="Times New Roman" panose="02020603050405020304" pitchFamily="18" charset="0"/>
                <a:ea typeface="Calibri" pitchFamily="34" charset="-122"/>
                <a:cs typeface="Times New Roman" panose="02020603050405020304" pitchFamily="18" charset="0"/>
              </a:rPr>
              <a:t>Overview Analysis — Key Insights</a:t>
            </a:r>
            <a:endParaRPr lang="en-US" sz="2200" dirty="0">
              <a:latin typeface="Times New Roman" panose="02020603050405020304" pitchFamily="18" charset="0"/>
              <a:cs typeface="Times New Roman" panose="02020603050405020304" pitchFamily="18" charset="0"/>
            </a:endParaRPr>
          </a:p>
        </p:txBody>
      </p:sp>
      <p:sp>
        <p:nvSpPr>
          <p:cNvPr id="5" name="Text 3"/>
          <p:cNvSpPr/>
          <p:nvPr/>
        </p:nvSpPr>
        <p:spPr>
          <a:xfrm>
            <a:off x="365760" y="594360"/>
            <a:ext cx="7315200" cy="365760"/>
          </a:xfrm>
          <a:prstGeom prst="rect">
            <a:avLst/>
          </a:prstGeom>
          <a:noFill/>
          <a:ln/>
        </p:spPr>
        <p:txBody>
          <a:bodyPr wrap="square" rtlCol="0" anchor="ctr"/>
          <a:lstStyle/>
          <a:p>
            <a:pPr marL="0" indent="0">
              <a:buNone/>
            </a:pPr>
            <a:r>
              <a:rPr lang="en-US" sz="1400" i="1" dirty="0">
                <a:solidFill>
                  <a:srgbClr val="B0C4DE"/>
                </a:solidFill>
                <a:latin typeface="Calibri" pitchFamily="34" charset="0"/>
                <a:ea typeface="Calibri" pitchFamily="34" charset="-122"/>
                <a:cs typeface="Calibri" pitchFamily="34" charset="-120"/>
              </a:rPr>
              <a:t>What the National Dashboard Reveals</a:t>
            </a:r>
            <a:endParaRPr lang="en-US" sz="1400" dirty="0"/>
          </a:p>
        </p:txBody>
      </p:sp>
      <p:sp>
        <p:nvSpPr>
          <p:cNvPr id="8" name="Shape 6"/>
          <p:cNvSpPr/>
          <p:nvPr/>
        </p:nvSpPr>
        <p:spPr>
          <a:xfrm>
            <a:off x="274320" y="1188720"/>
            <a:ext cx="164592" cy="658368"/>
          </a:xfrm>
          <a:prstGeom prst="rect">
            <a:avLst/>
          </a:prstGeom>
          <a:solidFill>
            <a:srgbClr val="1565C0"/>
          </a:solidFill>
          <a:ln w="12700">
            <a:solidFill>
              <a:srgbClr val="1565C0"/>
            </a:solidFill>
            <a:prstDash val="solid"/>
          </a:ln>
        </p:spPr>
        <p:txBody>
          <a:bodyPr/>
          <a:lstStyle/>
          <a:p>
            <a:endParaRPr lang="en-IN"/>
          </a:p>
        </p:txBody>
      </p:sp>
      <p:sp>
        <p:nvSpPr>
          <p:cNvPr id="9" name="Text 7"/>
          <p:cNvSpPr/>
          <p:nvPr/>
        </p:nvSpPr>
        <p:spPr>
          <a:xfrm>
            <a:off x="502920" y="1225296"/>
            <a:ext cx="2011680" cy="274320"/>
          </a:xfrm>
          <a:prstGeom prst="rect">
            <a:avLst/>
          </a:prstGeom>
          <a:noFill/>
          <a:ln/>
        </p:spPr>
        <p:txBody>
          <a:bodyPr wrap="square" rtlCol="0" anchor="ctr"/>
          <a:lstStyle/>
          <a:p>
            <a:pPr marL="0" indent="0">
              <a:buNone/>
            </a:pPr>
            <a:r>
              <a:rPr lang="en-US" sz="1100" b="1" dirty="0">
                <a:solidFill>
                  <a:srgbClr val="1A3A5C"/>
                </a:solidFill>
                <a:latin typeface="Calibri" pitchFamily="34" charset="0"/>
                <a:ea typeface="Calibri" pitchFamily="34" charset="-122"/>
                <a:cs typeface="Calibri" pitchFamily="34" charset="-120"/>
              </a:rPr>
              <a:t>NDA Alliance:</a:t>
            </a:r>
            <a:endParaRPr lang="en-US" sz="1100" dirty="0"/>
          </a:p>
        </p:txBody>
      </p:sp>
      <p:sp>
        <p:nvSpPr>
          <p:cNvPr id="10" name="Text 8"/>
          <p:cNvSpPr/>
          <p:nvPr/>
        </p:nvSpPr>
        <p:spPr>
          <a:xfrm>
            <a:off x="502920" y="1499616"/>
            <a:ext cx="8229600" cy="320040"/>
          </a:xfrm>
          <a:prstGeom prst="rect">
            <a:avLst/>
          </a:prstGeom>
          <a:noFill/>
          <a:ln/>
        </p:spPr>
        <p:txBody>
          <a:bodyPr wrap="square" rtlCol="0" anchor="ctr"/>
          <a:lstStyle/>
          <a:p>
            <a:pPr marL="0" indent="0">
              <a:buNone/>
            </a:pPr>
            <a:r>
              <a:rPr lang="en-US" sz="1050" dirty="0">
                <a:solidFill>
                  <a:srgbClr val="64748B"/>
                </a:solidFill>
                <a:latin typeface="Calibri" pitchFamily="34" charset="0"/>
                <a:ea typeface="Calibri" pitchFamily="34" charset="-122"/>
                <a:cs typeface="Calibri" pitchFamily="34" charset="-120"/>
              </a:rPr>
              <a:t>Won 292 seats (54%), giving it a comfortable majority in the 543-seat Lok Sabha with BJP leading at 240 seats.</a:t>
            </a:r>
            <a:endParaRPr lang="en-US" sz="1050" dirty="0"/>
          </a:p>
        </p:txBody>
      </p:sp>
      <p:sp>
        <p:nvSpPr>
          <p:cNvPr id="11" name="Shape 9"/>
          <p:cNvSpPr/>
          <p:nvPr/>
        </p:nvSpPr>
        <p:spPr>
          <a:xfrm>
            <a:off x="274320" y="1938528"/>
            <a:ext cx="164592" cy="658368"/>
          </a:xfrm>
          <a:prstGeom prst="rect">
            <a:avLst/>
          </a:prstGeom>
          <a:solidFill>
            <a:srgbClr val="2E7D32"/>
          </a:solidFill>
          <a:ln w="12700">
            <a:solidFill>
              <a:srgbClr val="2E7D32"/>
            </a:solidFill>
            <a:prstDash val="solid"/>
          </a:ln>
        </p:spPr>
        <p:txBody>
          <a:bodyPr/>
          <a:lstStyle/>
          <a:p>
            <a:endParaRPr lang="en-IN"/>
          </a:p>
        </p:txBody>
      </p:sp>
      <p:sp>
        <p:nvSpPr>
          <p:cNvPr id="12" name="Text 10"/>
          <p:cNvSpPr/>
          <p:nvPr/>
        </p:nvSpPr>
        <p:spPr>
          <a:xfrm>
            <a:off x="502920" y="1975104"/>
            <a:ext cx="2011680" cy="274320"/>
          </a:xfrm>
          <a:prstGeom prst="rect">
            <a:avLst/>
          </a:prstGeom>
          <a:noFill/>
          <a:ln/>
        </p:spPr>
        <p:txBody>
          <a:bodyPr wrap="square" rtlCol="0" anchor="ctr"/>
          <a:lstStyle/>
          <a:p>
            <a:pPr marL="0" indent="0">
              <a:buNone/>
            </a:pPr>
            <a:r>
              <a:rPr lang="en-US" sz="1100" b="1" dirty="0">
                <a:solidFill>
                  <a:srgbClr val="1A3A5C"/>
                </a:solidFill>
                <a:latin typeface="Calibri" pitchFamily="34" charset="0"/>
                <a:ea typeface="Calibri" pitchFamily="34" charset="-122"/>
                <a:cs typeface="Calibri" pitchFamily="34" charset="-120"/>
              </a:rPr>
              <a:t>I.N.D.I.A. Alliance:</a:t>
            </a:r>
            <a:endParaRPr lang="en-US" sz="1100" dirty="0"/>
          </a:p>
        </p:txBody>
      </p:sp>
      <p:sp>
        <p:nvSpPr>
          <p:cNvPr id="13" name="Text 11"/>
          <p:cNvSpPr/>
          <p:nvPr/>
        </p:nvSpPr>
        <p:spPr>
          <a:xfrm>
            <a:off x="502920" y="2249424"/>
            <a:ext cx="8229600" cy="320040"/>
          </a:xfrm>
          <a:prstGeom prst="rect">
            <a:avLst/>
          </a:prstGeom>
          <a:noFill/>
          <a:ln/>
        </p:spPr>
        <p:txBody>
          <a:bodyPr wrap="square" rtlCol="0" anchor="ctr"/>
          <a:lstStyle/>
          <a:p>
            <a:pPr marL="0" indent="0">
              <a:buNone/>
            </a:pPr>
            <a:r>
              <a:rPr lang="en-US" sz="1050" dirty="0">
                <a:solidFill>
                  <a:srgbClr val="64748B"/>
                </a:solidFill>
                <a:latin typeface="Calibri" pitchFamily="34" charset="0"/>
                <a:ea typeface="Calibri" pitchFamily="34" charset="-122"/>
                <a:cs typeface="Calibri" pitchFamily="34" charset="-120"/>
              </a:rPr>
              <a:t>Secured 234 seats (43%), a significant improvement over expectations, led by INC with 99 seats.</a:t>
            </a:r>
            <a:endParaRPr lang="en-US" sz="1050" dirty="0"/>
          </a:p>
        </p:txBody>
      </p:sp>
      <p:sp>
        <p:nvSpPr>
          <p:cNvPr id="14" name="Shape 12"/>
          <p:cNvSpPr/>
          <p:nvPr/>
        </p:nvSpPr>
        <p:spPr>
          <a:xfrm>
            <a:off x="274320" y="2688336"/>
            <a:ext cx="164592" cy="658368"/>
          </a:xfrm>
          <a:prstGeom prst="rect">
            <a:avLst/>
          </a:prstGeom>
          <a:solidFill>
            <a:srgbClr val="E85D1A"/>
          </a:solidFill>
          <a:ln w="12700">
            <a:solidFill>
              <a:srgbClr val="E85D1A"/>
            </a:solidFill>
            <a:prstDash val="solid"/>
          </a:ln>
        </p:spPr>
        <p:txBody>
          <a:bodyPr/>
          <a:lstStyle/>
          <a:p>
            <a:endParaRPr lang="en-IN"/>
          </a:p>
        </p:txBody>
      </p:sp>
      <p:sp>
        <p:nvSpPr>
          <p:cNvPr id="15" name="Text 13"/>
          <p:cNvSpPr/>
          <p:nvPr/>
        </p:nvSpPr>
        <p:spPr>
          <a:xfrm>
            <a:off x="502920" y="2724912"/>
            <a:ext cx="2011680" cy="274320"/>
          </a:xfrm>
          <a:prstGeom prst="rect">
            <a:avLst/>
          </a:prstGeom>
          <a:noFill/>
          <a:ln/>
        </p:spPr>
        <p:txBody>
          <a:bodyPr wrap="square" rtlCol="0" anchor="ctr"/>
          <a:lstStyle/>
          <a:p>
            <a:pPr marL="0" indent="0">
              <a:buNone/>
            </a:pPr>
            <a:r>
              <a:rPr lang="en-US" sz="1100" b="1" dirty="0">
                <a:solidFill>
                  <a:srgbClr val="1A3A5C"/>
                </a:solidFill>
                <a:latin typeface="Calibri" pitchFamily="34" charset="0"/>
                <a:ea typeface="Calibri" pitchFamily="34" charset="-122"/>
                <a:cs typeface="Calibri" pitchFamily="34" charset="-120"/>
              </a:rPr>
              <a:t>Others &amp; Independents:</a:t>
            </a:r>
            <a:endParaRPr lang="en-US" sz="1100" dirty="0"/>
          </a:p>
        </p:txBody>
      </p:sp>
      <p:sp>
        <p:nvSpPr>
          <p:cNvPr id="16" name="Text 14"/>
          <p:cNvSpPr/>
          <p:nvPr/>
        </p:nvSpPr>
        <p:spPr>
          <a:xfrm>
            <a:off x="502920" y="2999232"/>
            <a:ext cx="8229600" cy="320040"/>
          </a:xfrm>
          <a:prstGeom prst="rect">
            <a:avLst/>
          </a:prstGeom>
          <a:noFill/>
          <a:ln/>
        </p:spPr>
        <p:txBody>
          <a:bodyPr wrap="square" rtlCol="0" anchor="ctr"/>
          <a:lstStyle/>
          <a:p>
            <a:pPr marL="0" indent="0">
              <a:buNone/>
            </a:pPr>
            <a:r>
              <a:rPr lang="en-US" sz="1050" dirty="0">
                <a:solidFill>
                  <a:srgbClr val="64748B"/>
                </a:solidFill>
                <a:latin typeface="Calibri" pitchFamily="34" charset="0"/>
                <a:ea typeface="Calibri" pitchFamily="34" charset="-122"/>
                <a:cs typeface="Calibri" pitchFamily="34" charset="-120"/>
              </a:rPr>
              <a:t>17 seats (3%) went to parties outside both major alliances, indicating fragmented regional presence.</a:t>
            </a:r>
            <a:endParaRPr lang="en-US" sz="1050" dirty="0"/>
          </a:p>
        </p:txBody>
      </p:sp>
      <p:sp>
        <p:nvSpPr>
          <p:cNvPr id="17" name="Shape 15"/>
          <p:cNvSpPr/>
          <p:nvPr/>
        </p:nvSpPr>
        <p:spPr>
          <a:xfrm>
            <a:off x="274320" y="3438144"/>
            <a:ext cx="164592" cy="658368"/>
          </a:xfrm>
          <a:prstGeom prst="rect">
            <a:avLst/>
          </a:prstGeom>
          <a:solidFill>
            <a:srgbClr val="7B1FA2"/>
          </a:solidFill>
          <a:ln w="12700">
            <a:solidFill>
              <a:srgbClr val="7B1FA2"/>
            </a:solidFill>
            <a:prstDash val="solid"/>
          </a:ln>
        </p:spPr>
        <p:txBody>
          <a:bodyPr/>
          <a:lstStyle/>
          <a:p>
            <a:endParaRPr lang="en-IN"/>
          </a:p>
        </p:txBody>
      </p:sp>
      <p:sp>
        <p:nvSpPr>
          <p:cNvPr id="18" name="Text 16"/>
          <p:cNvSpPr/>
          <p:nvPr/>
        </p:nvSpPr>
        <p:spPr>
          <a:xfrm>
            <a:off x="502920" y="3474720"/>
            <a:ext cx="2011680" cy="274320"/>
          </a:xfrm>
          <a:prstGeom prst="rect">
            <a:avLst/>
          </a:prstGeom>
          <a:noFill/>
          <a:ln/>
        </p:spPr>
        <p:txBody>
          <a:bodyPr wrap="square" rtlCol="0" anchor="ctr"/>
          <a:lstStyle/>
          <a:p>
            <a:pPr marL="0" indent="0">
              <a:buNone/>
            </a:pPr>
            <a:r>
              <a:rPr lang="en-US" sz="1100" b="1" dirty="0">
                <a:solidFill>
                  <a:srgbClr val="1A3A5C"/>
                </a:solidFill>
                <a:latin typeface="Calibri" pitchFamily="34" charset="0"/>
                <a:ea typeface="Calibri" pitchFamily="34" charset="-122"/>
                <a:cs typeface="Calibri" pitchFamily="34" charset="-120"/>
              </a:rPr>
              <a:t>Total Votes Cast:</a:t>
            </a:r>
            <a:endParaRPr lang="en-US" sz="1100" dirty="0"/>
          </a:p>
        </p:txBody>
      </p:sp>
      <p:sp>
        <p:nvSpPr>
          <p:cNvPr id="19" name="Text 17"/>
          <p:cNvSpPr/>
          <p:nvPr/>
        </p:nvSpPr>
        <p:spPr>
          <a:xfrm>
            <a:off x="502920" y="3749040"/>
            <a:ext cx="8229600" cy="320040"/>
          </a:xfrm>
          <a:prstGeom prst="rect">
            <a:avLst/>
          </a:prstGeom>
          <a:noFill/>
          <a:ln/>
        </p:spPr>
        <p:txBody>
          <a:bodyPr wrap="square" rtlCol="0" anchor="ctr"/>
          <a:lstStyle/>
          <a:p>
            <a:pPr marL="0" indent="0">
              <a:buNone/>
            </a:pPr>
            <a:r>
              <a:rPr lang="en-US" sz="1050" dirty="0">
                <a:solidFill>
                  <a:srgbClr val="64748B"/>
                </a:solidFill>
                <a:latin typeface="Calibri" pitchFamily="34" charset="0"/>
                <a:ea typeface="Calibri" pitchFamily="34" charset="-122"/>
                <a:cs typeface="Calibri" pitchFamily="34" charset="-120"/>
              </a:rPr>
              <a:t>Over 43.4 crore total votes recorded across all constituencies, with 43.3 crore via EVM and 1.39 lakh postal votes.</a:t>
            </a:r>
            <a:endParaRPr lang="en-US" sz="1050" dirty="0"/>
          </a:p>
        </p:txBody>
      </p:sp>
      <p:sp>
        <p:nvSpPr>
          <p:cNvPr id="20" name="Shape 18"/>
          <p:cNvSpPr/>
          <p:nvPr/>
        </p:nvSpPr>
        <p:spPr>
          <a:xfrm>
            <a:off x="274320" y="4187952"/>
            <a:ext cx="164592" cy="658368"/>
          </a:xfrm>
          <a:prstGeom prst="rect">
            <a:avLst/>
          </a:prstGeom>
          <a:solidFill>
            <a:srgbClr val="64748B"/>
          </a:solidFill>
          <a:ln w="12700">
            <a:solidFill>
              <a:srgbClr val="64748B"/>
            </a:solidFill>
            <a:prstDash val="solid"/>
          </a:ln>
        </p:spPr>
        <p:txBody>
          <a:bodyPr/>
          <a:lstStyle/>
          <a:p>
            <a:endParaRPr lang="en-IN"/>
          </a:p>
        </p:txBody>
      </p:sp>
      <p:sp>
        <p:nvSpPr>
          <p:cNvPr id="21" name="Text 19"/>
          <p:cNvSpPr/>
          <p:nvPr/>
        </p:nvSpPr>
        <p:spPr>
          <a:xfrm>
            <a:off x="502920" y="4224528"/>
            <a:ext cx="2011680" cy="274320"/>
          </a:xfrm>
          <a:prstGeom prst="rect">
            <a:avLst/>
          </a:prstGeom>
          <a:noFill/>
          <a:ln/>
        </p:spPr>
        <p:txBody>
          <a:bodyPr wrap="square" rtlCol="0" anchor="ctr"/>
          <a:lstStyle/>
          <a:p>
            <a:pPr marL="0" indent="0">
              <a:buNone/>
            </a:pPr>
            <a:r>
              <a:rPr lang="en-US" sz="1100" b="1" dirty="0">
                <a:solidFill>
                  <a:srgbClr val="1A3A5C"/>
                </a:solidFill>
                <a:latin typeface="Calibri" pitchFamily="34" charset="0"/>
                <a:ea typeface="Calibri" pitchFamily="34" charset="-122"/>
                <a:cs typeface="Calibri" pitchFamily="34" charset="-120"/>
              </a:rPr>
              <a:t>Alliance Composition:</a:t>
            </a:r>
            <a:endParaRPr lang="en-US" sz="1100" dirty="0"/>
          </a:p>
        </p:txBody>
      </p:sp>
      <p:sp>
        <p:nvSpPr>
          <p:cNvPr id="22" name="Text 20"/>
          <p:cNvSpPr/>
          <p:nvPr/>
        </p:nvSpPr>
        <p:spPr>
          <a:xfrm>
            <a:off x="502920" y="4498848"/>
            <a:ext cx="8229600" cy="320040"/>
          </a:xfrm>
          <a:prstGeom prst="rect">
            <a:avLst/>
          </a:prstGeom>
          <a:noFill/>
          <a:ln/>
        </p:spPr>
        <p:txBody>
          <a:bodyPr wrap="square" rtlCol="0" anchor="ctr"/>
          <a:lstStyle/>
          <a:p>
            <a:pPr marL="0" indent="0">
              <a:buNone/>
            </a:pPr>
            <a:r>
              <a:rPr lang="en-US" sz="1050" dirty="0">
                <a:solidFill>
                  <a:srgbClr val="64748B"/>
                </a:solidFill>
                <a:latin typeface="Calibri" pitchFamily="34" charset="0"/>
                <a:ea typeface="Calibri" pitchFamily="34" charset="-122"/>
                <a:cs typeface="Calibri" pitchFamily="34" charset="-120"/>
              </a:rPr>
              <a:t>NDA comprised 14 parties; I.N.D.I.A. alliance had 20 parties — reflecting the coalition nature of modern Indian politics.</a:t>
            </a:r>
            <a:endParaRPr lang="en-US" sz="1050" dirty="0"/>
          </a:p>
        </p:txBody>
      </p:sp>
      <p:sp>
        <p:nvSpPr>
          <p:cNvPr id="23" name="Text 21"/>
          <p:cNvSpPr/>
          <p:nvPr/>
        </p:nvSpPr>
        <p:spPr>
          <a:xfrm>
            <a:off x="0" y="4846320"/>
            <a:ext cx="9144000" cy="274320"/>
          </a:xfrm>
          <a:prstGeom prst="rect">
            <a:avLst/>
          </a:prstGeom>
          <a:noFill/>
          <a:ln/>
        </p:spPr>
        <p:txBody>
          <a:bodyPr wrap="square" rtlCol="0" anchor="ctr"/>
          <a:lstStyle/>
          <a:p>
            <a:pPr marL="0" indent="0" algn="ctr">
              <a:buNone/>
            </a:pPr>
            <a:r>
              <a:rPr lang="en-US" sz="900" dirty="0">
                <a:solidFill>
                  <a:srgbClr val="999999"/>
                </a:solidFill>
                <a:latin typeface="Calibri" pitchFamily="34" charset="0"/>
                <a:ea typeface="Calibri" pitchFamily="34" charset="-122"/>
                <a:cs typeface="Calibri" pitchFamily="34" charset="-120"/>
              </a:rPr>
              <a:t>Infosys ElectViz | Team C | India General Election 2024</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A3A5C"/>
          </a:solidFill>
          <a:ln w="12700">
            <a:solidFill>
              <a:srgbClr val="1A3A5C"/>
            </a:solidFill>
            <a:prstDash val="solid"/>
          </a:ln>
        </p:spPr>
        <p:txBody>
          <a:bodyPr/>
          <a:lstStyle/>
          <a:p>
            <a:endParaRPr lang="en-IN"/>
          </a:p>
        </p:txBody>
      </p:sp>
      <p:sp>
        <p:nvSpPr>
          <p:cNvPr id="3" name="Shape 1"/>
          <p:cNvSpPr/>
          <p:nvPr/>
        </p:nvSpPr>
        <p:spPr>
          <a:xfrm>
            <a:off x="0" y="1005840"/>
            <a:ext cx="9144000" cy="64008"/>
          </a:xfrm>
          <a:prstGeom prst="rect">
            <a:avLst/>
          </a:prstGeom>
          <a:solidFill>
            <a:srgbClr val="E85D1A"/>
          </a:solidFill>
          <a:ln w="12700">
            <a:solidFill>
              <a:srgbClr val="E85D1A"/>
            </a:solidFill>
            <a:prstDash val="solid"/>
          </a:ln>
        </p:spPr>
        <p:txBody>
          <a:bodyPr/>
          <a:lstStyle/>
          <a:p>
            <a:endParaRPr lang="en-IN"/>
          </a:p>
        </p:txBody>
      </p:sp>
      <p:sp>
        <p:nvSpPr>
          <p:cNvPr id="4" name="Text 2"/>
          <p:cNvSpPr/>
          <p:nvPr/>
        </p:nvSpPr>
        <p:spPr>
          <a:xfrm>
            <a:off x="365760" y="91440"/>
            <a:ext cx="7315200" cy="548640"/>
          </a:xfrm>
          <a:prstGeom prst="rect">
            <a:avLst/>
          </a:prstGeom>
          <a:noFill/>
          <a:ln/>
        </p:spPr>
        <p:txBody>
          <a:bodyPr wrap="square" rtlCol="0" anchor="ctr"/>
          <a:lstStyle/>
          <a:p>
            <a:pPr marL="0" indent="0">
              <a:buNone/>
            </a:pPr>
            <a:r>
              <a:rPr lang="en-US" sz="2200" b="1" dirty="0">
                <a:solidFill>
                  <a:srgbClr val="FFFFFF"/>
                </a:solidFill>
                <a:latin typeface="Times New Roman" panose="02020603050405020304" pitchFamily="18" charset="0"/>
                <a:ea typeface="Calibri" pitchFamily="34" charset="-122"/>
                <a:cs typeface="Times New Roman" panose="02020603050405020304" pitchFamily="18" charset="0"/>
              </a:rPr>
              <a:t>Dashboard 2 — State Analysis</a:t>
            </a:r>
            <a:endParaRPr lang="en-US" sz="2200" dirty="0">
              <a:latin typeface="Times New Roman" panose="02020603050405020304" pitchFamily="18" charset="0"/>
              <a:cs typeface="Times New Roman" panose="02020603050405020304" pitchFamily="18" charset="0"/>
            </a:endParaRPr>
          </a:p>
        </p:txBody>
      </p:sp>
      <p:sp>
        <p:nvSpPr>
          <p:cNvPr id="5" name="Text 3"/>
          <p:cNvSpPr/>
          <p:nvPr/>
        </p:nvSpPr>
        <p:spPr>
          <a:xfrm>
            <a:off x="365760" y="594360"/>
            <a:ext cx="7315200" cy="365760"/>
          </a:xfrm>
          <a:prstGeom prst="rect">
            <a:avLst/>
          </a:prstGeom>
          <a:noFill/>
          <a:ln/>
        </p:spPr>
        <p:txBody>
          <a:bodyPr wrap="square" rtlCol="0" anchor="ctr"/>
          <a:lstStyle/>
          <a:p>
            <a:pPr marL="0" indent="0">
              <a:buNone/>
            </a:pPr>
            <a:r>
              <a:rPr lang="en-US" sz="1400" i="1" dirty="0">
                <a:solidFill>
                  <a:srgbClr val="B0C4DE"/>
                </a:solidFill>
                <a:latin typeface="Calibri" pitchFamily="34" charset="0"/>
                <a:ea typeface="Calibri" pitchFamily="34" charset="-122"/>
                <a:cs typeface="Calibri" pitchFamily="34" charset="-120"/>
              </a:rPr>
              <a:t>State-Wise Seat Distribution &amp; Alliance Performance</a:t>
            </a:r>
            <a:endParaRPr lang="en-US" sz="1400" dirty="0"/>
          </a:p>
        </p:txBody>
      </p:sp>
      <p:pic>
        <p:nvPicPr>
          <p:cNvPr id="8" name="Image 0" descr="/home/claude/overview.jpg"/>
          <p:cNvPicPr>
            <a:picLocks noChangeAspect="1"/>
          </p:cNvPicPr>
          <p:nvPr/>
        </p:nvPicPr>
        <p:blipFill>
          <a:blip r:embed="rId3"/>
          <a:srcRect/>
          <a:stretch/>
        </p:blipFill>
        <p:spPr>
          <a:xfrm>
            <a:off x="0" y="1069848"/>
            <a:ext cx="9144000" cy="3776472"/>
          </a:xfrm>
          <a:prstGeom prst="rect">
            <a:avLst/>
          </a:prstGeom>
        </p:spPr>
      </p:pic>
      <p:sp>
        <p:nvSpPr>
          <p:cNvPr id="9" name="Text 6"/>
          <p:cNvSpPr/>
          <p:nvPr/>
        </p:nvSpPr>
        <p:spPr>
          <a:xfrm>
            <a:off x="0" y="4846320"/>
            <a:ext cx="9144000" cy="274320"/>
          </a:xfrm>
          <a:prstGeom prst="rect">
            <a:avLst/>
          </a:prstGeom>
          <a:noFill/>
          <a:ln/>
        </p:spPr>
        <p:txBody>
          <a:bodyPr wrap="square" rtlCol="0" anchor="ctr"/>
          <a:lstStyle/>
          <a:p>
            <a:pPr marL="0" indent="0" algn="ctr">
              <a:buNone/>
            </a:pPr>
            <a:r>
              <a:rPr lang="en-US" sz="900" dirty="0">
                <a:solidFill>
                  <a:srgbClr val="999999"/>
                </a:solidFill>
                <a:latin typeface="Calibri" pitchFamily="34" charset="0"/>
                <a:ea typeface="Calibri" pitchFamily="34" charset="-122"/>
                <a:cs typeface="Calibri" pitchFamily="34" charset="-120"/>
              </a:rPr>
              <a:t>Infosys ElectViz | Team C | India General Election 2024</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A3A5C"/>
          </a:solidFill>
          <a:ln w="12700">
            <a:solidFill>
              <a:srgbClr val="1A3A5C"/>
            </a:solidFill>
            <a:prstDash val="solid"/>
          </a:ln>
        </p:spPr>
        <p:txBody>
          <a:bodyPr/>
          <a:lstStyle/>
          <a:p>
            <a:endParaRPr lang="en-IN"/>
          </a:p>
        </p:txBody>
      </p:sp>
      <p:sp>
        <p:nvSpPr>
          <p:cNvPr id="3" name="Shape 1"/>
          <p:cNvSpPr/>
          <p:nvPr/>
        </p:nvSpPr>
        <p:spPr>
          <a:xfrm>
            <a:off x="0" y="1005840"/>
            <a:ext cx="9144000" cy="64008"/>
          </a:xfrm>
          <a:prstGeom prst="rect">
            <a:avLst/>
          </a:prstGeom>
          <a:solidFill>
            <a:srgbClr val="E85D1A"/>
          </a:solidFill>
          <a:ln w="12700">
            <a:solidFill>
              <a:srgbClr val="E85D1A"/>
            </a:solidFill>
            <a:prstDash val="solid"/>
          </a:ln>
        </p:spPr>
        <p:txBody>
          <a:bodyPr/>
          <a:lstStyle/>
          <a:p>
            <a:endParaRPr lang="en-IN"/>
          </a:p>
        </p:txBody>
      </p:sp>
      <p:sp>
        <p:nvSpPr>
          <p:cNvPr id="4" name="Text 2"/>
          <p:cNvSpPr/>
          <p:nvPr/>
        </p:nvSpPr>
        <p:spPr>
          <a:xfrm>
            <a:off x="365760" y="91440"/>
            <a:ext cx="7315200" cy="548640"/>
          </a:xfrm>
          <a:prstGeom prst="rect">
            <a:avLst/>
          </a:prstGeom>
          <a:noFill/>
          <a:ln/>
        </p:spPr>
        <p:txBody>
          <a:bodyPr wrap="square" rtlCol="0" anchor="ctr"/>
          <a:lstStyle/>
          <a:p>
            <a:pPr marL="0" indent="0">
              <a:buNone/>
            </a:pPr>
            <a:r>
              <a:rPr lang="en-US" sz="2200" b="1" dirty="0">
                <a:solidFill>
                  <a:srgbClr val="FFFFFF"/>
                </a:solidFill>
                <a:latin typeface="Times New Roman" panose="02020603050405020304" pitchFamily="18" charset="0"/>
                <a:ea typeface="Calibri" pitchFamily="34" charset="-122"/>
                <a:cs typeface="Times New Roman" panose="02020603050405020304" pitchFamily="18" charset="0"/>
              </a:rPr>
              <a:t>State Analysis — Overview &amp; Features</a:t>
            </a:r>
            <a:endParaRPr lang="en-US" sz="2200" dirty="0">
              <a:latin typeface="Times New Roman" panose="02020603050405020304" pitchFamily="18" charset="0"/>
              <a:cs typeface="Times New Roman" panose="02020603050405020304" pitchFamily="18" charset="0"/>
            </a:endParaRPr>
          </a:p>
        </p:txBody>
      </p:sp>
      <p:sp>
        <p:nvSpPr>
          <p:cNvPr id="5" name="Text 3"/>
          <p:cNvSpPr/>
          <p:nvPr/>
        </p:nvSpPr>
        <p:spPr>
          <a:xfrm>
            <a:off x="365760" y="594360"/>
            <a:ext cx="7315200" cy="365760"/>
          </a:xfrm>
          <a:prstGeom prst="rect">
            <a:avLst/>
          </a:prstGeom>
          <a:noFill/>
          <a:ln/>
        </p:spPr>
        <p:txBody>
          <a:bodyPr wrap="square" rtlCol="0" anchor="ctr"/>
          <a:lstStyle/>
          <a:p>
            <a:pPr marL="0" indent="0">
              <a:buNone/>
            </a:pPr>
            <a:r>
              <a:rPr lang="en-US" sz="1400" i="1" dirty="0">
                <a:solidFill>
                  <a:srgbClr val="B0C4DE"/>
                </a:solidFill>
                <a:latin typeface="Calibri" pitchFamily="34" charset="0"/>
                <a:ea typeface="Calibri" pitchFamily="34" charset="-122"/>
                <a:cs typeface="Calibri" pitchFamily="34" charset="-120"/>
              </a:rPr>
              <a:t>How the State Dashboard Works</a:t>
            </a:r>
            <a:endParaRPr lang="en-US" sz="1400" dirty="0"/>
          </a:p>
        </p:txBody>
      </p:sp>
      <p:sp>
        <p:nvSpPr>
          <p:cNvPr id="8" name="Text 6"/>
          <p:cNvSpPr/>
          <p:nvPr/>
        </p:nvSpPr>
        <p:spPr>
          <a:xfrm>
            <a:off x="365760" y="1143000"/>
            <a:ext cx="8412480" cy="502920"/>
          </a:xfrm>
          <a:prstGeom prst="rect">
            <a:avLst/>
          </a:prstGeom>
          <a:noFill/>
          <a:ln/>
        </p:spPr>
        <p:txBody>
          <a:bodyPr wrap="square" rtlCol="0" anchor="ctr"/>
          <a:lstStyle/>
          <a:p>
            <a:pPr marL="0" indent="0">
              <a:buNone/>
            </a:pPr>
            <a:r>
              <a:rPr lang="en-US" sz="1200" i="1" dirty="0">
                <a:solidFill>
                  <a:srgbClr val="64748B"/>
                </a:solidFill>
                <a:latin typeface="Calibri" pitchFamily="34" charset="0"/>
                <a:ea typeface="Calibri" pitchFamily="34" charset="-122"/>
                <a:cs typeface="Calibri" pitchFamily="34" charset="-120"/>
              </a:rPr>
              <a:t>The State Analysis Dashboard provides a comprehensive state-wise breakdown of election results with interactive drill-down capabilities.</a:t>
            </a:r>
            <a:endParaRPr lang="en-US" sz="1200" dirty="0"/>
          </a:p>
        </p:txBody>
      </p:sp>
      <p:sp>
        <p:nvSpPr>
          <p:cNvPr id="9" name="Shape 7"/>
          <p:cNvSpPr/>
          <p:nvPr/>
        </p:nvSpPr>
        <p:spPr>
          <a:xfrm>
            <a:off x="274320" y="1737360"/>
            <a:ext cx="4114800" cy="804672"/>
          </a:xfrm>
          <a:prstGeom prst="rect">
            <a:avLst/>
          </a:prstGeom>
          <a:solidFill>
            <a:srgbClr val="F0F4F8"/>
          </a:solidFill>
          <a:ln w="6350">
            <a:solidFill>
              <a:srgbClr val="CBD5E1"/>
            </a:solidFill>
            <a:prstDash val="solid"/>
          </a:ln>
        </p:spPr>
        <p:txBody>
          <a:bodyPr/>
          <a:lstStyle/>
          <a:p>
            <a:endParaRPr lang="en-IN"/>
          </a:p>
        </p:txBody>
      </p:sp>
      <p:sp>
        <p:nvSpPr>
          <p:cNvPr id="10" name="Text 8"/>
          <p:cNvSpPr/>
          <p:nvPr/>
        </p:nvSpPr>
        <p:spPr>
          <a:xfrm>
            <a:off x="411480" y="1801368"/>
            <a:ext cx="3840480" cy="274320"/>
          </a:xfrm>
          <a:prstGeom prst="rect">
            <a:avLst/>
          </a:prstGeom>
          <a:noFill/>
          <a:ln/>
        </p:spPr>
        <p:txBody>
          <a:bodyPr wrap="square" rtlCol="0" anchor="ctr"/>
          <a:lstStyle/>
          <a:p>
            <a:pPr marL="0" indent="0">
              <a:buNone/>
            </a:pPr>
            <a:r>
              <a:rPr lang="en-US" sz="1100" b="1" dirty="0">
                <a:solidFill>
                  <a:srgbClr val="1A3A5C"/>
                </a:solidFill>
                <a:latin typeface="Times New Roman" panose="02020603050405020304" pitchFamily="18" charset="0"/>
                <a:ea typeface="Calibri" pitchFamily="34" charset="-122"/>
                <a:cs typeface="Times New Roman" panose="02020603050405020304" pitchFamily="18" charset="0"/>
              </a:rPr>
              <a:t>State Selector</a:t>
            </a:r>
            <a:endParaRPr lang="en-US" sz="1100" dirty="0">
              <a:latin typeface="Times New Roman" panose="02020603050405020304" pitchFamily="18" charset="0"/>
              <a:cs typeface="Times New Roman" panose="02020603050405020304" pitchFamily="18" charset="0"/>
            </a:endParaRPr>
          </a:p>
        </p:txBody>
      </p:sp>
      <p:sp>
        <p:nvSpPr>
          <p:cNvPr id="11" name="Text 9"/>
          <p:cNvSpPr/>
          <p:nvPr/>
        </p:nvSpPr>
        <p:spPr>
          <a:xfrm>
            <a:off x="411480" y="2084832"/>
            <a:ext cx="3840480" cy="411480"/>
          </a:xfrm>
          <a:prstGeom prst="rect">
            <a:avLst/>
          </a:prstGeom>
          <a:noFill/>
          <a:ln/>
        </p:spPr>
        <p:txBody>
          <a:bodyPr wrap="square" rtlCol="0" anchor="ctr"/>
          <a:lstStyle/>
          <a:p>
            <a:pPr marL="0" indent="0">
              <a:buNone/>
            </a:pPr>
            <a:r>
              <a:rPr lang="en-US" sz="950" dirty="0">
                <a:solidFill>
                  <a:schemeClr val="tx1">
                    <a:lumMod val="95000"/>
                    <a:lumOff val="5000"/>
                  </a:schemeClr>
                </a:solidFill>
                <a:latin typeface="Times New Roman" panose="02020603050405020304" pitchFamily="18" charset="0"/>
                <a:ea typeface="Calibri" pitchFamily="34" charset="-122"/>
                <a:cs typeface="Times New Roman" panose="02020603050405020304" pitchFamily="18" charset="0"/>
              </a:rPr>
              <a:t>A dropdown slicer allows users to filter all visuals for any specific state, enabling focused state-level analysis.</a:t>
            </a:r>
            <a:endParaRPr lang="en-US" sz="950"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12" name="Shape 10"/>
          <p:cNvSpPr/>
          <p:nvPr/>
        </p:nvSpPr>
        <p:spPr>
          <a:xfrm>
            <a:off x="4663440" y="1737360"/>
            <a:ext cx="4114800" cy="804672"/>
          </a:xfrm>
          <a:prstGeom prst="rect">
            <a:avLst/>
          </a:prstGeom>
          <a:solidFill>
            <a:srgbClr val="FFFFFF"/>
          </a:solidFill>
          <a:ln w="6350">
            <a:solidFill>
              <a:srgbClr val="CBD5E1"/>
            </a:solidFill>
            <a:prstDash val="solid"/>
          </a:ln>
        </p:spPr>
        <p:txBody>
          <a:bodyPr/>
          <a:lstStyle/>
          <a:p>
            <a:endParaRPr lang="en-IN"/>
          </a:p>
        </p:txBody>
      </p:sp>
      <p:sp>
        <p:nvSpPr>
          <p:cNvPr id="13" name="Text 11"/>
          <p:cNvSpPr/>
          <p:nvPr/>
        </p:nvSpPr>
        <p:spPr>
          <a:xfrm>
            <a:off x="4800600" y="1801368"/>
            <a:ext cx="3840480" cy="274320"/>
          </a:xfrm>
          <a:prstGeom prst="rect">
            <a:avLst/>
          </a:prstGeom>
          <a:noFill/>
          <a:ln/>
        </p:spPr>
        <p:txBody>
          <a:bodyPr wrap="square" rtlCol="0" anchor="ctr"/>
          <a:lstStyle/>
          <a:p>
            <a:pPr marL="0" indent="0">
              <a:buNone/>
            </a:pPr>
            <a:r>
              <a:rPr lang="en-US" sz="1100" b="1" dirty="0">
                <a:solidFill>
                  <a:srgbClr val="1A3A5C"/>
                </a:solidFill>
                <a:latin typeface="Times New Roman" panose="02020603050405020304" pitchFamily="18" charset="0"/>
                <a:ea typeface="Calibri" pitchFamily="34" charset="-122"/>
                <a:cs typeface="Times New Roman" panose="02020603050405020304" pitchFamily="18" charset="0"/>
              </a:rPr>
              <a:t>Alliance KPIs</a:t>
            </a:r>
            <a:endParaRPr lang="en-US" sz="1100" dirty="0">
              <a:latin typeface="Times New Roman" panose="02020603050405020304" pitchFamily="18" charset="0"/>
              <a:cs typeface="Times New Roman" panose="02020603050405020304" pitchFamily="18" charset="0"/>
            </a:endParaRPr>
          </a:p>
        </p:txBody>
      </p:sp>
      <p:sp>
        <p:nvSpPr>
          <p:cNvPr id="14" name="Text 12"/>
          <p:cNvSpPr/>
          <p:nvPr/>
        </p:nvSpPr>
        <p:spPr>
          <a:xfrm>
            <a:off x="4800600" y="2084832"/>
            <a:ext cx="3840480" cy="411480"/>
          </a:xfrm>
          <a:prstGeom prst="rect">
            <a:avLst/>
          </a:prstGeom>
          <a:noFill/>
          <a:ln/>
        </p:spPr>
        <p:txBody>
          <a:bodyPr wrap="square" rtlCol="0" anchor="ctr"/>
          <a:lstStyle/>
          <a:p>
            <a:pPr marL="0" indent="0">
              <a:buNone/>
            </a:pPr>
            <a:r>
              <a:rPr lang="en-US" sz="950" dirty="0">
                <a:solidFill>
                  <a:schemeClr val="tx1">
                    <a:lumMod val="95000"/>
                    <a:lumOff val="5000"/>
                  </a:schemeClr>
                </a:solidFill>
                <a:latin typeface="Times New Roman" panose="02020603050405020304" pitchFamily="18" charset="0"/>
                <a:ea typeface="Calibri" pitchFamily="34" charset="-122"/>
                <a:cs typeface="Times New Roman" panose="02020603050405020304" pitchFamily="18" charset="0"/>
              </a:rPr>
              <a:t>Displays NDA, I.N.D.I.A., and Others seat counts and seat percentages prominently as card visuals for the selected state.</a:t>
            </a:r>
            <a:endParaRPr lang="en-US" sz="950"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15" name="Shape 13"/>
          <p:cNvSpPr/>
          <p:nvPr/>
        </p:nvSpPr>
        <p:spPr>
          <a:xfrm>
            <a:off x="274320" y="2651760"/>
            <a:ext cx="4114800" cy="804672"/>
          </a:xfrm>
          <a:prstGeom prst="rect">
            <a:avLst/>
          </a:prstGeom>
          <a:solidFill>
            <a:srgbClr val="F0F4F8"/>
          </a:solidFill>
          <a:ln w="6350">
            <a:solidFill>
              <a:srgbClr val="CBD5E1"/>
            </a:solidFill>
            <a:prstDash val="solid"/>
          </a:ln>
        </p:spPr>
        <p:txBody>
          <a:bodyPr/>
          <a:lstStyle/>
          <a:p>
            <a:endParaRPr lang="en-IN"/>
          </a:p>
        </p:txBody>
      </p:sp>
      <p:sp>
        <p:nvSpPr>
          <p:cNvPr id="16" name="Text 14"/>
          <p:cNvSpPr/>
          <p:nvPr/>
        </p:nvSpPr>
        <p:spPr>
          <a:xfrm>
            <a:off x="411480" y="2715768"/>
            <a:ext cx="3840480" cy="274320"/>
          </a:xfrm>
          <a:prstGeom prst="rect">
            <a:avLst/>
          </a:prstGeom>
          <a:noFill/>
          <a:ln/>
        </p:spPr>
        <p:txBody>
          <a:bodyPr wrap="square" rtlCol="0" anchor="ctr"/>
          <a:lstStyle/>
          <a:p>
            <a:pPr marL="0" indent="0">
              <a:buNone/>
            </a:pPr>
            <a:r>
              <a:rPr lang="en-US" sz="1100" b="1" dirty="0">
                <a:solidFill>
                  <a:srgbClr val="1A3A5C"/>
                </a:solidFill>
                <a:latin typeface="Times New Roman" panose="02020603050405020304" pitchFamily="18" charset="0"/>
                <a:ea typeface="Calibri" pitchFamily="34" charset="-122"/>
                <a:cs typeface="Times New Roman" panose="02020603050405020304" pitchFamily="18" charset="0"/>
              </a:rPr>
              <a:t>Party-Wise Result Table</a:t>
            </a:r>
            <a:endParaRPr lang="en-US" sz="1100" dirty="0">
              <a:latin typeface="Times New Roman" panose="02020603050405020304" pitchFamily="18" charset="0"/>
              <a:cs typeface="Times New Roman" panose="02020603050405020304" pitchFamily="18" charset="0"/>
            </a:endParaRPr>
          </a:p>
        </p:txBody>
      </p:sp>
      <p:sp>
        <p:nvSpPr>
          <p:cNvPr id="17" name="Text 15"/>
          <p:cNvSpPr/>
          <p:nvPr/>
        </p:nvSpPr>
        <p:spPr>
          <a:xfrm>
            <a:off x="411480" y="2999232"/>
            <a:ext cx="3840480" cy="411480"/>
          </a:xfrm>
          <a:prstGeom prst="rect">
            <a:avLst/>
          </a:prstGeom>
          <a:noFill/>
          <a:ln/>
        </p:spPr>
        <p:txBody>
          <a:bodyPr wrap="square" rtlCol="0" anchor="ctr"/>
          <a:lstStyle/>
          <a:p>
            <a:pPr marL="0" indent="0">
              <a:buNone/>
            </a:pPr>
            <a:r>
              <a:rPr lang="en-US" sz="950" dirty="0">
                <a:solidFill>
                  <a:schemeClr val="tx1">
                    <a:lumMod val="95000"/>
                    <a:lumOff val="5000"/>
                  </a:schemeClr>
                </a:solidFill>
                <a:latin typeface="Times New Roman" panose="02020603050405020304" pitchFamily="18" charset="0"/>
                <a:ea typeface="Calibri" pitchFamily="34" charset="-122"/>
                <a:cs typeface="Times New Roman" panose="02020603050405020304" pitchFamily="18" charset="0"/>
              </a:rPr>
              <a:t>Tabular breakdown of each party's alliance and total seats won, filterable by state selection.</a:t>
            </a:r>
            <a:endParaRPr lang="en-US" sz="950"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18" name="Shape 16"/>
          <p:cNvSpPr/>
          <p:nvPr/>
        </p:nvSpPr>
        <p:spPr>
          <a:xfrm>
            <a:off x="4663440" y="2651760"/>
            <a:ext cx="4114800" cy="804672"/>
          </a:xfrm>
          <a:prstGeom prst="rect">
            <a:avLst/>
          </a:prstGeom>
          <a:solidFill>
            <a:srgbClr val="FFFFFF"/>
          </a:solidFill>
          <a:ln w="6350">
            <a:solidFill>
              <a:srgbClr val="CBD5E1"/>
            </a:solidFill>
            <a:prstDash val="solid"/>
          </a:ln>
        </p:spPr>
        <p:txBody>
          <a:bodyPr/>
          <a:lstStyle/>
          <a:p>
            <a:endParaRPr lang="en-IN"/>
          </a:p>
        </p:txBody>
      </p:sp>
      <p:sp>
        <p:nvSpPr>
          <p:cNvPr id="19" name="Text 17"/>
          <p:cNvSpPr/>
          <p:nvPr/>
        </p:nvSpPr>
        <p:spPr>
          <a:xfrm>
            <a:off x="4800600" y="2715768"/>
            <a:ext cx="3840480" cy="274320"/>
          </a:xfrm>
          <a:prstGeom prst="rect">
            <a:avLst/>
          </a:prstGeom>
          <a:noFill/>
          <a:ln/>
        </p:spPr>
        <p:txBody>
          <a:bodyPr wrap="square" rtlCol="0" anchor="ctr"/>
          <a:lstStyle/>
          <a:p>
            <a:pPr marL="0" indent="0">
              <a:buNone/>
            </a:pPr>
            <a:r>
              <a:rPr lang="en-US" sz="1100" b="1" dirty="0">
                <a:solidFill>
                  <a:srgbClr val="1A3A5C"/>
                </a:solidFill>
                <a:latin typeface="Times New Roman" panose="02020603050405020304" pitchFamily="18" charset="0"/>
                <a:ea typeface="Calibri" pitchFamily="34" charset="-122"/>
                <a:cs typeface="Times New Roman" panose="02020603050405020304" pitchFamily="18" charset="0"/>
              </a:rPr>
              <a:t>Vote Distribution Charts</a:t>
            </a:r>
            <a:endParaRPr lang="en-US" sz="1100" dirty="0">
              <a:latin typeface="Times New Roman" panose="02020603050405020304" pitchFamily="18" charset="0"/>
              <a:cs typeface="Times New Roman" panose="02020603050405020304" pitchFamily="18" charset="0"/>
            </a:endParaRPr>
          </a:p>
        </p:txBody>
      </p:sp>
      <p:sp>
        <p:nvSpPr>
          <p:cNvPr id="20" name="Text 18"/>
          <p:cNvSpPr/>
          <p:nvPr/>
        </p:nvSpPr>
        <p:spPr>
          <a:xfrm>
            <a:off x="4800600" y="2999232"/>
            <a:ext cx="3840480" cy="411480"/>
          </a:xfrm>
          <a:prstGeom prst="rect">
            <a:avLst/>
          </a:prstGeom>
          <a:noFill/>
          <a:ln/>
        </p:spPr>
        <p:txBody>
          <a:bodyPr wrap="square" rtlCol="0" anchor="ctr"/>
          <a:lstStyle/>
          <a:p>
            <a:pPr marL="0" indent="0">
              <a:buNone/>
            </a:pPr>
            <a:r>
              <a:rPr lang="en-US" sz="950" dirty="0">
                <a:solidFill>
                  <a:schemeClr val="tx1">
                    <a:lumMod val="95000"/>
                    <a:lumOff val="5000"/>
                  </a:schemeClr>
                </a:solidFill>
                <a:latin typeface="Times New Roman" panose="02020603050405020304" pitchFamily="18" charset="0"/>
                <a:ea typeface="Calibri" pitchFamily="34" charset="-122"/>
                <a:cs typeface="Times New Roman" panose="02020603050405020304" pitchFamily="18" charset="0"/>
              </a:rPr>
              <a:t>Bar chart showing total votes by top candidates; donut chart illustrating seat share by party won.</a:t>
            </a:r>
            <a:endParaRPr lang="en-US" sz="950"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21" name="Shape 19"/>
          <p:cNvSpPr/>
          <p:nvPr/>
        </p:nvSpPr>
        <p:spPr>
          <a:xfrm>
            <a:off x="274320" y="3566160"/>
            <a:ext cx="4114800" cy="804672"/>
          </a:xfrm>
          <a:prstGeom prst="rect">
            <a:avLst/>
          </a:prstGeom>
          <a:solidFill>
            <a:srgbClr val="F0F4F8"/>
          </a:solidFill>
          <a:ln w="6350">
            <a:solidFill>
              <a:srgbClr val="CBD5E1"/>
            </a:solidFill>
            <a:prstDash val="solid"/>
          </a:ln>
        </p:spPr>
        <p:txBody>
          <a:bodyPr/>
          <a:lstStyle/>
          <a:p>
            <a:endParaRPr lang="en-IN"/>
          </a:p>
        </p:txBody>
      </p:sp>
      <p:sp>
        <p:nvSpPr>
          <p:cNvPr id="22" name="Text 20"/>
          <p:cNvSpPr/>
          <p:nvPr/>
        </p:nvSpPr>
        <p:spPr>
          <a:xfrm>
            <a:off x="411480" y="3630168"/>
            <a:ext cx="3840480" cy="274320"/>
          </a:xfrm>
          <a:prstGeom prst="rect">
            <a:avLst/>
          </a:prstGeom>
          <a:noFill/>
          <a:ln/>
        </p:spPr>
        <p:txBody>
          <a:bodyPr wrap="square" rtlCol="0" anchor="ctr"/>
          <a:lstStyle/>
          <a:p>
            <a:pPr marL="0" indent="0">
              <a:buNone/>
            </a:pPr>
            <a:r>
              <a:rPr lang="en-US" sz="1100" b="1" dirty="0">
                <a:solidFill>
                  <a:srgbClr val="1A3A5C"/>
                </a:solidFill>
                <a:latin typeface="Times New Roman" panose="02020603050405020304" pitchFamily="18" charset="0"/>
                <a:ea typeface="Calibri" pitchFamily="34" charset="-122"/>
                <a:cs typeface="Times New Roman" panose="02020603050405020304" pitchFamily="18" charset="0"/>
              </a:rPr>
              <a:t>Bihar Example Shown</a:t>
            </a:r>
            <a:endParaRPr lang="en-US" sz="1100" dirty="0">
              <a:latin typeface="Times New Roman" panose="02020603050405020304" pitchFamily="18" charset="0"/>
              <a:cs typeface="Times New Roman" panose="02020603050405020304" pitchFamily="18" charset="0"/>
            </a:endParaRPr>
          </a:p>
        </p:txBody>
      </p:sp>
      <p:sp>
        <p:nvSpPr>
          <p:cNvPr id="23" name="Text 21"/>
          <p:cNvSpPr/>
          <p:nvPr/>
        </p:nvSpPr>
        <p:spPr>
          <a:xfrm>
            <a:off x="411480" y="3913632"/>
            <a:ext cx="3840480" cy="411480"/>
          </a:xfrm>
          <a:prstGeom prst="rect">
            <a:avLst/>
          </a:prstGeom>
          <a:noFill/>
          <a:ln/>
        </p:spPr>
        <p:txBody>
          <a:bodyPr wrap="square" rtlCol="0" anchor="ctr"/>
          <a:lstStyle/>
          <a:p>
            <a:pPr marL="0" indent="0">
              <a:buNone/>
            </a:pPr>
            <a:r>
              <a:rPr lang="en-US" sz="950" dirty="0">
                <a:solidFill>
                  <a:schemeClr val="tx1">
                    <a:lumMod val="95000"/>
                    <a:lumOff val="5000"/>
                  </a:schemeClr>
                </a:solidFill>
                <a:latin typeface="Times New Roman" panose="02020603050405020304" pitchFamily="18" charset="0"/>
                <a:ea typeface="Calibri" pitchFamily="34" charset="-122"/>
                <a:cs typeface="Times New Roman" panose="02020603050405020304" pitchFamily="18" charset="0"/>
              </a:rPr>
              <a:t>For Bihar: NDA won 292 total seats nationally; JD(U) contributed 805 seats, BJP 369, and HAMS 664 at candidate level.</a:t>
            </a:r>
            <a:endParaRPr lang="en-US" sz="950"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24" name="Shape 22"/>
          <p:cNvSpPr/>
          <p:nvPr/>
        </p:nvSpPr>
        <p:spPr>
          <a:xfrm>
            <a:off x="4663440" y="3566160"/>
            <a:ext cx="4114800" cy="804672"/>
          </a:xfrm>
          <a:prstGeom prst="rect">
            <a:avLst/>
          </a:prstGeom>
          <a:solidFill>
            <a:srgbClr val="FFFFFF"/>
          </a:solidFill>
          <a:ln w="6350">
            <a:solidFill>
              <a:srgbClr val="CBD5E1"/>
            </a:solidFill>
            <a:prstDash val="solid"/>
          </a:ln>
        </p:spPr>
        <p:txBody>
          <a:bodyPr/>
          <a:lstStyle/>
          <a:p>
            <a:endParaRPr lang="en-IN"/>
          </a:p>
        </p:txBody>
      </p:sp>
      <p:sp>
        <p:nvSpPr>
          <p:cNvPr id="25" name="Text 23"/>
          <p:cNvSpPr/>
          <p:nvPr/>
        </p:nvSpPr>
        <p:spPr>
          <a:xfrm>
            <a:off x="4800600" y="3630168"/>
            <a:ext cx="3840480" cy="274320"/>
          </a:xfrm>
          <a:prstGeom prst="rect">
            <a:avLst/>
          </a:prstGeom>
          <a:noFill/>
          <a:ln/>
        </p:spPr>
        <p:txBody>
          <a:bodyPr wrap="square" rtlCol="0" anchor="ctr"/>
          <a:lstStyle/>
          <a:p>
            <a:pPr marL="0" indent="0">
              <a:buNone/>
            </a:pPr>
            <a:r>
              <a:rPr lang="en-US" sz="1100" b="1" dirty="0">
                <a:solidFill>
                  <a:srgbClr val="1A3A5C"/>
                </a:solidFill>
                <a:latin typeface="Times New Roman" panose="02020603050405020304" pitchFamily="18" charset="0"/>
                <a:ea typeface="Calibri" pitchFamily="34" charset="-122"/>
                <a:cs typeface="Times New Roman" panose="02020603050405020304" pitchFamily="18" charset="0"/>
              </a:rPr>
              <a:t>EVM vs Postal Votes</a:t>
            </a:r>
            <a:endParaRPr lang="en-US" sz="1100" dirty="0">
              <a:latin typeface="Times New Roman" panose="02020603050405020304" pitchFamily="18" charset="0"/>
              <a:cs typeface="Times New Roman" panose="02020603050405020304" pitchFamily="18" charset="0"/>
            </a:endParaRPr>
          </a:p>
        </p:txBody>
      </p:sp>
      <p:sp>
        <p:nvSpPr>
          <p:cNvPr id="26" name="Text 24"/>
          <p:cNvSpPr/>
          <p:nvPr/>
        </p:nvSpPr>
        <p:spPr>
          <a:xfrm>
            <a:off x="4800600" y="3913632"/>
            <a:ext cx="3840480" cy="411480"/>
          </a:xfrm>
          <a:prstGeom prst="rect">
            <a:avLst/>
          </a:prstGeom>
          <a:noFill/>
          <a:ln/>
        </p:spPr>
        <p:txBody>
          <a:bodyPr wrap="square" rtlCol="0" anchor="ctr"/>
          <a:lstStyle/>
          <a:p>
            <a:pPr marL="0" indent="0">
              <a:buNone/>
            </a:pPr>
            <a:r>
              <a:rPr lang="en-US" sz="950" dirty="0">
                <a:solidFill>
                  <a:schemeClr val="tx1">
                    <a:lumMod val="95000"/>
                    <a:lumOff val="5000"/>
                  </a:schemeClr>
                </a:solidFill>
                <a:latin typeface="Times New Roman" panose="02020603050405020304" pitchFamily="18" charset="0"/>
                <a:ea typeface="Calibri" pitchFamily="34" charset="-122"/>
                <a:cs typeface="Times New Roman" panose="02020603050405020304" pitchFamily="18" charset="0"/>
              </a:rPr>
              <a:t>Dashboard compares total EVM votes (43.3 Cr) against postal votes (1.38 lakh) for transparency.</a:t>
            </a:r>
            <a:endParaRPr lang="en-US" sz="950"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27" name="Text 25"/>
          <p:cNvSpPr/>
          <p:nvPr/>
        </p:nvSpPr>
        <p:spPr>
          <a:xfrm>
            <a:off x="0" y="4846320"/>
            <a:ext cx="9144000" cy="274320"/>
          </a:xfrm>
          <a:prstGeom prst="rect">
            <a:avLst/>
          </a:prstGeom>
          <a:noFill/>
          <a:ln/>
        </p:spPr>
        <p:txBody>
          <a:bodyPr wrap="square" rtlCol="0" anchor="ctr"/>
          <a:lstStyle/>
          <a:p>
            <a:pPr marL="0" indent="0" algn="ctr">
              <a:buNone/>
            </a:pPr>
            <a:r>
              <a:rPr lang="en-US" sz="900" dirty="0">
                <a:solidFill>
                  <a:srgbClr val="999999"/>
                </a:solidFill>
                <a:latin typeface="Calibri" pitchFamily="34" charset="0"/>
                <a:ea typeface="Calibri" pitchFamily="34" charset="-122"/>
                <a:cs typeface="Calibri" pitchFamily="34" charset="-120"/>
              </a:rPr>
              <a:t>Infosys ElectViz | Team C | India General Election 2024</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A3A5C"/>
          </a:solidFill>
          <a:ln w="12700">
            <a:solidFill>
              <a:srgbClr val="1A3A5C"/>
            </a:solidFill>
            <a:prstDash val="solid"/>
          </a:ln>
        </p:spPr>
        <p:txBody>
          <a:bodyPr/>
          <a:lstStyle/>
          <a:p>
            <a:endParaRPr lang="en-IN"/>
          </a:p>
        </p:txBody>
      </p:sp>
      <p:sp>
        <p:nvSpPr>
          <p:cNvPr id="3" name="Shape 1"/>
          <p:cNvSpPr/>
          <p:nvPr/>
        </p:nvSpPr>
        <p:spPr>
          <a:xfrm>
            <a:off x="0" y="1005840"/>
            <a:ext cx="9144000" cy="64008"/>
          </a:xfrm>
          <a:prstGeom prst="rect">
            <a:avLst/>
          </a:prstGeom>
          <a:solidFill>
            <a:srgbClr val="E85D1A"/>
          </a:solidFill>
          <a:ln w="12700">
            <a:solidFill>
              <a:srgbClr val="E85D1A"/>
            </a:solidFill>
            <a:prstDash val="solid"/>
          </a:ln>
        </p:spPr>
        <p:txBody>
          <a:bodyPr/>
          <a:lstStyle/>
          <a:p>
            <a:endParaRPr lang="en-IN"/>
          </a:p>
        </p:txBody>
      </p:sp>
      <p:sp>
        <p:nvSpPr>
          <p:cNvPr id="4" name="Text 2"/>
          <p:cNvSpPr/>
          <p:nvPr/>
        </p:nvSpPr>
        <p:spPr>
          <a:xfrm>
            <a:off x="365760" y="91440"/>
            <a:ext cx="7315200" cy="548640"/>
          </a:xfrm>
          <a:prstGeom prst="rect">
            <a:avLst/>
          </a:prstGeom>
          <a:noFill/>
          <a:ln/>
        </p:spPr>
        <p:txBody>
          <a:bodyPr wrap="square" rtlCol="0" anchor="ctr"/>
          <a:lstStyle/>
          <a:p>
            <a:pPr marL="0" indent="0">
              <a:buNone/>
            </a:pPr>
            <a:r>
              <a:rPr lang="en-US" sz="2200" b="1" dirty="0">
                <a:solidFill>
                  <a:srgbClr val="FFFFFF"/>
                </a:solidFill>
                <a:latin typeface="Times New Roman" panose="02020603050405020304" pitchFamily="18" charset="0"/>
                <a:ea typeface="Calibri" pitchFamily="34" charset="-122"/>
                <a:cs typeface="Times New Roman" panose="02020603050405020304" pitchFamily="18" charset="0"/>
              </a:rPr>
              <a:t>Dashboard 3 — Constituency Analysis</a:t>
            </a:r>
            <a:endParaRPr lang="en-US" sz="2200" dirty="0">
              <a:latin typeface="Times New Roman" panose="02020603050405020304" pitchFamily="18" charset="0"/>
              <a:cs typeface="Times New Roman" panose="02020603050405020304" pitchFamily="18" charset="0"/>
            </a:endParaRPr>
          </a:p>
        </p:txBody>
      </p:sp>
      <p:sp>
        <p:nvSpPr>
          <p:cNvPr id="5" name="Text 3"/>
          <p:cNvSpPr/>
          <p:nvPr/>
        </p:nvSpPr>
        <p:spPr>
          <a:xfrm>
            <a:off x="365760" y="594360"/>
            <a:ext cx="7315200" cy="365760"/>
          </a:xfrm>
          <a:prstGeom prst="rect">
            <a:avLst/>
          </a:prstGeom>
          <a:noFill/>
          <a:ln/>
        </p:spPr>
        <p:txBody>
          <a:bodyPr wrap="square" rtlCol="0" anchor="ctr"/>
          <a:lstStyle/>
          <a:p>
            <a:pPr marL="0" indent="0">
              <a:buNone/>
            </a:pPr>
            <a:r>
              <a:rPr lang="en-US" sz="1400" i="1" dirty="0">
                <a:solidFill>
                  <a:srgbClr val="B0C4DE"/>
                </a:solidFill>
                <a:latin typeface="Calibri" pitchFamily="34" charset="0"/>
                <a:ea typeface="Calibri" pitchFamily="34" charset="-122"/>
                <a:cs typeface="Calibri" pitchFamily="34" charset="-120"/>
              </a:rPr>
              <a:t>Ahmednagar, Maharashtra — Detailed Result Breakdown</a:t>
            </a:r>
            <a:endParaRPr lang="en-US" sz="1400" dirty="0"/>
          </a:p>
        </p:txBody>
      </p:sp>
      <p:pic>
        <p:nvPicPr>
          <p:cNvPr id="8" name="Image 0" descr="/home/claude/constituency.jpg"/>
          <p:cNvPicPr>
            <a:picLocks noChangeAspect="1"/>
          </p:cNvPicPr>
          <p:nvPr/>
        </p:nvPicPr>
        <p:blipFill>
          <a:blip r:embed="rId3"/>
          <a:srcRect/>
          <a:stretch/>
        </p:blipFill>
        <p:spPr>
          <a:xfrm>
            <a:off x="0" y="1069848"/>
            <a:ext cx="9144000" cy="3776472"/>
          </a:xfrm>
          <a:prstGeom prst="rect">
            <a:avLst/>
          </a:prstGeom>
        </p:spPr>
      </p:pic>
      <p:sp>
        <p:nvSpPr>
          <p:cNvPr id="9" name="Text 6"/>
          <p:cNvSpPr/>
          <p:nvPr/>
        </p:nvSpPr>
        <p:spPr>
          <a:xfrm>
            <a:off x="0" y="4846320"/>
            <a:ext cx="9144000" cy="274320"/>
          </a:xfrm>
          <a:prstGeom prst="rect">
            <a:avLst/>
          </a:prstGeom>
          <a:noFill/>
          <a:ln/>
        </p:spPr>
        <p:txBody>
          <a:bodyPr wrap="square" rtlCol="0" anchor="ctr"/>
          <a:lstStyle/>
          <a:p>
            <a:pPr marL="0" indent="0" algn="ctr">
              <a:buNone/>
            </a:pPr>
            <a:r>
              <a:rPr lang="en-US" sz="900" dirty="0">
                <a:solidFill>
                  <a:srgbClr val="999999"/>
                </a:solidFill>
                <a:latin typeface="Calibri" pitchFamily="34" charset="0"/>
                <a:ea typeface="Calibri" pitchFamily="34" charset="-122"/>
                <a:cs typeface="Calibri" pitchFamily="34" charset="-120"/>
              </a:rPr>
              <a:t>Infosys ElectViz | Team C | India General Election 2024</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A3A5C"/>
          </a:solidFill>
          <a:ln w="12700">
            <a:solidFill>
              <a:srgbClr val="1A3A5C"/>
            </a:solidFill>
            <a:prstDash val="solid"/>
          </a:ln>
        </p:spPr>
        <p:txBody>
          <a:bodyPr/>
          <a:lstStyle/>
          <a:p>
            <a:endParaRPr lang="en-IN"/>
          </a:p>
        </p:txBody>
      </p:sp>
      <p:sp>
        <p:nvSpPr>
          <p:cNvPr id="3" name="Shape 1"/>
          <p:cNvSpPr/>
          <p:nvPr/>
        </p:nvSpPr>
        <p:spPr>
          <a:xfrm>
            <a:off x="0" y="1005840"/>
            <a:ext cx="9144000" cy="64008"/>
          </a:xfrm>
          <a:prstGeom prst="rect">
            <a:avLst/>
          </a:prstGeom>
          <a:solidFill>
            <a:srgbClr val="E85D1A"/>
          </a:solidFill>
          <a:ln w="12700">
            <a:solidFill>
              <a:srgbClr val="E85D1A"/>
            </a:solidFill>
            <a:prstDash val="solid"/>
          </a:ln>
        </p:spPr>
        <p:txBody>
          <a:bodyPr/>
          <a:lstStyle/>
          <a:p>
            <a:endParaRPr lang="en-IN"/>
          </a:p>
        </p:txBody>
      </p:sp>
      <p:sp>
        <p:nvSpPr>
          <p:cNvPr id="4" name="Text 2"/>
          <p:cNvSpPr/>
          <p:nvPr/>
        </p:nvSpPr>
        <p:spPr>
          <a:xfrm>
            <a:off x="365760" y="91440"/>
            <a:ext cx="7315200" cy="548640"/>
          </a:xfrm>
          <a:prstGeom prst="rect">
            <a:avLst/>
          </a:prstGeom>
          <a:noFill/>
          <a:ln/>
        </p:spPr>
        <p:txBody>
          <a:bodyPr wrap="square" rtlCol="0" anchor="ctr"/>
          <a:lstStyle/>
          <a:p>
            <a:pPr marL="0" indent="0">
              <a:buNone/>
            </a:pPr>
            <a:r>
              <a:rPr lang="en-US" sz="2200" b="1" dirty="0">
                <a:solidFill>
                  <a:srgbClr val="FFFFFF"/>
                </a:solidFill>
                <a:latin typeface="Times New Roman" panose="02020603050405020304" pitchFamily="18" charset="0"/>
                <a:ea typeface="Calibri" pitchFamily="34" charset="-122"/>
                <a:cs typeface="Times New Roman" panose="02020603050405020304" pitchFamily="18" charset="0"/>
              </a:rPr>
              <a:t>Constituency Analysis — Overview &amp; Features</a:t>
            </a:r>
            <a:endParaRPr lang="en-US" sz="2200" dirty="0">
              <a:latin typeface="Times New Roman" panose="02020603050405020304" pitchFamily="18" charset="0"/>
              <a:cs typeface="Times New Roman" panose="02020603050405020304" pitchFamily="18" charset="0"/>
            </a:endParaRPr>
          </a:p>
        </p:txBody>
      </p:sp>
      <p:sp>
        <p:nvSpPr>
          <p:cNvPr id="5" name="Text 3"/>
          <p:cNvSpPr/>
          <p:nvPr/>
        </p:nvSpPr>
        <p:spPr>
          <a:xfrm>
            <a:off x="365760" y="594360"/>
            <a:ext cx="7315200" cy="365760"/>
          </a:xfrm>
          <a:prstGeom prst="rect">
            <a:avLst/>
          </a:prstGeom>
          <a:noFill/>
          <a:ln/>
        </p:spPr>
        <p:txBody>
          <a:bodyPr wrap="square" rtlCol="0" anchor="ctr"/>
          <a:lstStyle/>
          <a:p>
            <a:pPr marL="0" indent="0">
              <a:buNone/>
            </a:pPr>
            <a:r>
              <a:rPr lang="en-US" sz="1400" i="1" dirty="0">
                <a:solidFill>
                  <a:srgbClr val="B0C4DE"/>
                </a:solidFill>
                <a:latin typeface="Calibri" pitchFamily="34" charset="0"/>
                <a:ea typeface="Calibri" pitchFamily="34" charset="-122"/>
                <a:cs typeface="Calibri" pitchFamily="34" charset="-120"/>
              </a:rPr>
              <a:t>Drill Down to Individual Constituencies</a:t>
            </a:r>
            <a:endParaRPr lang="en-US" sz="1400" dirty="0"/>
          </a:p>
        </p:txBody>
      </p:sp>
      <p:sp>
        <p:nvSpPr>
          <p:cNvPr id="8" name="Text 6"/>
          <p:cNvSpPr/>
          <p:nvPr/>
        </p:nvSpPr>
        <p:spPr>
          <a:xfrm>
            <a:off x="365760" y="1143000"/>
            <a:ext cx="8412480" cy="365760"/>
          </a:xfrm>
          <a:prstGeom prst="rect">
            <a:avLst/>
          </a:prstGeom>
          <a:noFill/>
          <a:ln/>
        </p:spPr>
        <p:txBody>
          <a:bodyPr wrap="square" rtlCol="0" anchor="ctr"/>
          <a:lstStyle/>
          <a:p>
            <a:pPr marL="0" indent="0">
              <a:buNone/>
            </a:pPr>
            <a:r>
              <a:rPr lang="en-US" sz="1100" i="1" dirty="0">
                <a:solidFill>
                  <a:srgbClr val="64748B"/>
                </a:solidFill>
                <a:latin typeface="Calibri" pitchFamily="34" charset="0"/>
                <a:ea typeface="Calibri" pitchFamily="34" charset="-122"/>
                <a:cs typeface="Calibri" pitchFamily="34" charset="-120"/>
              </a:rPr>
              <a:t>Ahmednagar, Maharashtra — Case Study (1,325,477 Total Votes | 26 Candidates)</a:t>
            </a:r>
            <a:endParaRPr lang="en-US" sz="1100" dirty="0"/>
          </a:p>
        </p:txBody>
      </p:sp>
      <p:sp>
        <p:nvSpPr>
          <p:cNvPr id="9" name="Shape 7"/>
          <p:cNvSpPr/>
          <p:nvPr/>
        </p:nvSpPr>
        <p:spPr>
          <a:xfrm>
            <a:off x="274320" y="1600200"/>
            <a:ext cx="2743200" cy="347472"/>
          </a:xfrm>
          <a:prstGeom prst="rect">
            <a:avLst/>
          </a:prstGeom>
          <a:solidFill>
            <a:srgbClr val="2E7D32"/>
          </a:solidFill>
          <a:ln w="12700">
            <a:solidFill>
              <a:srgbClr val="2E7D32"/>
            </a:solidFill>
            <a:prstDash val="solid"/>
          </a:ln>
        </p:spPr>
        <p:txBody>
          <a:bodyPr/>
          <a:lstStyle/>
          <a:p>
            <a:endParaRPr lang="en-IN"/>
          </a:p>
        </p:txBody>
      </p:sp>
      <p:sp>
        <p:nvSpPr>
          <p:cNvPr id="10" name="Text 8"/>
          <p:cNvSpPr/>
          <p:nvPr/>
        </p:nvSpPr>
        <p:spPr>
          <a:xfrm>
            <a:off x="274320" y="1600200"/>
            <a:ext cx="2743200" cy="347472"/>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WINNER</a:t>
            </a:r>
            <a:endParaRPr lang="en-US" sz="1000" dirty="0"/>
          </a:p>
        </p:txBody>
      </p:sp>
      <p:sp>
        <p:nvSpPr>
          <p:cNvPr id="11" name="Shape 9"/>
          <p:cNvSpPr/>
          <p:nvPr/>
        </p:nvSpPr>
        <p:spPr>
          <a:xfrm>
            <a:off x="339018" y="1958455"/>
            <a:ext cx="2678502" cy="1230990"/>
          </a:xfrm>
          <a:prstGeom prst="rect">
            <a:avLst/>
          </a:prstGeom>
          <a:solidFill>
            <a:srgbClr val="F0F4F8"/>
          </a:solidFill>
          <a:ln w="6350">
            <a:solidFill>
              <a:srgbClr val="CBD5E1"/>
            </a:solidFill>
            <a:prstDash val="solid"/>
          </a:ln>
        </p:spPr>
        <p:txBody>
          <a:bodyPr/>
          <a:lstStyle/>
          <a:p>
            <a:endParaRPr lang="en-IN"/>
          </a:p>
        </p:txBody>
      </p:sp>
      <p:sp>
        <p:nvSpPr>
          <p:cNvPr id="12" name="Text 10"/>
          <p:cNvSpPr/>
          <p:nvPr/>
        </p:nvSpPr>
        <p:spPr>
          <a:xfrm>
            <a:off x="365760" y="2011680"/>
            <a:ext cx="2560320" cy="411480"/>
          </a:xfrm>
          <a:prstGeom prst="rect">
            <a:avLst/>
          </a:prstGeom>
          <a:noFill/>
          <a:ln/>
        </p:spPr>
        <p:txBody>
          <a:bodyPr wrap="square" rtlCol="0" anchor="ctr"/>
          <a:lstStyle/>
          <a:p>
            <a:pPr marL="0" indent="0">
              <a:buNone/>
            </a:pPr>
            <a:r>
              <a:rPr lang="en-US" sz="1100" b="1" dirty="0">
                <a:solidFill>
                  <a:srgbClr val="1A3A5C"/>
                </a:solidFill>
                <a:latin typeface="Calibri" pitchFamily="34" charset="0"/>
                <a:ea typeface="Calibri" pitchFamily="34" charset="-122"/>
                <a:cs typeface="Calibri" pitchFamily="34" charset="-120"/>
              </a:rPr>
              <a:t>Nilesh Dnyandev Lanke</a:t>
            </a:r>
            <a:endParaRPr lang="en-US" sz="1100" dirty="0"/>
          </a:p>
        </p:txBody>
      </p:sp>
      <p:sp>
        <p:nvSpPr>
          <p:cNvPr id="13" name="Text 11"/>
          <p:cNvSpPr/>
          <p:nvPr/>
        </p:nvSpPr>
        <p:spPr>
          <a:xfrm>
            <a:off x="365760" y="2395728"/>
            <a:ext cx="2560320" cy="274320"/>
          </a:xfrm>
          <a:prstGeom prst="rect">
            <a:avLst/>
          </a:prstGeom>
          <a:noFill/>
          <a:ln/>
        </p:spPr>
        <p:txBody>
          <a:bodyPr wrap="square" rtlCol="0" anchor="ctr"/>
          <a:lstStyle/>
          <a:p>
            <a:pPr marL="0" indent="0">
              <a:buNone/>
            </a:pPr>
            <a:r>
              <a:rPr lang="en-US" sz="950" i="1" dirty="0">
                <a:solidFill>
                  <a:srgbClr val="64748B"/>
                </a:solidFill>
                <a:latin typeface="Calibri" pitchFamily="34" charset="0"/>
                <a:ea typeface="Calibri" pitchFamily="34" charset="-122"/>
                <a:cs typeface="Calibri" pitchFamily="34" charset="-120"/>
              </a:rPr>
              <a:t>Nationalist Congress Party</a:t>
            </a:r>
            <a:endParaRPr lang="en-US" sz="950" dirty="0"/>
          </a:p>
        </p:txBody>
      </p:sp>
      <p:sp>
        <p:nvSpPr>
          <p:cNvPr id="14" name="Text 12"/>
          <p:cNvSpPr/>
          <p:nvPr/>
        </p:nvSpPr>
        <p:spPr>
          <a:xfrm>
            <a:off x="365760" y="2724912"/>
            <a:ext cx="2560320" cy="320040"/>
          </a:xfrm>
          <a:prstGeom prst="rect">
            <a:avLst/>
          </a:prstGeom>
          <a:noFill/>
          <a:ln/>
        </p:spPr>
        <p:txBody>
          <a:bodyPr wrap="square" rtlCol="0" anchor="ctr"/>
          <a:lstStyle/>
          <a:p>
            <a:pPr marL="0" indent="0">
              <a:buNone/>
            </a:pPr>
            <a:r>
              <a:rPr lang="en-US" sz="1000" b="1" dirty="0">
                <a:solidFill>
                  <a:srgbClr val="2E7D32"/>
                </a:solidFill>
                <a:latin typeface="Calibri" pitchFamily="34" charset="0"/>
                <a:ea typeface="Calibri" pitchFamily="34" charset="-122"/>
                <a:cs typeface="Calibri" pitchFamily="34" charset="-120"/>
              </a:rPr>
              <a:t>6,24,797 votes  |  47.14%</a:t>
            </a:r>
            <a:endParaRPr lang="en-US" sz="1000" dirty="0"/>
          </a:p>
        </p:txBody>
      </p:sp>
      <p:sp>
        <p:nvSpPr>
          <p:cNvPr id="15" name="Shape 13"/>
          <p:cNvSpPr/>
          <p:nvPr/>
        </p:nvSpPr>
        <p:spPr>
          <a:xfrm>
            <a:off x="3200400" y="1600200"/>
            <a:ext cx="2743200" cy="347472"/>
          </a:xfrm>
          <a:prstGeom prst="rect">
            <a:avLst/>
          </a:prstGeom>
          <a:solidFill>
            <a:srgbClr val="1565C0"/>
          </a:solidFill>
          <a:ln w="12700">
            <a:solidFill>
              <a:srgbClr val="1565C0"/>
            </a:solidFill>
            <a:prstDash val="solid"/>
          </a:ln>
        </p:spPr>
        <p:txBody>
          <a:bodyPr/>
          <a:lstStyle/>
          <a:p>
            <a:endParaRPr lang="en-IN"/>
          </a:p>
        </p:txBody>
      </p:sp>
      <p:sp>
        <p:nvSpPr>
          <p:cNvPr id="16" name="Text 14"/>
          <p:cNvSpPr/>
          <p:nvPr/>
        </p:nvSpPr>
        <p:spPr>
          <a:xfrm>
            <a:off x="3200400" y="1600200"/>
            <a:ext cx="2743200" cy="347472"/>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RUNNER-UP</a:t>
            </a:r>
            <a:endParaRPr lang="en-US" sz="1000" dirty="0"/>
          </a:p>
        </p:txBody>
      </p:sp>
      <p:sp>
        <p:nvSpPr>
          <p:cNvPr id="17" name="Shape 15"/>
          <p:cNvSpPr/>
          <p:nvPr/>
        </p:nvSpPr>
        <p:spPr>
          <a:xfrm>
            <a:off x="3265098" y="1958455"/>
            <a:ext cx="2613804" cy="1230990"/>
          </a:xfrm>
          <a:prstGeom prst="rect">
            <a:avLst/>
          </a:prstGeom>
          <a:solidFill>
            <a:srgbClr val="F0F4F8"/>
          </a:solidFill>
          <a:ln w="6350">
            <a:solidFill>
              <a:srgbClr val="CBD5E1"/>
            </a:solidFill>
            <a:prstDash val="solid"/>
          </a:ln>
        </p:spPr>
        <p:txBody>
          <a:bodyPr/>
          <a:lstStyle/>
          <a:p>
            <a:endParaRPr lang="en-IN"/>
          </a:p>
        </p:txBody>
      </p:sp>
      <p:sp>
        <p:nvSpPr>
          <p:cNvPr id="18" name="Text 16"/>
          <p:cNvSpPr/>
          <p:nvPr/>
        </p:nvSpPr>
        <p:spPr>
          <a:xfrm>
            <a:off x="3291840" y="2011680"/>
            <a:ext cx="2560320" cy="411480"/>
          </a:xfrm>
          <a:prstGeom prst="rect">
            <a:avLst/>
          </a:prstGeom>
          <a:noFill/>
          <a:ln/>
        </p:spPr>
        <p:txBody>
          <a:bodyPr wrap="square" rtlCol="0" anchor="ctr"/>
          <a:lstStyle/>
          <a:p>
            <a:pPr marL="0" indent="0">
              <a:buNone/>
            </a:pPr>
            <a:r>
              <a:rPr lang="en-US" sz="1100" b="1" dirty="0">
                <a:solidFill>
                  <a:srgbClr val="1A3A5C"/>
                </a:solidFill>
                <a:latin typeface="Calibri" pitchFamily="34" charset="0"/>
                <a:ea typeface="Calibri" pitchFamily="34" charset="-122"/>
                <a:cs typeface="Calibri" pitchFamily="34" charset="-120"/>
              </a:rPr>
              <a:t>Dr. Sujay Radhakrishna</a:t>
            </a:r>
            <a:endParaRPr lang="en-US" sz="1100" dirty="0"/>
          </a:p>
        </p:txBody>
      </p:sp>
      <p:sp>
        <p:nvSpPr>
          <p:cNvPr id="19" name="Text 17"/>
          <p:cNvSpPr/>
          <p:nvPr/>
        </p:nvSpPr>
        <p:spPr>
          <a:xfrm>
            <a:off x="3291840" y="2395728"/>
            <a:ext cx="2560320" cy="274320"/>
          </a:xfrm>
          <a:prstGeom prst="rect">
            <a:avLst/>
          </a:prstGeom>
          <a:noFill/>
          <a:ln/>
        </p:spPr>
        <p:txBody>
          <a:bodyPr wrap="square" rtlCol="0" anchor="ctr"/>
          <a:lstStyle/>
          <a:p>
            <a:pPr marL="0" indent="0">
              <a:buNone/>
            </a:pPr>
            <a:r>
              <a:rPr lang="en-US" sz="950" i="1" dirty="0">
                <a:solidFill>
                  <a:srgbClr val="64748B"/>
                </a:solidFill>
                <a:latin typeface="Calibri" pitchFamily="34" charset="0"/>
                <a:ea typeface="Calibri" pitchFamily="34" charset="-122"/>
                <a:cs typeface="Calibri" pitchFamily="34" charset="-120"/>
              </a:rPr>
              <a:t>Bharatiya Janata Party</a:t>
            </a:r>
            <a:endParaRPr lang="en-US" sz="950" dirty="0"/>
          </a:p>
        </p:txBody>
      </p:sp>
      <p:sp>
        <p:nvSpPr>
          <p:cNvPr id="20" name="Text 18"/>
          <p:cNvSpPr/>
          <p:nvPr/>
        </p:nvSpPr>
        <p:spPr>
          <a:xfrm>
            <a:off x="3291840" y="2724912"/>
            <a:ext cx="2560320" cy="320040"/>
          </a:xfrm>
          <a:prstGeom prst="rect">
            <a:avLst/>
          </a:prstGeom>
          <a:noFill/>
          <a:ln/>
        </p:spPr>
        <p:txBody>
          <a:bodyPr wrap="square" rtlCol="0" anchor="ctr"/>
          <a:lstStyle/>
          <a:p>
            <a:pPr marL="0" indent="0">
              <a:buNone/>
            </a:pPr>
            <a:r>
              <a:rPr lang="en-US" sz="1000" b="1" dirty="0">
                <a:solidFill>
                  <a:srgbClr val="1565C0"/>
                </a:solidFill>
                <a:latin typeface="Calibri" pitchFamily="34" charset="0"/>
                <a:ea typeface="Calibri" pitchFamily="34" charset="-122"/>
                <a:cs typeface="Calibri" pitchFamily="34" charset="-120"/>
              </a:rPr>
              <a:t>5,95,868 votes  |  44.95%</a:t>
            </a:r>
            <a:endParaRPr lang="en-US" sz="1000" dirty="0"/>
          </a:p>
        </p:txBody>
      </p:sp>
      <p:sp>
        <p:nvSpPr>
          <p:cNvPr id="21" name="Shape 19"/>
          <p:cNvSpPr/>
          <p:nvPr/>
        </p:nvSpPr>
        <p:spPr>
          <a:xfrm>
            <a:off x="6126480" y="1600200"/>
            <a:ext cx="2743200" cy="347472"/>
          </a:xfrm>
          <a:prstGeom prst="rect">
            <a:avLst/>
          </a:prstGeom>
          <a:solidFill>
            <a:srgbClr val="64748B"/>
          </a:solidFill>
          <a:ln w="12700">
            <a:solidFill>
              <a:srgbClr val="64748B"/>
            </a:solidFill>
            <a:prstDash val="solid"/>
          </a:ln>
        </p:spPr>
        <p:txBody>
          <a:bodyPr/>
          <a:lstStyle/>
          <a:p>
            <a:endParaRPr lang="en-IN"/>
          </a:p>
        </p:txBody>
      </p:sp>
      <p:sp>
        <p:nvSpPr>
          <p:cNvPr id="22" name="Text 20"/>
          <p:cNvSpPr/>
          <p:nvPr/>
        </p:nvSpPr>
        <p:spPr>
          <a:xfrm>
            <a:off x="6126480" y="1600200"/>
            <a:ext cx="2743200" cy="347472"/>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2ND RUNNER-UP</a:t>
            </a:r>
            <a:endParaRPr lang="en-US" sz="1000" dirty="0"/>
          </a:p>
        </p:txBody>
      </p:sp>
      <p:sp>
        <p:nvSpPr>
          <p:cNvPr id="23" name="Shape 21"/>
          <p:cNvSpPr/>
          <p:nvPr/>
        </p:nvSpPr>
        <p:spPr>
          <a:xfrm>
            <a:off x="6191178" y="1958455"/>
            <a:ext cx="2678502" cy="1241773"/>
          </a:xfrm>
          <a:prstGeom prst="rect">
            <a:avLst/>
          </a:prstGeom>
          <a:solidFill>
            <a:srgbClr val="F0F4F8"/>
          </a:solidFill>
          <a:ln w="6350">
            <a:solidFill>
              <a:srgbClr val="CBD5E1"/>
            </a:solidFill>
            <a:prstDash val="solid"/>
          </a:ln>
        </p:spPr>
        <p:txBody>
          <a:bodyPr/>
          <a:lstStyle/>
          <a:p>
            <a:endParaRPr lang="en-IN"/>
          </a:p>
        </p:txBody>
      </p:sp>
      <p:sp>
        <p:nvSpPr>
          <p:cNvPr id="24" name="Text 22"/>
          <p:cNvSpPr/>
          <p:nvPr/>
        </p:nvSpPr>
        <p:spPr>
          <a:xfrm>
            <a:off x="6217920" y="2011680"/>
            <a:ext cx="2560320" cy="411480"/>
          </a:xfrm>
          <a:prstGeom prst="rect">
            <a:avLst/>
          </a:prstGeom>
          <a:noFill/>
          <a:ln/>
        </p:spPr>
        <p:txBody>
          <a:bodyPr wrap="square" rtlCol="0" anchor="ctr"/>
          <a:lstStyle/>
          <a:p>
            <a:pPr marL="0" indent="0">
              <a:buNone/>
            </a:pPr>
            <a:r>
              <a:rPr lang="en-US" sz="1100" b="1" dirty="0">
                <a:solidFill>
                  <a:srgbClr val="1A3A5C"/>
                </a:solidFill>
                <a:latin typeface="Calibri" pitchFamily="34" charset="0"/>
                <a:ea typeface="Calibri" pitchFamily="34" charset="-122"/>
                <a:cs typeface="Calibri" pitchFamily="34" charset="-120"/>
              </a:rPr>
              <a:t>Alekar Gorakh</a:t>
            </a:r>
            <a:endParaRPr lang="en-US" sz="1100" dirty="0"/>
          </a:p>
        </p:txBody>
      </p:sp>
      <p:sp>
        <p:nvSpPr>
          <p:cNvPr id="25" name="Text 23"/>
          <p:cNvSpPr/>
          <p:nvPr/>
        </p:nvSpPr>
        <p:spPr>
          <a:xfrm>
            <a:off x="6217920" y="2395728"/>
            <a:ext cx="2560320" cy="274320"/>
          </a:xfrm>
          <a:prstGeom prst="rect">
            <a:avLst/>
          </a:prstGeom>
          <a:noFill/>
          <a:ln/>
        </p:spPr>
        <p:txBody>
          <a:bodyPr wrap="square" rtlCol="0" anchor="ctr"/>
          <a:lstStyle/>
          <a:p>
            <a:pPr marL="0" indent="0">
              <a:buNone/>
            </a:pPr>
            <a:r>
              <a:rPr lang="en-US" sz="950" i="1" dirty="0">
                <a:solidFill>
                  <a:srgbClr val="64748B"/>
                </a:solidFill>
                <a:latin typeface="Calibri" pitchFamily="34" charset="0"/>
                <a:ea typeface="Calibri" pitchFamily="34" charset="-122"/>
                <a:cs typeface="Calibri" pitchFamily="34" charset="-120"/>
              </a:rPr>
              <a:t>Independent</a:t>
            </a:r>
            <a:endParaRPr lang="en-US" sz="950" dirty="0"/>
          </a:p>
        </p:txBody>
      </p:sp>
      <p:sp>
        <p:nvSpPr>
          <p:cNvPr id="26" name="Text 24"/>
          <p:cNvSpPr/>
          <p:nvPr/>
        </p:nvSpPr>
        <p:spPr>
          <a:xfrm>
            <a:off x="6217920" y="2724912"/>
            <a:ext cx="2560320" cy="320040"/>
          </a:xfrm>
          <a:prstGeom prst="rect">
            <a:avLst/>
          </a:prstGeom>
          <a:noFill/>
          <a:ln/>
        </p:spPr>
        <p:txBody>
          <a:bodyPr wrap="square" rtlCol="0" anchor="ctr"/>
          <a:lstStyle/>
          <a:p>
            <a:pPr marL="0" indent="0">
              <a:buNone/>
            </a:pPr>
            <a:r>
              <a:rPr lang="en-US" sz="1000" b="1" dirty="0">
                <a:solidFill>
                  <a:srgbClr val="64748B"/>
                </a:solidFill>
                <a:latin typeface="Calibri" pitchFamily="34" charset="0"/>
                <a:ea typeface="Calibri" pitchFamily="34" charset="-122"/>
                <a:cs typeface="Calibri" pitchFamily="34" charset="-120"/>
              </a:rPr>
              <a:t>44,597 votes  |  3.36%</a:t>
            </a:r>
            <a:endParaRPr lang="en-US" sz="1000" dirty="0"/>
          </a:p>
        </p:txBody>
      </p:sp>
      <p:sp>
        <p:nvSpPr>
          <p:cNvPr id="29" name="Text 27"/>
          <p:cNvSpPr/>
          <p:nvPr/>
        </p:nvSpPr>
        <p:spPr>
          <a:xfrm>
            <a:off x="0" y="4846320"/>
            <a:ext cx="9144000" cy="274320"/>
          </a:xfrm>
          <a:prstGeom prst="rect">
            <a:avLst/>
          </a:prstGeom>
          <a:noFill/>
          <a:ln/>
        </p:spPr>
        <p:txBody>
          <a:bodyPr wrap="square" rtlCol="0" anchor="ctr"/>
          <a:lstStyle/>
          <a:p>
            <a:pPr marL="0" indent="0" algn="ctr">
              <a:buNone/>
            </a:pPr>
            <a:r>
              <a:rPr lang="en-US" sz="900" dirty="0">
                <a:solidFill>
                  <a:srgbClr val="999999"/>
                </a:solidFill>
                <a:latin typeface="Calibri" pitchFamily="34" charset="0"/>
                <a:ea typeface="Calibri" pitchFamily="34" charset="-122"/>
                <a:cs typeface="Calibri" pitchFamily="34" charset="-120"/>
              </a:rPr>
              <a:t>Infosys ElectViz | Team C | India General Election 2024</a:t>
            </a:r>
            <a:endParaRPr lang="en-US" sz="900" dirty="0"/>
          </a:p>
        </p:txBody>
      </p:sp>
      <p:sp>
        <p:nvSpPr>
          <p:cNvPr id="6" name="TextBox 5">
            <a:extLst>
              <a:ext uri="{FF2B5EF4-FFF2-40B4-BE49-F238E27FC236}">
                <a16:creationId xmlns:a16="http://schemas.microsoft.com/office/drawing/2014/main" id="{EE6E3E06-9042-C68A-AE60-596640F0BE3E}"/>
              </a:ext>
            </a:extLst>
          </p:cNvPr>
          <p:cNvSpPr txBox="1"/>
          <p:nvPr/>
        </p:nvSpPr>
        <p:spPr>
          <a:xfrm>
            <a:off x="307685" y="3205067"/>
            <a:ext cx="8628041" cy="182357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b="1" dirty="0">
                <a:solidFill>
                  <a:srgbClr val="1A3A5C"/>
                </a:solidFill>
                <a:latin typeface="Times New Roman" panose="02020603050405020304" pitchFamily="18" charset="0"/>
                <a:cs typeface="Times New Roman" panose="02020603050405020304" pitchFamily="18" charset="0"/>
              </a:rPr>
              <a:t>Constituency Analysis — Key Insights</a:t>
            </a:r>
            <a:br>
              <a:rPr lang="en-US" sz="1050" b="1" dirty="0">
                <a:solidFill>
                  <a:srgbClr val="1A3A5C"/>
                </a:solidFill>
                <a:latin typeface="Times New Roman" panose="02020603050405020304" pitchFamily="18" charset="0"/>
                <a:cs typeface="Times New Roman" panose="02020603050405020304" pitchFamily="18" charset="0"/>
              </a:rPr>
            </a:br>
            <a:endParaRPr lang="en-US" sz="1100" dirty="0">
              <a:solidFill>
                <a:srgbClr val="1A3A5C"/>
              </a:solidFill>
              <a:latin typeface="Times New Roman" panose="02020603050405020304" pitchFamily="18" charset="0"/>
              <a:ea typeface="Calibri"/>
              <a:cs typeface="Times New Roman" panose="02020603050405020304" pitchFamily="18" charset="0"/>
            </a:endParaRPr>
          </a:p>
          <a:p>
            <a:pPr marL="285750" indent="-285750" algn="just">
              <a:buFont typeface="Arial"/>
              <a:buChar char="•"/>
            </a:pPr>
            <a:r>
              <a:rPr lang="en-US" sz="1100" b="1" dirty="0">
                <a:solidFill>
                  <a:schemeClr val="tx1">
                    <a:lumMod val="95000"/>
                    <a:lumOff val="5000"/>
                  </a:schemeClr>
                </a:solidFill>
                <a:latin typeface="Times New Roman" panose="02020603050405020304" pitchFamily="18" charset="0"/>
                <a:ea typeface="+mn-lt"/>
                <a:cs typeface="Times New Roman" panose="02020603050405020304" pitchFamily="18" charset="0"/>
              </a:rPr>
              <a:t>Nilesh </a:t>
            </a:r>
            <a:r>
              <a:rPr lang="en-US" sz="1100" b="1" dirty="0" err="1">
                <a:solidFill>
                  <a:schemeClr val="tx1">
                    <a:lumMod val="95000"/>
                    <a:lumOff val="5000"/>
                  </a:schemeClr>
                </a:solidFill>
                <a:latin typeface="Times New Roman" panose="02020603050405020304" pitchFamily="18" charset="0"/>
                <a:ea typeface="+mn-lt"/>
                <a:cs typeface="Times New Roman" panose="02020603050405020304" pitchFamily="18" charset="0"/>
              </a:rPr>
              <a:t>Dnyandev</a:t>
            </a:r>
            <a:r>
              <a:rPr lang="en-US" sz="1100" b="1" dirty="0">
                <a:solidFill>
                  <a:schemeClr val="tx1">
                    <a:lumMod val="95000"/>
                    <a:lumOff val="5000"/>
                  </a:schemeClr>
                </a:solidFill>
                <a:latin typeface="Times New Roman" panose="02020603050405020304" pitchFamily="18" charset="0"/>
                <a:ea typeface="+mn-lt"/>
                <a:cs typeface="Times New Roman" panose="02020603050405020304" pitchFamily="18" charset="0"/>
              </a:rPr>
              <a:t> Lanke (NCP)</a:t>
            </a:r>
            <a:r>
              <a:rPr lang="en-US" sz="1100" dirty="0">
                <a:solidFill>
                  <a:schemeClr val="tx1">
                    <a:lumMod val="95000"/>
                    <a:lumOff val="5000"/>
                  </a:schemeClr>
                </a:solidFill>
                <a:latin typeface="Times New Roman" panose="02020603050405020304" pitchFamily="18" charset="0"/>
                <a:ea typeface="+mn-lt"/>
                <a:cs typeface="Times New Roman" panose="02020603050405020304" pitchFamily="18" charset="0"/>
              </a:rPr>
              <a:t> won Ahmednagar with a </a:t>
            </a:r>
            <a:r>
              <a:rPr lang="en-US" sz="1100" b="1" dirty="0">
                <a:solidFill>
                  <a:schemeClr val="tx1">
                    <a:lumMod val="95000"/>
                    <a:lumOff val="5000"/>
                  </a:schemeClr>
                </a:solidFill>
                <a:latin typeface="Times New Roman" panose="02020603050405020304" pitchFamily="18" charset="0"/>
                <a:ea typeface="+mn-lt"/>
                <a:cs typeface="Times New Roman" panose="02020603050405020304" pitchFamily="18" charset="0"/>
              </a:rPr>
              <a:t>clear lead of ~2.19% vote share</a:t>
            </a:r>
            <a:r>
              <a:rPr lang="en-US" sz="1100" dirty="0">
                <a:solidFill>
                  <a:schemeClr val="tx1">
                    <a:lumMod val="95000"/>
                    <a:lumOff val="5000"/>
                  </a:schemeClr>
                </a:solidFill>
                <a:latin typeface="Times New Roman" panose="02020603050405020304" pitchFamily="18" charset="0"/>
                <a:ea typeface="+mn-lt"/>
                <a:cs typeface="Times New Roman" panose="02020603050405020304" pitchFamily="18" charset="0"/>
              </a:rPr>
              <a:t> over BJP, indicating a </a:t>
            </a:r>
            <a:r>
              <a:rPr lang="en-US" sz="1100" b="1" dirty="0">
                <a:solidFill>
                  <a:schemeClr val="tx1">
                    <a:lumMod val="95000"/>
                    <a:lumOff val="5000"/>
                  </a:schemeClr>
                </a:solidFill>
                <a:latin typeface="Times New Roman" panose="02020603050405020304" pitchFamily="18" charset="0"/>
                <a:ea typeface="+mn-lt"/>
                <a:cs typeface="Times New Roman" panose="02020603050405020304" pitchFamily="18" charset="0"/>
              </a:rPr>
              <a:t>tight but decisive contest</a:t>
            </a:r>
            <a:r>
              <a:rPr lang="en-US" sz="1100" dirty="0">
                <a:solidFill>
                  <a:schemeClr val="tx1">
                    <a:lumMod val="95000"/>
                    <a:lumOff val="5000"/>
                  </a:schemeClr>
                </a:solidFill>
                <a:latin typeface="Times New Roman" panose="02020603050405020304" pitchFamily="18" charset="0"/>
                <a:ea typeface="+mn-lt"/>
                <a:cs typeface="Times New Roman" panose="02020603050405020304" pitchFamily="18" charset="0"/>
              </a:rPr>
              <a:t>. </a:t>
            </a:r>
            <a:endParaRPr lang="en-US" sz="1100" dirty="0">
              <a:solidFill>
                <a:schemeClr val="tx1">
                  <a:lumMod val="95000"/>
                  <a:lumOff val="5000"/>
                </a:schemeClr>
              </a:solidFill>
              <a:latin typeface="Times New Roman" panose="02020603050405020304" pitchFamily="18" charset="0"/>
              <a:ea typeface="Calibri"/>
              <a:cs typeface="Times New Roman" panose="02020603050405020304" pitchFamily="18" charset="0"/>
            </a:endParaRPr>
          </a:p>
          <a:p>
            <a:pPr marL="285750" indent="-285750" algn="just">
              <a:buFont typeface="Arial"/>
              <a:buChar char="•"/>
            </a:pPr>
            <a:r>
              <a:rPr lang="en-US" sz="1100" dirty="0">
                <a:solidFill>
                  <a:schemeClr val="tx1">
                    <a:lumMod val="95000"/>
                    <a:lumOff val="5000"/>
                  </a:schemeClr>
                </a:solidFill>
                <a:latin typeface="Times New Roman" panose="02020603050405020304" pitchFamily="18" charset="0"/>
                <a:ea typeface="+mn-lt"/>
                <a:cs typeface="Times New Roman" panose="02020603050405020304" pitchFamily="18" charset="0"/>
              </a:rPr>
              <a:t>The competition between </a:t>
            </a:r>
            <a:r>
              <a:rPr lang="en-US" sz="1100" b="1" dirty="0">
                <a:solidFill>
                  <a:schemeClr val="tx1">
                    <a:lumMod val="95000"/>
                    <a:lumOff val="5000"/>
                  </a:schemeClr>
                </a:solidFill>
                <a:latin typeface="Times New Roman" panose="02020603050405020304" pitchFamily="18" charset="0"/>
                <a:ea typeface="+mn-lt"/>
                <a:cs typeface="Times New Roman" panose="02020603050405020304" pitchFamily="18" charset="0"/>
              </a:rPr>
              <a:t>NCP (47.14%) and BJP (44.95%)</a:t>
            </a:r>
            <a:r>
              <a:rPr lang="en-US" sz="1100" dirty="0">
                <a:solidFill>
                  <a:schemeClr val="tx1">
                    <a:lumMod val="95000"/>
                    <a:lumOff val="5000"/>
                  </a:schemeClr>
                </a:solidFill>
                <a:latin typeface="Times New Roman" panose="02020603050405020304" pitchFamily="18" charset="0"/>
                <a:ea typeface="+mn-lt"/>
                <a:cs typeface="Times New Roman" panose="02020603050405020304" pitchFamily="18" charset="0"/>
              </a:rPr>
              <a:t> shows a </a:t>
            </a:r>
            <a:r>
              <a:rPr lang="en-US" sz="1100" b="1" dirty="0">
                <a:solidFill>
                  <a:schemeClr val="tx1">
                    <a:lumMod val="95000"/>
                    <a:lumOff val="5000"/>
                  </a:schemeClr>
                </a:solidFill>
                <a:latin typeface="Times New Roman" panose="02020603050405020304" pitchFamily="18" charset="0"/>
                <a:ea typeface="+mn-lt"/>
                <a:cs typeface="Times New Roman" panose="02020603050405020304" pitchFamily="18" charset="0"/>
              </a:rPr>
              <a:t>two-party dominance</a:t>
            </a:r>
            <a:r>
              <a:rPr lang="en-US" sz="1100" dirty="0">
                <a:solidFill>
                  <a:schemeClr val="tx1">
                    <a:lumMod val="95000"/>
                    <a:lumOff val="5000"/>
                  </a:schemeClr>
                </a:solidFill>
                <a:latin typeface="Times New Roman" panose="02020603050405020304" pitchFamily="18" charset="0"/>
                <a:ea typeface="+mn-lt"/>
                <a:cs typeface="Times New Roman" panose="02020603050405020304" pitchFamily="18" charset="0"/>
              </a:rPr>
              <a:t>, with very little space for other parties. </a:t>
            </a:r>
            <a:endParaRPr lang="en-US" sz="1100" dirty="0">
              <a:solidFill>
                <a:schemeClr val="tx1">
                  <a:lumMod val="95000"/>
                  <a:lumOff val="5000"/>
                </a:schemeClr>
              </a:solidFill>
              <a:latin typeface="Times New Roman" panose="02020603050405020304" pitchFamily="18" charset="0"/>
              <a:ea typeface="Calibri"/>
              <a:cs typeface="Times New Roman" panose="02020603050405020304" pitchFamily="18" charset="0"/>
            </a:endParaRPr>
          </a:p>
          <a:p>
            <a:pPr marL="285750" indent="-285750" algn="just">
              <a:buFont typeface="Arial"/>
              <a:buChar char="•"/>
            </a:pPr>
            <a:r>
              <a:rPr lang="en-US" sz="1100" dirty="0">
                <a:solidFill>
                  <a:schemeClr val="tx1">
                    <a:lumMod val="95000"/>
                    <a:lumOff val="5000"/>
                  </a:schemeClr>
                </a:solidFill>
                <a:latin typeface="Times New Roman" panose="02020603050405020304" pitchFamily="18" charset="0"/>
                <a:ea typeface="+mn-lt"/>
                <a:cs typeface="Times New Roman" panose="02020603050405020304" pitchFamily="18" charset="0"/>
              </a:rPr>
              <a:t>The </a:t>
            </a:r>
            <a:r>
              <a:rPr lang="en-US" sz="1100" b="1" dirty="0">
                <a:solidFill>
                  <a:schemeClr val="tx1">
                    <a:lumMod val="95000"/>
                    <a:lumOff val="5000"/>
                  </a:schemeClr>
                </a:solidFill>
                <a:latin typeface="Times New Roman" panose="02020603050405020304" pitchFamily="18" charset="0"/>
                <a:ea typeface="+mn-lt"/>
                <a:cs typeface="Times New Roman" panose="02020603050405020304" pitchFamily="18" charset="0"/>
              </a:rPr>
              <a:t>vote difference (~28,929 votes)</a:t>
            </a:r>
            <a:r>
              <a:rPr lang="en-US" sz="1100" dirty="0">
                <a:solidFill>
                  <a:schemeClr val="tx1">
                    <a:lumMod val="95000"/>
                    <a:lumOff val="5000"/>
                  </a:schemeClr>
                </a:solidFill>
                <a:latin typeface="Times New Roman" panose="02020603050405020304" pitchFamily="18" charset="0"/>
                <a:ea typeface="+mn-lt"/>
                <a:cs typeface="Times New Roman" panose="02020603050405020304" pitchFamily="18" charset="0"/>
              </a:rPr>
              <a:t> between winner and runner-up highlights a </a:t>
            </a:r>
            <a:r>
              <a:rPr lang="en-US" sz="1100" b="1" dirty="0">
                <a:solidFill>
                  <a:schemeClr val="tx1">
                    <a:lumMod val="95000"/>
                    <a:lumOff val="5000"/>
                  </a:schemeClr>
                </a:solidFill>
                <a:latin typeface="Times New Roman" panose="02020603050405020304" pitchFamily="18" charset="0"/>
                <a:ea typeface="+mn-lt"/>
                <a:cs typeface="Times New Roman" panose="02020603050405020304" pitchFamily="18" charset="0"/>
              </a:rPr>
              <a:t>moderately competitive constituency</a:t>
            </a:r>
            <a:r>
              <a:rPr lang="en-US" sz="1100" dirty="0">
                <a:solidFill>
                  <a:schemeClr val="tx1">
                    <a:lumMod val="95000"/>
                    <a:lumOff val="5000"/>
                  </a:schemeClr>
                </a:solidFill>
                <a:latin typeface="Times New Roman" panose="02020603050405020304" pitchFamily="18" charset="0"/>
                <a:ea typeface="+mn-lt"/>
                <a:cs typeface="Times New Roman" panose="02020603050405020304" pitchFamily="18" charset="0"/>
              </a:rPr>
              <a:t>, not a landslide. </a:t>
            </a:r>
            <a:endParaRPr lang="en-US" sz="1100" dirty="0">
              <a:solidFill>
                <a:schemeClr val="tx1">
                  <a:lumMod val="95000"/>
                  <a:lumOff val="5000"/>
                </a:schemeClr>
              </a:solidFill>
              <a:latin typeface="Times New Roman" panose="02020603050405020304" pitchFamily="18" charset="0"/>
              <a:ea typeface="Calibri"/>
              <a:cs typeface="Times New Roman" panose="02020603050405020304" pitchFamily="18" charset="0"/>
            </a:endParaRPr>
          </a:p>
          <a:p>
            <a:pPr marL="285750" indent="-285750" algn="just">
              <a:buFont typeface="Arial"/>
              <a:buChar char="•"/>
            </a:pPr>
            <a:r>
              <a:rPr lang="en-US" sz="1100" dirty="0">
                <a:solidFill>
                  <a:schemeClr val="tx1">
                    <a:lumMod val="95000"/>
                    <a:lumOff val="5000"/>
                  </a:schemeClr>
                </a:solidFill>
                <a:latin typeface="Times New Roman" panose="02020603050405020304" pitchFamily="18" charset="0"/>
                <a:ea typeface="+mn-lt"/>
                <a:cs typeface="Times New Roman" panose="02020603050405020304" pitchFamily="18" charset="0"/>
              </a:rPr>
              <a:t>The </a:t>
            </a:r>
            <a:r>
              <a:rPr lang="en-US" sz="1100" b="1" dirty="0">
                <a:solidFill>
                  <a:schemeClr val="tx1">
                    <a:lumMod val="95000"/>
                    <a:lumOff val="5000"/>
                  </a:schemeClr>
                </a:solidFill>
                <a:latin typeface="Times New Roman" panose="02020603050405020304" pitchFamily="18" charset="0"/>
                <a:ea typeface="+mn-lt"/>
                <a:cs typeface="Times New Roman" panose="02020603050405020304" pitchFamily="18" charset="0"/>
              </a:rPr>
              <a:t>2nd runner-up (Independent)</a:t>
            </a:r>
            <a:r>
              <a:rPr lang="en-US" sz="1100" dirty="0">
                <a:solidFill>
                  <a:schemeClr val="tx1">
                    <a:lumMod val="95000"/>
                    <a:lumOff val="5000"/>
                  </a:schemeClr>
                </a:solidFill>
                <a:latin typeface="Times New Roman" panose="02020603050405020304" pitchFamily="18" charset="0"/>
                <a:ea typeface="+mn-lt"/>
                <a:cs typeface="Times New Roman" panose="02020603050405020304" pitchFamily="18" charset="0"/>
              </a:rPr>
              <a:t> secured only </a:t>
            </a:r>
            <a:r>
              <a:rPr lang="en-US" sz="1100" b="1" dirty="0">
                <a:solidFill>
                  <a:schemeClr val="tx1">
                    <a:lumMod val="95000"/>
                    <a:lumOff val="5000"/>
                  </a:schemeClr>
                </a:solidFill>
                <a:latin typeface="Times New Roman" panose="02020603050405020304" pitchFamily="18" charset="0"/>
                <a:ea typeface="+mn-lt"/>
                <a:cs typeface="Times New Roman" panose="02020603050405020304" pitchFamily="18" charset="0"/>
              </a:rPr>
              <a:t>3.36% vote share</a:t>
            </a:r>
            <a:r>
              <a:rPr lang="en-US" sz="1100" dirty="0">
                <a:solidFill>
                  <a:schemeClr val="tx1">
                    <a:lumMod val="95000"/>
                    <a:lumOff val="5000"/>
                  </a:schemeClr>
                </a:solidFill>
                <a:latin typeface="Times New Roman" panose="02020603050405020304" pitchFamily="18" charset="0"/>
                <a:ea typeface="+mn-lt"/>
                <a:cs typeface="Times New Roman" panose="02020603050405020304" pitchFamily="18" charset="0"/>
              </a:rPr>
              <a:t>, proving that </a:t>
            </a:r>
            <a:r>
              <a:rPr lang="en-US" sz="1100" b="1" dirty="0">
                <a:solidFill>
                  <a:schemeClr val="tx1">
                    <a:lumMod val="95000"/>
                    <a:lumOff val="5000"/>
                  </a:schemeClr>
                </a:solidFill>
                <a:latin typeface="Times New Roman" panose="02020603050405020304" pitchFamily="18" charset="0"/>
                <a:ea typeface="+mn-lt"/>
                <a:cs typeface="Times New Roman" panose="02020603050405020304" pitchFamily="18" charset="0"/>
              </a:rPr>
              <a:t>independent candidates have minimal influence</a:t>
            </a:r>
            <a:r>
              <a:rPr lang="en-US" sz="1100" dirty="0">
                <a:solidFill>
                  <a:schemeClr val="tx1">
                    <a:lumMod val="95000"/>
                    <a:lumOff val="5000"/>
                  </a:schemeClr>
                </a:solidFill>
                <a:latin typeface="Times New Roman" panose="02020603050405020304" pitchFamily="18" charset="0"/>
                <a:ea typeface="+mn-lt"/>
                <a:cs typeface="Times New Roman" panose="02020603050405020304" pitchFamily="18" charset="0"/>
              </a:rPr>
              <a:t> in this constituency. </a:t>
            </a:r>
            <a:endParaRPr lang="en-US" sz="1100" dirty="0">
              <a:solidFill>
                <a:schemeClr val="tx1">
                  <a:lumMod val="95000"/>
                  <a:lumOff val="5000"/>
                </a:schemeClr>
              </a:solidFill>
              <a:latin typeface="Times New Roman" panose="02020603050405020304" pitchFamily="18" charset="0"/>
              <a:ea typeface="Calibri"/>
              <a:cs typeface="Times New Roman" panose="02020603050405020304" pitchFamily="18" charset="0"/>
            </a:endParaRPr>
          </a:p>
          <a:p>
            <a:pPr marL="285750" indent="-285750" algn="just">
              <a:buFont typeface="Arial"/>
              <a:buChar char="•"/>
            </a:pPr>
            <a:r>
              <a:rPr lang="en-US" sz="1100" dirty="0">
                <a:solidFill>
                  <a:schemeClr val="tx1">
                    <a:lumMod val="95000"/>
                    <a:lumOff val="5000"/>
                  </a:schemeClr>
                </a:solidFill>
                <a:latin typeface="Times New Roman" panose="02020603050405020304" pitchFamily="18" charset="0"/>
                <a:ea typeface="+mn-lt"/>
                <a:cs typeface="Times New Roman" panose="02020603050405020304" pitchFamily="18" charset="0"/>
              </a:rPr>
              <a:t>Out of </a:t>
            </a:r>
            <a:r>
              <a:rPr lang="en-US" sz="1100" b="1" dirty="0">
                <a:solidFill>
                  <a:schemeClr val="tx1">
                    <a:lumMod val="95000"/>
                    <a:lumOff val="5000"/>
                  </a:schemeClr>
                </a:solidFill>
                <a:latin typeface="Times New Roman" panose="02020603050405020304" pitchFamily="18" charset="0"/>
                <a:ea typeface="+mn-lt"/>
                <a:cs typeface="Times New Roman" panose="02020603050405020304" pitchFamily="18" charset="0"/>
              </a:rPr>
              <a:t>26 candidates</a:t>
            </a:r>
            <a:r>
              <a:rPr lang="en-US" sz="1100" dirty="0">
                <a:solidFill>
                  <a:schemeClr val="tx1">
                    <a:lumMod val="95000"/>
                    <a:lumOff val="5000"/>
                  </a:schemeClr>
                </a:solidFill>
                <a:latin typeface="Times New Roman" panose="02020603050405020304" pitchFamily="18" charset="0"/>
                <a:ea typeface="+mn-lt"/>
                <a:cs typeface="Times New Roman" panose="02020603050405020304" pitchFamily="18" charset="0"/>
              </a:rPr>
              <a:t>, only the top 2 had significant vote share → </a:t>
            </a:r>
            <a:r>
              <a:rPr lang="en-US" sz="1100" b="1" dirty="0">
                <a:solidFill>
                  <a:schemeClr val="tx1">
                    <a:lumMod val="95000"/>
                    <a:lumOff val="5000"/>
                  </a:schemeClr>
                </a:solidFill>
                <a:latin typeface="Times New Roman" panose="02020603050405020304" pitchFamily="18" charset="0"/>
                <a:ea typeface="+mn-lt"/>
                <a:cs typeface="Times New Roman" panose="02020603050405020304" pitchFamily="18" charset="0"/>
              </a:rPr>
              <a:t>high vote concentration</a:t>
            </a:r>
            <a:r>
              <a:rPr lang="en-US" sz="1100" dirty="0">
                <a:solidFill>
                  <a:schemeClr val="tx1">
                    <a:lumMod val="95000"/>
                    <a:lumOff val="5000"/>
                  </a:schemeClr>
                </a:solidFill>
                <a:latin typeface="Times New Roman" panose="02020603050405020304" pitchFamily="18" charset="0"/>
                <a:ea typeface="+mn-lt"/>
                <a:cs typeface="Times New Roman" panose="02020603050405020304" pitchFamily="18" charset="0"/>
              </a:rPr>
              <a:t>, low fragmentation. </a:t>
            </a:r>
            <a:endParaRPr lang="en-US" sz="1100" dirty="0">
              <a:solidFill>
                <a:schemeClr val="tx1">
                  <a:lumMod val="95000"/>
                  <a:lumOff val="5000"/>
                </a:schemeClr>
              </a:solidFill>
              <a:latin typeface="Times New Roman" panose="02020603050405020304" pitchFamily="18" charset="0"/>
              <a:ea typeface="Calibri"/>
              <a:cs typeface="Times New Roman" panose="02020603050405020304" pitchFamily="18" charset="0"/>
            </a:endParaRPr>
          </a:p>
          <a:p>
            <a:pPr marL="285750" indent="-285750" algn="just">
              <a:buFont typeface="Arial"/>
              <a:buChar char="•"/>
            </a:pPr>
            <a:r>
              <a:rPr lang="en-US" sz="1100" dirty="0">
                <a:solidFill>
                  <a:schemeClr val="tx1">
                    <a:lumMod val="95000"/>
                    <a:lumOff val="5000"/>
                  </a:schemeClr>
                </a:solidFill>
                <a:latin typeface="Times New Roman" panose="02020603050405020304" pitchFamily="18" charset="0"/>
                <a:ea typeface="+mn-lt"/>
                <a:cs typeface="Times New Roman" panose="02020603050405020304" pitchFamily="18" charset="0"/>
              </a:rPr>
              <a:t>The close margin suggests that </a:t>
            </a:r>
            <a:r>
              <a:rPr lang="en-US" sz="1100" b="1" dirty="0">
                <a:solidFill>
                  <a:schemeClr val="tx1">
                    <a:lumMod val="95000"/>
                    <a:lumOff val="5000"/>
                  </a:schemeClr>
                </a:solidFill>
                <a:latin typeface="Times New Roman" panose="02020603050405020304" pitchFamily="18" charset="0"/>
                <a:ea typeface="+mn-lt"/>
                <a:cs typeface="Times New Roman" panose="02020603050405020304" pitchFamily="18" charset="0"/>
              </a:rPr>
              <a:t>small shifts in voter preference could change future outcomes</a:t>
            </a:r>
            <a:r>
              <a:rPr lang="en-US" sz="1100" dirty="0">
                <a:solidFill>
                  <a:schemeClr val="tx1">
                    <a:lumMod val="95000"/>
                    <a:lumOff val="5000"/>
                  </a:schemeClr>
                </a:solidFill>
                <a:latin typeface="Times New Roman" panose="02020603050405020304" pitchFamily="18" charset="0"/>
                <a:ea typeface="+mn-lt"/>
                <a:cs typeface="Times New Roman" panose="02020603050405020304" pitchFamily="18" charset="0"/>
              </a:rPr>
              <a:t>, making this a </a:t>
            </a:r>
            <a:r>
              <a:rPr lang="en-US" sz="1100" b="1" dirty="0">
                <a:solidFill>
                  <a:schemeClr val="tx1">
                    <a:lumMod val="95000"/>
                    <a:lumOff val="5000"/>
                  </a:schemeClr>
                </a:solidFill>
                <a:latin typeface="Times New Roman" panose="02020603050405020304" pitchFamily="18" charset="0"/>
                <a:ea typeface="+mn-lt"/>
                <a:cs typeface="Times New Roman" panose="02020603050405020304" pitchFamily="18" charset="0"/>
              </a:rPr>
              <a:t>swing-sensitive constituency</a:t>
            </a:r>
            <a:r>
              <a:rPr lang="en-US" sz="1100" dirty="0">
                <a:solidFill>
                  <a:schemeClr val="tx1">
                    <a:lumMod val="95000"/>
                    <a:lumOff val="5000"/>
                  </a:schemeClr>
                </a:solidFill>
                <a:latin typeface="Times New Roman" panose="02020603050405020304" pitchFamily="18" charset="0"/>
                <a:ea typeface="+mn-lt"/>
                <a:cs typeface="Times New Roman" panose="02020603050405020304" pitchFamily="18" charset="0"/>
              </a:rPr>
              <a:t>.</a:t>
            </a:r>
            <a:endParaRPr lang="en-US" sz="1100" dirty="0">
              <a:solidFill>
                <a:schemeClr val="tx1">
                  <a:lumMod val="95000"/>
                  <a:lumOff val="5000"/>
                </a:schemeClr>
              </a:solidFill>
              <a:latin typeface="Times New Roman" panose="02020603050405020304" pitchFamily="18" charset="0"/>
              <a:ea typeface="Calibri"/>
              <a:cs typeface="Times New Roman" panose="02020603050405020304" pitchFamily="18" charset="0"/>
            </a:endParaRPr>
          </a:p>
          <a:p>
            <a:pPr algn="l"/>
            <a:endParaRPr lang="en-US" sz="1050" dirty="0">
              <a:ea typeface="Calibri"/>
              <a:cs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A3A5C"/>
          </a:solidFill>
          <a:ln w="12700">
            <a:solidFill>
              <a:srgbClr val="1A3A5C"/>
            </a:solidFill>
            <a:prstDash val="solid"/>
          </a:ln>
        </p:spPr>
        <p:txBody>
          <a:bodyPr/>
          <a:lstStyle/>
          <a:p>
            <a:endParaRPr lang="en-IN"/>
          </a:p>
        </p:txBody>
      </p:sp>
      <p:sp>
        <p:nvSpPr>
          <p:cNvPr id="3" name="Shape 1"/>
          <p:cNvSpPr/>
          <p:nvPr/>
        </p:nvSpPr>
        <p:spPr>
          <a:xfrm>
            <a:off x="0" y="1005840"/>
            <a:ext cx="9144000" cy="64008"/>
          </a:xfrm>
          <a:prstGeom prst="rect">
            <a:avLst/>
          </a:prstGeom>
          <a:solidFill>
            <a:srgbClr val="E85D1A"/>
          </a:solidFill>
          <a:ln w="12700">
            <a:solidFill>
              <a:srgbClr val="E85D1A"/>
            </a:solidFill>
            <a:prstDash val="solid"/>
          </a:ln>
        </p:spPr>
        <p:txBody>
          <a:bodyPr/>
          <a:lstStyle/>
          <a:p>
            <a:endParaRPr lang="en-IN"/>
          </a:p>
        </p:txBody>
      </p:sp>
      <p:sp>
        <p:nvSpPr>
          <p:cNvPr id="4" name="Text 2"/>
          <p:cNvSpPr/>
          <p:nvPr/>
        </p:nvSpPr>
        <p:spPr>
          <a:xfrm>
            <a:off x="365760" y="91440"/>
            <a:ext cx="7315200" cy="548640"/>
          </a:xfrm>
          <a:prstGeom prst="rect">
            <a:avLst/>
          </a:prstGeom>
          <a:noFill/>
          <a:ln/>
        </p:spPr>
        <p:txBody>
          <a:bodyPr wrap="square" rtlCol="0" anchor="ctr"/>
          <a:lstStyle/>
          <a:p>
            <a:pPr marL="0" indent="0">
              <a:buNone/>
            </a:pPr>
            <a:r>
              <a:rPr lang="en-US" sz="2200" b="1" dirty="0">
                <a:solidFill>
                  <a:srgbClr val="FFFFFF"/>
                </a:solidFill>
                <a:latin typeface="Times New Roman" panose="02020603050405020304" pitchFamily="18" charset="0"/>
                <a:ea typeface="Calibri" pitchFamily="34" charset="-122"/>
                <a:cs typeface="Times New Roman" panose="02020603050405020304" pitchFamily="18" charset="0"/>
              </a:rPr>
              <a:t>Dashboard 4 — Party Strategy &amp; Performance</a:t>
            </a:r>
            <a:endParaRPr lang="en-US" sz="2200" dirty="0">
              <a:latin typeface="Times New Roman" panose="02020603050405020304" pitchFamily="18" charset="0"/>
              <a:cs typeface="Times New Roman" panose="02020603050405020304" pitchFamily="18" charset="0"/>
            </a:endParaRPr>
          </a:p>
        </p:txBody>
      </p:sp>
      <p:sp>
        <p:nvSpPr>
          <p:cNvPr id="5" name="Text 3"/>
          <p:cNvSpPr/>
          <p:nvPr/>
        </p:nvSpPr>
        <p:spPr>
          <a:xfrm>
            <a:off x="365760" y="594360"/>
            <a:ext cx="7315200" cy="365760"/>
          </a:xfrm>
          <a:prstGeom prst="rect">
            <a:avLst/>
          </a:prstGeom>
          <a:noFill/>
          <a:ln/>
        </p:spPr>
        <p:txBody>
          <a:bodyPr wrap="square" rtlCol="0" anchor="ctr"/>
          <a:lstStyle/>
          <a:p>
            <a:pPr marL="0" indent="0">
              <a:buNone/>
            </a:pPr>
            <a:r>
              <a:rPr lang="en-US" sz="1400" i="1" dirty="0">
                <a:solidFill>
                  <a:srgbClr val="B0C4DE"/>
                </a:solidFill>
                <a:latin typeface="Calibri" pitchFamily="34" charset="0"/>
                <a:ea typeface="Calibri" pitchFamily="34" charset="-122"/>
                <a:cs typeface="Calibri" pitchFamily="34" charset="-120"/>
              </a:rPr>
              <a:t>Ahmednagar, Maharashtra — Party-Wise Analysis</a:t>
            </a:r>
            <a:endParaRPr lang="en-US" sz="1400" dirty="0"/>
          </a:p>
        </p:txBody>
      </p:sp>
      <p:pic>
        <p:nvPicPr>
          <p:cNvPr id="8" name="Image 0" descr="/home/claude/party_strategy.jpg"/>
          <p:cNvPicPr>
            <a:picLocks noChangeAspect="1"/>
          </p:cNvPicPr>
          <p:nvPr/>
        </p:nvPicPr>
        <p:blipFill>
          <a:blip r:embed="rId3"/>
          <a:srcRect/>
          <a:stretch/>
        </p:blipFill>
        <p:spPr>
          <a:xfrm>
            <a:off x="0" y="1069848"/>
            <a:ext cx="9144000" cy="3776472"/>
          </a:xfrm>
          <a:prstGeom prst="rect">
            <a:avLst/>
          </a:prstGeom>
        </p:spPr>
      </p:pic>
      <p:sp>
        <p:nvSpPr>
          <p:cNvPr id="9" name="Text 6"/>
          <p:cNvSpPr/>
          <p:nvPr/>
        </p:nvSpPr>
        <p:spPr>
          <a:xfrm>
            <a:off x="0" y="4846320"/>
            <a:ext cx="9144000" cy="274320"/>
          </a:xfrm>
          <a:prstGeom prst="rect">
            <a:avLst/>
          </a:prstGeom>
          <a:noFill/>
          <a:ln/>
        </p:spPr>
        <p:txBody>
          <a:bodyPr wrap="square" rtlCol="0" anchor="ctr"/>
          <a:lstStyle/>
          <a:p>
            <a:pPr marL="0" indent="0" algn="ctr">
              <a:buNone/>
            </a:pPr>
            <a:r>
              <a:rPr lang="en-US" sz="900" dirty="0">
                <a:solidFill>
                  <a:srgbClr val="999999"/>
                </a:solidFill>
                <a:latin typeface="Calibri" pitchFamily="34" charset="0"/>
                <a:ea typeface="Calibri" pitchFamily="34" charset="-122"/>
                <a:cs typeface="Calibri" pitchFamily="34" charset="-120"/>
              </a:rPr>
              <a:t>Infosys ElectViz | Team C | India General Election 2024</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A3A5C"/>
          </a:solidFill>
          <a:ln w="12700">
            <a:solidFill>
              <a:srgbClr val="1A3A5C"/>
            </a:solidFill>
            <a:prstDash val="solid"/>
          </a:ln>
        </p:spPr>
        <p:txBody>
          <a:bodyPr/>
          <a:lstStyle/>
          <a:p>
            <a:endParaRPr lang="en-IN"/>
          </a:p>
        </p:txBody>
      </p:sp>
      <p:sp>
        <p:nvSpPr>
          <p:cNvPr id="3" name="Shape 1"/>
          <p:cNvSpPr/>
          <p:nvPr/>
        </p:nvSpPr>
        <p:spPr>
          <a:xfrm>
            <a:off x="0" y="1005840"/>
            <a:ext cx="9144000" cy="64008"/>
          </a:xfrm>
          <a:prstGeom prst="rect">
            <a:avLst/>
          </a:prstGeom>
          <a:solidFill>
            <a:srgbClr val="E85D1A"/>
          </a:solidFill>
          <a:ln w="12700">
            <a:solidFill>
              <a:srgbClr val="E85D1A"/>
            </a:solidFill>
            <a:prstDash val="solid"/>
          </a:ln>
        </p:spPr>
        <p:txBody>
          <a:bodyPr/>
          <a:lstStyle/>
          <a:p>
            <a:endParaRPr lang="en-IN"/>
          </a:p>
        </p:txBody>
      </p:sp>
      <p:sp>
        <p:nvSpPr>
          <p:cNvPr id="4" name="Text 2"/>
          <p:cNvSpPr/>
          <p:nvPr/>
        </p:nvSpPr>
        <p:spPr>
          <a:xfrm>
            <a:off x="365760" y="91440"/>
            <a:ext cx="7315200" cy="548640"/>
          </a:xfrm>
          <a:prstGeom prst="rect">
            <a:avLst/>
          </a:prstGeom>
          <a:noFill/>
          <a:ln/>
        </p:spPr>
        <p:txBody>
          <a:bodyPr wrap="square" rtlCol="0" anchor="ctr"/>
          <a:lstStyle/>
          <a:p>
            <a:pPr marL="0" indent="0">
              <a:buNone/>
            </a:pPr>
            <a:r>
              <a:rPr lang="en-US" sz="2200" b="1" dirty="0">
                <a:solidFill>
                  <a:srgbClr val="FFFFFF"/>
                </a:solidFill>
                <a:latin typeface="Times New Roman" panose="02020603050405020304" pitchFamily="18" charset="0"/>
                <a:ea typeface="Calibri" pitchFamily="34" charset="-122"/>
                <a:cs typeface="Times New Roman" panose="02020603050405020304" pitchFamily="18" charset="0"/>
              </a:rPr>
              <a:t>Party Strategy &amp; Performance — Overview</a:t>
            </a:r>
            <a:endParaRPr lang="en-US" sz="2200" dirty="0">
              <a:latin typeface="Times New Roman" panose="02020603050405020304" pitchFamily="18" charset="0"/>
              <a:cs typeface="Times New Roman" panose="02020603050405020304" pitchFamily="18" charset="0"/>
            </a:endParaRPr>
          </a:p>
        </p:txBody>
      </p:sp>
      <p:sp>
        <p:nvSpPr>
          <p:cNvPr id="5" name="Text 3"/>
          <p:cNvSpPr/>
          <p:nvPr/>
        </p:nvSpPr>
        <p:spPr>
          <a:xfrm>
            <a:off x="365760" y="594360"/>
            <a:ext cx="7315200" cy="365760"/>
          </a:xfrm>
          <a:prstGeom prst="rect">
            <a:avLst/>
          </a:prstGeom>
          <a:noFill/>
          <a:ln/>
        </p:spPr>
        <p:txBody>
          <a:bodyPr wrap="square" rtlCol="0" anchor="ctr"/>
          <a:lstStyle/>
          <a:p>
            <a:pPr marL="0" indent="0">
              <a:buNone/>
            </a:pPr>
            <a:r>
              <a:rPr lang="en-US" sz="1400" i="1" dirty="0">
                <a:solidFill>
                  <a:srgbClr val="B0C4DE"/>
                </a:solidFill>
                <a:latin typeface="Calibri" pitchFamily="34" charset="0"/>
                <a:ea typeface="Calibri" pitchFamily="34" charset="-122"/>
                <a:cs typeface="Calibri" pitchFamily="34" charset="-120"/>
              </a:rPr>
              <a:t>Understanding Party-Level Electoral Patterns</a:t>
            </a:r>
            <a:endParaRPr lang="en-US" sz="1400" dirty="0"/>
          </a:p>
        </p:txBody>
      </p:sp>
      <p:sp>
        <p:nvSpPr>
          <p:cNvPr id="8" name="Text 6"/>
          <p:cNvSpPr/>
          <p:nvPr/>
        </p:nvSpPr>
        <p:spPr>
          <a:xfrm>
            <a:off x="365760" y="1143000"/>
            <a:ext cx="8412480" cy="457200"/>
          </a:xfrm>
          <a:prstGeom prst="rect">
            <a:avLst/>
          </a:prstGeom>
          <a:noFill/>
          <a:ln/>
        </p:spPr>
        <p:txBody>
          <a:bodyPr wrap="square" rtlCol="0" anchor="ctr"/>
          <a:lstStyle/>
          <a:p>
            <a:pPr marL="0" indent="0">
              <a:buNone/>
            </a:pPr>
            <a:r>
              <a:rPr lang="en-US" sz="1100" i="1" dirty="0">
                <a:solidFill>
                  <a:srgbClr val="64748B"/>
                </a:solidFill>
                <a:latin typeface="Calibri" pitchFamily="34" charset="0"/>
                <a:ea typeface="Calibri" pitchFamily="34" charset="-122"/>
                <a:cs typeface="Calibri" pitchFamily="34" charset="-120"/>
              </a:rPr>
              <a:t>Ahmednagar Example: Nationalist Congress Party (Sharad Pawar faction) performed best with 47.14% vote share and 12 total seats in Maharashtra.</a:t>
            </a:r>
            <a:endParaRPr lang="en-US" sz="1100" dirty="0"/>
          </a:p>
        </p:txBody>
      </p:sp>
      <p:graphicFrame>
        <p:nvGraphicFramePr>
          <p:cNvPr id="17" name="Table 0"/>
          <p:cNvGraphicFramePr>
            <a:graphicFrameLocks noGrp="1"/>
          </p:cNvGraphicFramePr>
          <p:nvPr>
            <p:extLst>
              <p:ext uri="{D42A27DB-BD31-4B8C-83A1-F6EECF244321}">
                <p14:modId xmlns:p14="http://schemas.microsoft.com/office/powerpoint/2010/main" val="2777348326"/>
              </p:ext>
            </p:extLst>
          </p:nvPr>
        </p:nvGraphicFramePr>
        <p:xfrm>
          <a:off x="269575" y="1531188"/>
          <a:ext cx="8595360" cy="1602996"/>
        </p:xfrm>
        <a:graphic>
          <a:graphicData uri="http://schemas.openxmlformats.org/drawingml/2006/table">
            <a:tbl>
              <a:tblPr/>
              <a:tblGrid>
                <a:gridCol w="2743200">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gridCol w="1463040">
                  <a:extLst>
                    <a:ext uri="{9D8B030D-6E8A-4147-A177-3AD203B41FA5}">
                      <a16:colId xmlns:a16="http://schemas.microsoft.com/office/drawing/2014/main" val="20003"/>
                    </a:ext>
                  </a:extLst>
                </a:gridCol>
                <a:gridCol w="1280160">
                  <a:extLst>
                    <a:ext uri="{9D8B030D-6E8A-4147-A177-3AD203B41FA5}">
                      <a16:colId xmlns:a16="http://schemas.microsoft.com/office/drawing/2014/main" val="20004"/>
                    </a:ext>
                  </a:extLst>
                </a:gridCol>
              </a:tblGrid>
              <a:tr h="267166">
                <a:tc>
                  <a:txBody>
                    <a:bodyPr/>
                    <a:lstStyle/>
                    <a:p>
                      <a:pPr marL="0" indent="0" algn="l">
                        <a:buNone/>
                      </a:pPr>
                      <a:r>
                        <a:rPr lang="en-US" sz="1000" b="1" dirty="0">
                          <a:solidFill>
                            <a:srgbClr val="FFFFFF"/>
                          </a:solidFill>
                          <a:latin typeface="Calibri" pitchFamily="34" charset="0"/>
                          <a:ea typeface="Calibri" pitchFamily="34" charset="-122"/>
                          <a:cs typeface="Calibri" pitchFamily="34" charset="-120"/>
                        </a:rPr>
                        <a:t>Party</a:t>
                      </a:r>
                      <a:endParaRPr lang="en-US" sz="10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3A5C"/>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Total Votes</a:t>
                      </a:r>
                      <a:endParaRPr lang="en-US" sz="10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3A5C"/>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Vote Share %</a:t>
                      </a:r>
                      <a:endParaRPr lang="en-US" sz="10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3A5C"/>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Total Seats</a:t>
                      </a:r>
                      <a:endParaRPr lang="en-US" sz="10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3A5C"/>
                    </a:solidFill>
                  </a:tcPr>
                </a:tc>
                <a:tc>
                  <a:txBody>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Strike Rate</a:t>
                      </a:r>
                      <a:endParaRPr lang="en-US" sz="100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1A3A5C"/>
                    </a:solidFill>
                  </a:tcPr>
                </a:tc>
                <a:extLst>
                  <a:ext uri="{0D108BD9-81ED-4DB2-BD59-A6C34878D82A}">
                    <a16:rowId xmlns:a16="http://schemas.microsoft.com/office/drawing/2014/main" val="10000"/>
                  </a:ext>
                </a:extLst>
              </a:tr>
              <a:tr h="267166">
                <a:tc>
                  <a:txBody>
                    <a:bodyPr/>
                    <a:lstStyle/>
                    <a:p>
                      <a:pPr marL="0" indent="0" algn="l">
                        <a:buNone/>
                      </a:pPr>
                      <a:r>
                        <a:rPr lang="en-US" sz="950" b="1" dirty="0">
                          <a:solidFill>
                            <a:srgbClr val="334155"/>
                          </a:solidFill>
                          <a:latin typeface="Calibri" pitchFamily="34" charset="0"/>
                          <a:ea typeface="Calibri" pitchFamily="34" charset="-122"/>
                          <a:cs typeface="Calibri" pitchFamily="34" charset="-120"/>
                        </a:rPr>
                        <a:t>NCP – Sharad Pawar</a:t>
                      </a:r>
                      <a:endParaRPr lang="en-US" sz="9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latin typeface="Calibri" pitchFamily="34" charset="0"/>
                          <a:ea typeface="Calibri" pitchFamily="34" charset="-122"/>
                          <a:cs typeface="Calibri" pitchFamily="34" charset="-120"/>
                        </a:rPr>
                        <a:t>6,24,797</a:t>
                      </a:r>
                      <a:endParaRPr lang="en-US" sz="9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latin typeface="Calibri" pitchFamily="34" charset="0"/>
                          <a:ea typeface="Calibri" pitchFamily="34" charset="-122"/>
                          <a:cs typeface="Calibri" pitchFamily="34" charset="-120"/>
                        </a:rPr>
                        <a:t>47.14%</a:t>
                      </a:r>
                      <a:endParaRPr lang="en-US" sz="9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latin typeface="Calibri" pitchFamily="34" charset="0"/>
                          <a:ea typeface="Calibri" pitchFamily="34" charset="-122"/>
                          <a:cs typeface="Calibri" pitchFamily="34" charset="-120"/>
                        </a:rPr>
                        <a:t>12</a:t>
                      </a:r>
                      <a:endParaRPr lang="en-US" sz="9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latin typeface="Calibri" pitchFamily="34" charset="0"/>
                          <a:ea typeface="Calibri" pitchFamily="34" charset="-122"/>
                          <a:cs typeface="Calibri" pitchFamily="34" charset="-120"/>
                        </a:rPr>
                        <a:t>52.0</a:t>
                      </a:r>
                      <a:endParaRPr lang="en-US" sz="9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67166">
                <a:tc>
                  <a:txBody>
                    <a:bodyPr/>
                    <a:lstStyle/>
                    <a:p>
                      <a:pPr marL="0" indent="0" algn="l">
                        <a:buNone/>
                      </a:pPr>
                      <a:r>
                        <a:rPr lang="en-US" sz="950" b="1" dirty="0">
                          <a:solidFill>
                            <a:srgbClr val="334155"/>
                          </a:solidFill>
                          <a:latin typeface="Calibri" pitchFamily="34" charset="0"/>
                          <a:ea typeface="Calibri" pitchFamily="34" charset="-122"/>
                          <a:cs typeface="Calibri" pitchFamily="34" charset="-120"/>
                        </a:rPr>
                        <a:t>Bharatiya Janata Party</a:t>
                      </a:r>
                      <a:endParaRPr lang="en-US" sz="9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4F8"/>
                    </a:solidFill>
                  </a:tcPr>
                </a:tc>
                <a:tc>
                  <a:txBody>
                    <a:bodyPr/>
                    <a:lstStyle/>
                    <a:p>
                      <a:pPr marL="0" indent="0" algn="ctr">
                        <a:buNone/>
                      </a:pPr>
                      <a:r>
                        <a:rPr lang="en-US" sz="950" dirty="0">
                          <a:solidFill>
                            <a:srgbClr val="334155"/>
                          </a:solidFill>
                          <a:latin typeface="Calibri" pitchFamily="34" charset="0"/>
                          <a:ea typeface="Calibri" pitchFamily="34" charset="-122"/>
                          <a:cs typeface="Calibri" pitchFamily="34" charset="-120"/>
                        </a:rPr>
                        <a:t>5,95,868</a:t>
                      </a:r>
                      <a:endParaRPr lang="en-US" sz="9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4F8"/>
                    </a:solidFill>
                  </a:tcPr>
                </a:tc>
                <a:tc>
                  <a:txBody>
                    <a:bodyPr/>
                    <a:lstStyle/>
                    <a:p>
                      <a:pPr marL="0" indent="0" algn="ctr">
                        <a:buNone/>
                      </a:pPr>
                      <a:r>
                        <a:rPr lang="en-US" sz="950" dirty="0">
                          <a:solidFill>
                            <a:srgbClr val="334155"/>
                          </a:solidFill>
                          <a:latin typeface="Calibri" pitchFamily="34" charset="0"/>
                          <a:ea typeface="Calibri" pitchFamily="34" charset="-122"/>
                          <a:cs typeface="Calibri" pitchFamily="34" charset="-120"/>
                        </a:rPr>
                        <a:t>44.95%</a:t>
                      </a:r>
                      <a:endParaRPr lang="en-US" sz="9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4F8"/>
                    </a:solidFill>
                  </a:tcPr>
                </a:tc>
                <a:tc>
                  <a:txBody>
                    <a:bodyPr/>
                    <a:lstStyle/>
                    <a:p>
                      <a:pPr marL="0" indent="0" algn="ctr">
                        <a:buNone/>
                      </a:pPr>
                      <a:r>
                        <a:rPr lang="en-US" sz="950" dirty="0">
                          <a:solidFill>
                            <a:srgbClr val="334155"/>
                          </a:solidFill>
                          <a:latin typeface="Calibri" pitchFamily="34" charset="0"/>
                          <a:ea typeface="Calibri" pitchFamily="34" charset="-122"/>
                          <a:cs typeface="Calibri" pitchFamily="34" charset="-120"/>
                        </a:rPr>
                        <a:t>441</a:t>
                      </a:r>
                      <a:endParaRPr lang="en-US" sz="9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4F8"/>
                    </a:solidFill>
                  </a:tcPr>
                </a:tc>
                <a:tc>
                  <a:txBody>
                    <a:bodyPr/>
                    <a:lstStyle/>
                    <a:p>
                      <a:pPr marL="0" indent="0" algn="ctr">
                        <a:buNone/>
                      </a:pPr>
                      <a:r>
                        <a:rPr lang="en-US" sz="950" dirty="0">
                          <a:solidFill>
                            <a:srgbClr val="334155"/>
                          </a:solidFill>
                          <a:latin typeface="Calibri" pitchFamily="34" charset="0"/>
                          <a:ea typeface="Calibri" pitchFamily="34" charset="-122"/>
                          <a:cs typeface="Calibri" pitchFamily="34" charset="-120"/>
                        </a:rPr>
                        <a:t>1.3</a:t>
                      </a:r>
                      <a:endParaRPr lang="en-US" sz="9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4F8"/>
                    </a:solidFill>
                  </a:tcPr>
                </a:tc>
                <a:extLst>
                  <a:ext uri="{0D108BD9-81ED-4DB2-BD59-A6C34878D82A}">
                    <a16:rowId xmlns:a16="http://schemas.microsoft.com/office/drawing/2014/main" val="10002"/>
                  </a:ext>
                </a:extLst>
              </a:tr>
              <a:tr h="267166">
                <a:tc>
                  <a:txBody>
                    <a:bodyPr/>
                    <a:lstStyle/>
                    <a:p>
                      <a:pPr marL="0" indent="0" algn="l">
                        <a:buNone/>
                      </a:pPr>
                      <a:r>
                        <a:rPr lang="en-US" sz="950" b="1" dirty="0">
                          <a:solidFill>
                            <a:srgbClr val="334155"/>
                          </a:solidFill>
                          <a:latin typeface="Calibri" pitchFamily="34" charset="0"/>
                          <a:ea typeface="Calibri" pitchFamily="34" charset="-122"/>
                          <a:cs typeface="Calibri" pitchFamily="34" charset="-120"/>
                        </a:rPr>
                        <a:t>Independent</a:t>
                      </a:r>
                      <a:endParaRPr lang="en-US" sz="9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latin typeface="Calibri" pitchFamily="34" charset="0"/>
                          <a:ea typeface="Calibri" pitchFamily="34" charset="-122"/>
                          <a:cs typeface="Calibri" pitchFamily="34" charset="-120"/>
                        </a:rPr>
                        <a:t>65,521</a:t>
                      </a:r>
                      <a:endParaRPr lang="en-US" sz="9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latin typeface="Calibri" pitchFamily="34" charset="0"/>
                          <a:ea typeface="Calibri" pitchFamily="34" charset="-122"/>
                          <a:cs typeface="Calibri" pitchFamily="34" charset="-120"/>
                        </a:rPr>
                        <a:t>4.94%</a:t>
                      </a:r>
                      <a:endParaRPr lang="en-US" sz="9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latin typeface="Calibri" pitchFamily="34" charset="0"/>
                          <a:ea typeface="Calibri" pitchFamily="34" charset="-122"/>
                          <a:cs typeface="Calibri" pitchFamily="34" charset="-120"/>
                        </a:rPr>
                        <a:t>532 contested</a:t>
                      </a:r>
                      <a:endParaRPr lang="en-US" sz="9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latin typeface="Calibri" pitchFamily="34" charset="0"/>
                          <a:ea typeface="Calibri" pitchFamily="34" charset="-122"/>
                          <a:cs typeface="Calibri" pitchFamily="34" charset="-120"/>
                        </a:rPr>
                        <a:t>1.%</a:t>
                      </a:r>
                      <a:endParaRPr lang="en-US" sz="9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67166">
                <a:tc>
                  <a:txBody>
                    <a:bodyPr/>
                    <a:lstStyle/>
                    <a:p>
                      <a:pPr marL="0" indent="0" algn="l">
                        <a:buNone/>
                      </a:pPr>
                      <a:r>
                        <a:rPr lang="en-US" sz="950" b="1" dirty="0">
                          <a:solidFill>
                            <a:srgbClr val="334155"/>
                          </a:solidFill>
                          <a:latin typeface="Calibri" pitchFamily="34" charset="0"/>
                          <a:ea typeface="Calibri" pitchFamily="34" charset="-122"/>
                          <a:cs typeface="Calibri" pitchFamily="34" charset="-120"/>
                        </a:rPr>
                        <a:t>Vanchit Bahujan Aaghadi</a:t>
                      </a:r>
                      <a:endParaRPr lang="en-US" sz="9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4F8"/>
                    </a:solidFill>
                  </a:tcPr>
                </a:tc>
                <a:tc>
                  <a:txBody>
                    <a:bodyPr/>
                    <a:lstStyle/>
                    <a:p>
                      <a:pPr marL="0" indent="0" algn="ctr">
                        <a:buNone/>
                      </a:pPr>
                      <a:r>
                        <a:rPr lang="en-US" sz="950" dirty="0">
                          <a:solidFill>
                            <a:srgbClr val="334155"/>
                          </a:solidFill>
                          <a:latin typeface="Calibri" pitchFamily="34" charset="0"/>
                          <a:ea typeface="Calibri" pitchFamily="34" charset="-122"/>
                          <a:cs typeface="Calibri" pitchFamily="34" charset="-120"/>
                        </a:rPr>
                        <a:t>13,749</a:t>
                      </a:r>
                      <a:endParaRPr lang="en-US" sz="9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4F8"/>
                    </a:solidFill>
                  </a:tcPr>
                </a:tc>
                <a:tc>
                  <a:txBody>
                    <a:bodyPr/>
                    <a:lstStyle/>
                    <a:p>
                      <a:pPr marL="0" indent="0" algn="ctr">
                        <a:buNone/>
                      </a:pPr>
                      <a:r>
                        <a:rPr lang="en-US" sz="950" dirty="0">
                          <a:solidFill>
                            <a:srgbClr val="334155"/>
                          </a:solidFill>
                          <a:latin typeface="Calibri" pitchFamily="34" charset="0"/>
                          <a:ea typeface="Calibri" pitchFamily="34" charset="-122"/>
                          <a:cs typeface="Calibri" pitchFamily="34" charset="-120"/>
                        </a:rPr>
                        <a:t>1.04%</a:t>
                      </a:r>
                      <a:endParaRPr lang="en-US" sz="9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4F8"/>
                    </a:solidFill>
                  </a:tcPr>
                </a:tc>
                <a:tc>
                  <a:txBody>
                    <a:bodyPr/>
                    <a:lstStyle/>
                    <a:p>
                      <a:pPr marL="0" indent="0" algn="ctr">
                        <a:buNone/>
                      </a:pPr>
                      <a:r>
                        <a:rPr lang="en-US" sz="950" dirty="0">
                          <a:solidFill>
                            <a:srgbClr val="334155"/>
                          </a:solidFill>
                          <a:latin typeface="Calibri" pitchFamily="34" charset="0"/>
                          <a:ea typeface="Calibri" pitchFamily="34" charset="-122"/>
                          <a:cs typeface="Calibri" pitchFamily="34" charset="-120"/>
                        </a:rPr>
                        <a:t>38</a:t>
                      </a:r>
                      <a:endParaRPr lang="en-US" sz="9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4F8"/>
                    </a:solidFill>
                  </a:tcPr>
                </a:tc>
                <a:tc>
                  <a:txBody>
                    <a:bodyPr/>
                    <a:lstStyle/>
                    <a:p>
                      <a:pPr marL="0" indent="0" algn="ctr">
                        <a:buNone/>
                      </a:pPr>
                      <a:r>
                        <a:rPr lang="en-US" sz="950" dirty="0">
                          <a:solidFill>
                            <a:srgbClr val="334155"/>
                          </a:solidFill>
                          <a:latin typeface="Calibri" pitchFamily="34" charset="0"/>
                          <a:ea typeface="Calibri" pitchFamily="34" charset="-122"/>
                          <a:cs typeface="Calibri" pitchFamily="34" charset="-120"/>
                        </a:rPr>
                        <a:t>3</a:t>
                      </a:r>
                      <a:endParaRPr lang="en-US" sz="9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4F8"/>
                    </a:solidFill>
                  </a:tcPr>
                </a:tc>
                <a:extLst>
                  <a:ext uri="{0D108BD9-81ED-4DB2-BD59-A6C34878D82A}">
                    <a16:rowId xmlns:a16="http://schemas.microsoft.com/office/drawing/2014/main" val="10004"/>
                  </a:ext>
                </a:extLst>
              </a:tr>
              <a:tr h="267166">
                <a:tc>
                  <a:txBody>
                    <a:bodyPr/>
                    <a:lstStyle/>
                    <a:p>
                      <a:pPr marL="0" indent="0" algn="l">
                        <a:buNone/>
                      </a:pPr>
                      <a:r>
                        <a:rPr lang="en-US" sz="950" b="1" dirty="0">
                          <a:solidFill>
                            <a:srgbClr val="334155"/>
                          </a:solidFill>
                          <a:latin typeface="Calibri" pitchFamily="34" charset="0"/>
                          <a:ea typeface="Calibri" pitchFamily="34" charset="-122"/>
                          <a:cs typeface="Calibri" pitchFamily="34" charset="-120"/>
                        </a:rPr>
                        <a:t>Bahujan Samaj Party</a:t>
                      </a:r>
                      <a:endParaRPr lang="en-US" sz="9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latin typeface="Calibri" pitchFamily="34" charset="0"/>
                          <a:ea typeface="Calibri" pitchFamily="34" charset="-122"/>
                          <a:cs typeface="Calibri" pitchFamily="34" charset="-120"/>
                        </a:rPr>
                        <a:t>4,539</a:t>
                      </a:r>
                      <a:endParaRPr lang="en-US" sz="9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latin typeface="Calibri" pitchFamily="34" charset="0"/>
                          <a:ea typeface="Calibri" pitchFamily="34" charset="-122"/>
                          <a:cs typeface="Calibri" pitchFamily="34" charset="-120"/>
                        </a:rPr>
                        <a:t>0.34%</a:t>
                      </a:r>
                      <a:endParaRPr lang="en-US" sz="9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latin typeface="Calibri" pitchFamily="34" charset="0"/>
                          <a:ea typeface="Calibri" pitchFamily="34" charset="-122"/>
                          <a:cs typeface="Calibri" pitchFamily="34" charset="-120"/>
                        </a:rPr>
                        <a:t>488</a:t>
                      </a:r>
                      <a:endParaRPr lang="en-US" sz="9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lgn="ctr">
                        <a:buNone/>
                      </a:pPr>
                      <a:r>
                        <a:rPr lang="en-US" sz="950" dirty="0">
                          <a:solidFill>
                            <a:srgbClr val="334155"/>
                          </a:solidFill>
                          <a:latin typeface="Calibri" pitchFamily="34" charset="0"/>
                          <a:ea typeface="Calibri" pitchFamily="34" charset="-122"/>
                          <a:cs typeface="Calibri" pitchFamily="34" charset="-120"/>
                        </a:rPr>
                        <a:t>—</a:t>
                      </a:r>
                      <a:endParaRPr lang="en-US" sz="950" dirty="0">
                        <a:latin typeface="Calibri" charset="0"/>
                        <a:ea typeface="Calibri" charset="0"/>
                        <a:cs typeface="Calibri" charset="0"/>
                      </a:endParaRPr>
                    </a:p>
                  </a:txBody>
                  <a:tcP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11" name="Text 8"/>
          <p:cNvSpPr/>
          <p:nvPr/>
        </p:nvSpPr>
        <p:spPr>
          <a:xfrm>
            <a:off x="0" y="4846320"/>
            <a:ext cx="9144000" cy="274320"/>
          </a:xfrm>
          <a:prstGeom prst="rect">
            <a:avLst/>
          </a:prstGeom>
          <a:noFill/>
          <a:ln/>
        </p:spPr>
        <p:txBody>
          <a:bodyPr wrap="square" rtlCol="0" anchor="ctr"/>
          <a:lstStyle/>
          <a:p>
            <a:pPr marL="0" indent="0" algn="ctr">
              <a:buNone/>
            </a:pPr>
            <a:r>
              <a:rPr lang="en-US" sz="900" dirty="0">
                <a:solidFill>
                  <a:srgbClr val="999999"/>
                </a:solidFill>
                <a:latin typeface="Calibri" pitchFamily="34" charset="0"/>
                <a:ea typeface="Calibri" pitchFamily="34" charset="-122"/>
                <a:cs typeface="Calibri" pitchFamily="34" charset="-120"/>
              </a:rPr>
              <a:t>Infosys ElectViz | Team C | India General Election 2024</a:t>
            </a:r>
            <a:endParaRPr lang="en-US" sz="900" dirty="0"/>
          </a:p>
        </p:txBody>
      </p:sp>
      <p:sp>
        <p:nvSpPr>
          <p:cNvPr id="7" name="TextBox 6">
            <a:extLst>
              <a:ext uri="{FF2B5EF4-FFF2-40B4-BE49-F238E27FC236}">
                <a16:creationId xmlns:a16="http://schemas.microsoft.com/office/drawing/2014/main" id="{BB4AF157-E2F6-AE4A-F1E0-7CA4E4DA892D}"/>
              </a:ext>
            </a:extLst>
          </p:cNvPr>
          <p:cNvSpPr txBox="1"/>
          <p:nvPr/>
        </p:nvSpPr>
        <p:spPr>
          <a:xfrm>
            <a:off x="355489" y="2952140"/>
            <a:ext cx="8520806" cy="220060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br>
              <a:rPr lang="en-US" dirty="0"/>
            </a:br>
            <a:r>
              <a:rPr lang="en-US" sz="1400" b="1" dirty="0">
                <a:solidFill>
                  <a:srgbClr val="1A3A5C"/>
                </a:solidFill>
                <a:latin typeface="Times New Roman" panose="02020603050405020304" pitchFamily="18" charset="0"/>
                <a:cs typeface="Times New Roman" panose="02020603050405020304" pitchFamily="18" charset="0"/>
              </a:rPr>
              <a:t>Party Strategy &amp; Performance Analysis </a:t>
            </a:r>
            <a:r>
              <a:rPr lang="en-US" sz="1400" dirty="0">
                <a:solidFill>
                  <a:srgbClr val="1A3A5C"/>
                </a:solidFill>
                <a:latin typeface="Times New Roman" panose="02020603050405020304" pitchFamily="18" charset="0"/>
                <a:cs typeface="Times New Roman" panose="02020603050405020304" pitchFamily="18" charset="0"/>
              </a:rPr>
              <a:t>Key Insights:</a:t>
            </a:r>
            <a:br>
              <a:rPr lang="en-US" sz="1400" dirty="0">
                <a:solidFill>
                  <a:srgbClr val="1A3A5C"/>
                </a:solidFill>
                <a:latin typeface="Times New Roman" panose="02020603050405020304" pitchFamily="18" charset="0"/>
                <a:cs typeface="Times New Roman" panose="02020603050405020304" pitchFamily="18" charset="0"/>
              </a:rPr>
            </a:br>
            <a:endParaRPr lang="en-US" sz="1100" dirty="0">
              <a:solidFill>
                <a:srgbClr val="1A3A5C"/>
              </a:solidFill>
              <a:latin typeface="Times New Roman" panose="02020603050405020304" pitchFamily="18" charset="0"/>
              <a:ea typeface="Calibri"/>
              <a:cs typeface="Times New Roman" panose="02020603050405020304" pitchFamily="18" charset="0"/>
            </a:endParaRPr>
          </a:p>
          <a:p>
            <a:pPr marL="285750" indent="-285750" algn="just">
              <a:buFont typeface="Arial"/>
              <a:buChar char="•"/>
            </a:pPr>
            <a:r>
              <a:rPr lang="en-US" sz="1100" dirty="0">
                <a:solidFill>
                  <a:schemeClr val="tx1">
                    <a:lumMod val="95000"/>
                    <a:lumOff val="5000"/>
                  </a:schemeClr>
                </a:solidFill>
                <a:latin typeface="Times New Roman" panose="02020603050405020304" pitchFamily="18" charset="0"/>
                <a:ea typeface="+mn-lt"/>
                <a:cs typeface="Times New Roman" panose="02020603050405020304" pitchFamily="18" charset="0"/>
              </a:rPr>
              <a:t>NCP (Sharad Pawar faction) emerged as the best-performing party in Ahmednagar with 47.14% vote share and 12 seats, indicating strong local dominance. </a:t>
            </a:r>
            <a:endParaRPr lang="en-US" sz="1100" dirty="0">
              <a:solidFill>
                <a:schemeClr val="tx1">
                  <a:lumMod val="95000"/>
                  <a:lumOff val="5000"/>
                </a:schemeClr>
              </a:solidFill>
              <a:latin typeface="Times New Roman" panose="02020603050405020304" pitchFamily="18" charset="0"/>
              <a:ea typeface="Calibri"/>
              <a:cs typeface="Times New Roman" panose="02020603050405020304" pitchFamily="18" charset="0"/>
            </a:endParaRPr>
          </a:p>
          <a:p>
            <a:pPr marL="285750" indent="-285750" algn="just">
              <a:buFont typeface="Arial"/>
              <a:buChar char="•"/>
            </a:pPr>
            <a:r>
              <a:rPr lang="en-US" sz="1100" dirty="0">
                <a:solidFill>
                  <a:schemeClr val="tx1">
                    <a:lumMod val="95000"/>
                    <a:lumOff val="5000"/>
                  </a:schemeClr>
                </a:solidFill>
                <a:latin typeface="Times New Roman" panose="02020603050405020304" pitchFamily="18" charset="0"/>
                <a:ea typeface="+mn-lt"/>
                <a:cs typeface="Times New Roman" panose="02020603050405020304" pitchFamily="18" charset="0"/>
              </a:rPr>
              <a:t>Bharatiya Janata Party (BJP) remained a close competitor with 44.95% vote share and 5,95,868 total votes. </a:t>
            </a:r>
            <a:endParaRPr lang="en-US" sz="1100" dirty="0">
              <a:solidFill>
                <a:schemeClr val="tx1">
                  <a:lumMod val="95000"/>
                  <a:lumOff val="5000"/>
                </a:schemeClr>
              </a:solidFill>
              <a:latin typeface="Times New Roman" panose="02020603050405020304" pitchFamily="18" charset="0"/>
              <a:ea typeface="Calibri"/>
              <a:cs typeface="Times New Roman" panose="02020603050405020304" pitchFamily="18" charset="0"/>
            </a:endParaRPr>
          </a:p>
          <a:p>
            <a:pPr marL="285750" indent="-285750" algn="just">
              <a:buFont typeface="Arial"/>
              <a:buChar char="•"/>
            </a:pPr>
            <a:r>
              <a:rPr lang="en-US" sz="1100" dirty="0">
                <a:solidFill>
                  <a:schemeClr val="tx1">
                    <a:lumMod val="95000"/>
                    <a:lumOff val="5000"/>
                  </a:schemeClr>
                </a:solidFill>
                <a:latin typeface="Times New Roman" panose="02020603050405020304" pitchFamily="18" charset="0"/>
                <a:ea typeface="+mn-lt"/>
                <a:cs typeface="Times New Roman" panose="02020603050405020304" pitchFamily="18" charset="0"/>
              </a:rPr>
              <a:t>Independent candidates secured a small but noticeable share (4.94%), showing the presence of non-party influence. </a:t>
            </a:r>
            <a:endParaRPr lang="en-US" sz="1100" dirty="0">
              <a:solidFill>
                <a:schemeClr val="tx1">
                  <a:lumMod val="95000"/>
                  <a:lumOff val="5000"/>
                </a:schemeClr>
              </a:solidFill>
              <a:latin typeface="Times New Roman" panose="02020603050405020304" pitchFamily="18" charset="0"/>
              <a:ea typeface="Calibri" panose="020F0502020204030204"/>
              <a:cs typeface="Times New Roman" panose="02020603050405020304" pitchFamily="18" charset="0"/>
            </a:endParaRPr>
          </a:p>
          <a:p>
            <a:pPr marL="285750" indent="-285750" algn="just">
              <a:buFont typeface="Arial"/>
              <a:buChar char="•"/>
            </a:pPr>
            <a:r>
              <a:rPr lang="en-US" sz="1100" dirty="0">
                <a:solidFill>
                  <a:schemeClr val="tx1">
                    <a:lumMod val="95000"/>
                    <a:lumOff val="5000"/>
                  </a:schemeClr>
                </a:solidFill>
                <a:latin typeface="Times New Roman" panose="02020603050405020304" pitchFamily="18" charset="0"/>
                <a:ea typeface="+mn-lt"/>
                <a:cs typeface="Times New Roman" panose="02020603050405020304" pitchFamily="18" charset="0"/>
              </a:rPr>
              <a:t>Smaller parties like Vanchit Bahujan </a:t>
            </a:r>
            <a:r>
              <a:rPr lang="en-US" sz="1100" dirty="0" err="1">
                <a:solidFill>
                  <a:schemeClr val="tx1">
                    <a:lumMod val="95000"/>
                    <a:lumOff val="5000"/>
                  </a:schemeClr>
                </a:solidFill>
                <a:latin typeface="Times New Roman" panose="02020603050405020304" pitchFamily="18" charset="0"/>
                <a:ea typeface="+mn-lt"/>
                <a:cs typeface="Times New Roman" panose="02020603050405020304" pitchFamily="18" charset="0"/>
              </a:rPr>
              <a:t>Aaghadi</a:t>
            </a:r>
            <a:r>
              <a:rPr lang="en-US" sz="1100" dirty="0">
                <a:solidFill>
                  <a:schemeClr val="tx1">
                    <a:lumMod val="95000"/>
                    <a:lumOff val="5000"/>
                  </a:schemeClr>
                </a:solidFill>
                <a:latin typeface="Times New Roman" panose="02020603050405020304" pitchFamily="18" charset="0"/>
                <a:ea typeface="+mn-lt"/>
                <a:cs typeface="Times New Roman" panose="02020603050405020304" pitchFamily="18" charset="0"/>
              </a:rPr>
              <a:t> and Bahujan Samaj Party had minimal electoral impact in this region. </a:t>
            </a:r>
            <a:endParaRPr lang="en-US" sz="1100" dirty="0">
              <a:solidFill>
                <a:schemeClr val="tx1">
                  <a:lumMod val="95000"/>
                  <a:lumOff val="5000"/>
                </a:schemeClr>
              </a:solidFill>
              <a:latin typeface="Times New Roman" panose="02020603050405020304" pitchFamily="18" charset="0"/>
              <a:ea typeface="Calibri"/>
              <a:cs typeface="Times New Roman" panose="02020603050405020304" pitchFamily="18" charset="0"/>
            </a:endParaRPr>
          </a:p>
          <a:p>
            <a:pPr marL="285750" indent="-285750" algn="just">
              <a:buFont typeface="Arial"/>
              <a:buChar char="•"/>
            </a:pPr>
            <a:r>
              <a:rPr lang="en-US" sz="1100" dirty="0">
                <a:solidFill>
                  <a:schemeClr val="tx1">
                    <a:lumMod val="95000"/>
                    <a:lumOff val="5000"/>
                  </a:schemeClr>
                </a:solidFill>
                <a:latin typeface="Times New Roman" panose="02020603050405020304" pitchFamily="18" charset="0"/>
                <a:ea typeface="+mn-lt"/>
                <a:cs typeface="Times New Roman" panose="02020603050405020304" pitchFamily="18" charset="0"/>
              </a:rPr>
              <a:t>The vote share vs strike rate analysis highlights how some parties convert voter support into seats more efficiently than others.</a:t>
            </a:r>
            <a:endParaRPr lang="en-US" sz="1100" dirty="0">
              <a:solidFill>
                <a:schemeClr val="tx1">
                  <a:lumMod val="95000"/>
                  <a:lumOff val="5000"/>
                </a:schemeClr>
              </a:solidFill>
              <a:latin typeface="Times New Roman" panose="02020603050405020304" pitchFamily="18" charset="0"/>
              <a:ea typeface="Calibri" panose="020F0502020204030204"/>
              <a:cs typeface="Times New Roman" panose="02020603050405020304" pitchFamily="18" charset="0"/>
            </a:endParaRPr>
          </a:p>
          <a:p>
            <a:endParaRPr lang="en-US" sz="1400" b="1" dirty="0">
              <a:ea typeface="Calibri" panose="020F0502020204030204"/>
              <a:cs typeface="Calibri" panose="020F0502020204030204"/>
            </a:endParaRPr>
          </a:p>
          <a:p>
            <a:pPr marL="285750" indent="-285750">
              <a:buFont typeface="Arial"/>
              <a:buChar char="•"/>
            </a:pPr>
            <a:endParaRPr lang="en-US" sz="1400" b="1" dirty="0">
              <a:ea typeface="Calibri" panose="020F0502020204030204"/>
              <a:cs typeface="Calibri" panose="020F0502020204030204"/>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A3A5C"/>
          </a:solidFill>
          <a:ln w="12700">
            <a:solidFill>
              <a:srgbClr val="1A3A5C"/>
            </a:solidFill>
            <a:prstDash val="solid"/>
          </a:ln>
        </p:spPr>
        <p:txBody>
          <a:bodyPr/>
          <a:lstStyle/>
          <a:p>
            <a:endParaRPr lang="en-IN"/>
          </a:p>
        </p:txBody>
      </p:sp>
      <p:sp>
        <p:nvSpPr>
          <p:cNvPr id="3" name="Shape 1"/>
          <p:cNvSpPr/>
          <p:nvPr/>
        </p:nvSpPr>
        <p:spPr>
          <a:xfrm>
            <a:off x="0" y="1005840"/>
            <a:ext cx="9144000" cy="64008"/>
          </a:xfrm>
          <a:prstGeom prst="rect">
            <a:avLst/>
          </a:prstGeom>
          <a:solidFill>
            <a:srgbClr val="E85D1A"/>
          </a:solidFill>
          <a:ln w="12700">
            <a:solidFill>
              <a:srgbClr val="E85D1A"/>
            </a:solidFill>
            <a:prstDash val="solid"/>
          </a:ln>
        </p:spPr>
        <p:txBody>
          <a:bodyPr/>
          <a:lstStyle/>
          <a:p>
            <a:endParaRPr lang="en-IN"/>
          </a:p>
        </p:txBody>
      </p:sp>
      <p:sp>
        <p:nvSpPr>
          <p:cNvPr id="4" name="Text 2"/>
          <p:cNvSpPr/>
          <p:nvPr/>
        </p:nvSpPr>
        <p:spPr>
          <a:xfrm>
            <a:off x="365760" y="91440"/>
            <a:ext cx="7315200" cy="548640"/>
          </a:xfrm>
          <a:prstGeom prst="rect">
            <a:avLst/>
          </a:prstGeom>
          <a:noFill/>
          <a:ln/>
        </p:spPr>
        <p:txBody>
          <a:bodyPr wrap="square" rtlCol="0" anchor="ctr"/>
          <a:lstStyle/>
          <a:p>
            <a:pPr marL="0" indent="0">
              <a:buNone/>
            </a:pPr>
            <a:r>
              <a:rPr lang="en-US" sz="2200" b="1" dirty="0">
                <a:solidFill>
                  <a:srgbClr val="FFFFFF"/>
                </a:solidFill>
                <a:latin typeface="Times New Roman" panose="02020603050405020304" pitchFamily="18" charset="0"/>
                <a:ea typeface="Calibri" pitchFamily="34" charset="-122"/>
                <a:cs typeface="Times New Roman" panose="02020603050405020304" pitchFamily="18" charset="0"/>
              </a:rPr>
              <a:t>Key Findings &amp; Insights</a:t>
            </a:r>
            <a:endParaRPr lang="en-US" sz="2200" dirty="0">
              <a:latin typeface="Times New Roman" panose="02020603050405020304" pitchFamily="18" charset="0"/>
              <a:cs typeface="Times New Roman" panose="02020603050405020304" pitchFamily="18" charset="0"/>
            </a:endParaRPr>
          </a:p>
        </p:txBody>
      </p:sp>
      <p:sp>
        <p:nvSpPr>
          <p:cNvPr id="5" name="Text 3"/>
          <p:cNvSpPr/>
          <p:nvPr/>
        </p:nvSpPr>
        <p:spPr>
          <a:xfrm>
            <a:off x="365760" y="594360"/>
            <a:ext cx="7315200" cy="365760"/>
          </a:xfrm>
          <a:prstGeom prst="rect">
            <a:avLst/>
          </a:prstGeom>
          <a:noFill/>
          <a:ln/>
        </p:spPr>
        <p:txBody>
          <a:bodyPr wrap="square" rtlCol="0" anchor="ctr"/>
          <a:lstStyle/>
          <a:p>
            <a:pPr marL="0" indent="0">
              <a:buNone/>
            </a:pPr>
            <a:r>
              <a:rPr lang="en-US" sz="1400" i="1" dirty="0">
                <a:solidFill>
                  <a:srgbClr val="B0C4DE"/>
                </a:solidFill>
                <a:latin typeface="Calibri" pitchFamily="34" charset="0"/>
                <a:ea typeface="Calibri" pitchFamily="34" charset="-122"/>
                <a:cs typeface="Calibri" pitchFamily="34" charset="-120"/>
              </a:rPr>
              <a:t>What the Data Reveals About India 2024</a:t>
            </a:r>
            <a:endParaRPr lang="en-US" sz="1400" dirty="0"/>
          </a:p>
        </p:txBody>
      </p:sp>
      <p:sp>
        <p:nvSpPr>
          <p:cNvPr id="8" name="Shape 6"/>
          <p:cNvSpPr/>
          <p:nvPr/>
        </p:nvSpPr>
        <p:spPr>
          <a:xfrm>
            <a:off x="274320" y="1188720"/>
            <a:ext cx="4114800" cy="1078992"/>
          </a:xfrm>
          <a:prstGeom prst="rect">
            <a:avLst/>
          </a:prstGeom>
          <a:solidFill>
            <a:srgbClr val="F0F4F8"/>
          </a:solidFill>
          <a:ln w="6350">
            <a:solidFill>
              <a:srgbClr val="CBD5E1"/>
            </a:solidFill>
            <a:prstDash val="solid"/>
          </a:ln>
        </p:spPr>
        <p:txBody>
          <a:bodyPr/>
          <a:lstStyle/>
          <a:p>
            <a:endParaRPr lang="en-IN"/>
          </a:p>
        </p:txBody>
      </p:sp>
      <p:sp>
        <p:nvSpPr>
          <p:cNvPr id="9" name="Shape 7"/>
          <p:cNvSpPr/>
          <p:nvPr/>
        </p:nvSpPr>
        <p:spPr>
          <a:xfrm>
            <a:off x="274320" y="1188720"/>
            <a:ext cx="164592" cy="1078992"/>
          </a:xfrm>
          <a:prstGeom prst="rect">
            <a:avLst/>
          </a:prstGeom>
          <a:solidFill>
            <a:srgbClr val="1565C0"/>
          </a:solidFill>
          <a:ln w="12700">
            <a:solidFill>
              <a:srgbClr val="CBD5E1"/>
            </a:solidFill>
            <a:prstDash val="solid"/>
          </a:ln>
        </p:spPr>
        <p:txBody>
          <a:bodyPr/>
          <a:lstStyle/>
          <a:p>
            <a:endParaRPr lang="en-IN"/>
          </a:p>
        </p:txBody>
      </p:sp>
      <p:sp>
        <p:nvSpPr>
          <p:cNvPr id="10" name="Text 8"/>
          <p:cNvSpPr/>
          <p:nvPr/>
        </p:nvSpPr>
        <p:spPr>
          <a:xfrm>
            <a:off x="502920" y="1280160"/>
            <a:ext cx="3840480" cy="292608"/>
          </a:xfrm>
          <a:prstGeom prst="rect">
            <a:avLst/>
          </a:prstGeom>
          <a:noFill/>
          <a:ln/>
        </p:spPr>
        <p:txBody>
          <a:bodyPr wrap="square" rtlCol="0" anchor="ctr"/>
          <a:lstStyle/>
          <a:p>
            <a:pPr marL="0" indent="0">
              <a:buNone/>
            </a:pPr>
            <a:r>
              <a:rPr lang="en-US" sz="1100" b="1" dirty="0">
                <a:solidFill>
                  <a:srgbClr val="1A3A5C"/>
                </a:solidFill>
                <a:latin typeface="Times New Roman" panose="02020603050405020304" pitchFamily="18" charset="0"/>
                <a:ea typeface="Calibri" pitchFamily="34" charset="-122"/>
                <a:cs typeface="Times New Roman" panose="02020603050405020304" pitchFamily="18" charset="0"/>
              </a:rPr>
              <a:t>NDA Majority but Weakened</a:t>
            </a:r>
            <a:endParaRPr lang="en-US" sz="1100" dirty="0">
              <a:latin typeface="Times New Roman" panose="02020603050405020304" pitchFamily="18" charset="0"/>
              <a:cs typeface="Times New Roman" panose="02020603050405020304" pitchFamily="18" charset="0"/>
            </a:endParaRPr>
          </a:p>
        </p:txBody>
      </p:sp>
      <p:sp>
        <p:nvSpPr>
          <p:cNvPr id="11" name="Text 9"/>
          <p:cNvSpPr/>
          <p:nvPr/>
        </p:nvSpPr>
        <p:spPr>
          <a:xfrm>
            <a:off x="502920" y="1591056"/>
            <a:ext cx="3840480" cy="621792"/>
          </a:xfrm>
          <a:prstGeom prst="rect">
            <a:avLst/>
          </a:prstGeom>
          <a:noFill/>
          <a:ln/>
        </p:spPr>
        <p:txBody>
          <a:bodyPr wrap="square" rtlCol="0" anchor="ctr"/>
          <a:lstStyle/>
          <a:p>
            <a:pPr marL="0" indent="0">
              <a:buNone/>
            </a:pPr>
            <a:r>
              <a:rPr lang="en-US" sz="950" dirty="0">
                <a:solidFill>
                  <a:schemeClr val="tx1">
                    <a:lumMod val="95000"/>
                    <a:lumOff val="5000"/>
                  </a:schemeClr>
                </a:solidFill>
                <a:latin typeface="Times New Roman" panose="02020603050405020304" pitchFamily="18" charset="0"/>
                <a:ea typeface="Calibri" pitchFamily="34" charset="-122"/>
                <a:cs typeface="Times New Roman" panose="02020603050405020304" pitchFamily="18" charset="0"/>
              </a:rPr>
              <a:t>NDA secured 292 seats — enough for majority but fewer than the 303 won in 2019, indicating voter recalibration in key states like UP and Rajasthan</a:t>
            </a:r>
            <a:r>
              <a:rPr lang="en-US" sz="950" dirty="0">
                <a:solidFill>
                  <a:srgbClr val="64748B"/>
                </a:solidFill>
                <a:latin typeface="Times New Roman" panose="02020603050405020304" pitchFamily="18" charset="0"/>
                <a:ea typeface="Calibri" pitchFamily="34" charset="-122"/>
                <a:cs typeface="Times New Roman" panose="02020603050405020304" pitchFamily="18" charset="0"/>
              </a:rPr>
              <a:t>.</a:t>
            </a:r>
            <a:endParaRPr lang="en-US" sz="950" dirty="0">
              <a:latin typeface="Times New Roman" panose="02020603050405020304" pitchFamily="18" charset="0"/>
              <a:cs typeface="Times New Roman" panose="02020603050405020304" pitchFamily="18" charset="0"/>
            </a:endParaRPr>
          </a:p>
        </p:txBody>
      </p:sp>
      <p:sp>
        <p:nvSpPr>
          <p:cNvPr id="12" name="Shape 10"/>
          <p:cNvSpPr/>
          <p:nvPr/>
        </p:nvSpPr>
        <p:spPr>
          <a:xfrm>
            <a:off x="4663440" y="1188720"/>
            <a:ext cx="4114800" cy="1078992"/>
          </a:xfrm>
          <a:prstGeom prst="rect">
            <a:avLst/>
          </a:prstGeom>
          <a:solidFill>
            <a:srgbClr val="F0F4F8"/>
          </a:solidFill>
          <a:ln w="6350">
            <a:solidFill>
              <a:srgbClr val="CBD5E1"/>
            </a:solidFill>
            <a:prstDash val="solid"/>
          </a:ln>
        </p:spPr>
        <p:txBody>
          <a:bodyPr/>
          <a:lstStyle/>
          <a:p>
            <a:endParaRPr lang="en-IN"/>
          </a:p>
        </p:txBody>
      </p:sp>
      <p:sp>
        <p:nvSpPr>
          <p:cNvPr id="13" name="Shape 11"/>
          <p:cNvSpPr/>
          <p:nvPr/>
        </p:nvSpPr>
        <p:spPr>
          <a:xfrm>
            <a:off x="4663440" y="1188720"/>
            <a:ext cx="164592" cy="1078992"/>
          </a:xfrm>
          <a:prstGeom prst="rect">
            <a:avLst/>
          </a:prstGeom>
          <a:solidFill>
            <a:srgbClr val="1565C0"/>
          </a:solidFill>
          <a:ln w="12700">
            <a:solidFill>
              <a:srgbClr val="CBD5E1"/>
            </a:solidFill>
            <a:prstDash val="solid"/>
          </a:ln>
        </p:spPr>
        <p:txBody>
          <a:bodyPr/>
          <a:lstStyle/>
          <a:p>
            <a:endParaRPr lang="en-IN"/>
          </a:p>
        </p:txBody>
      </p:sp>
      <p:sp>
        <p:nvSpPr>
          <p:cNvPr id="14" name="Text 12"/>
          <p:cNvSpPr/>
          <p:nvPr/>
        </p:nvSpPr>
        <p:spPr>
          <a:xfrm>
            <a:off x="4892040" y="1280160"/>
            <a:ext cx="3840480" cy="292608"/>
          </a:xfrm>
          <a:prstGeom prst="rect">
            <a:avLst/>
          </a:prstGeom>
          <a:noFill/>
          <a:ln/>
        </p:spPr>
        <p:txBody>
          <a:bodyPr wrap="square" rtlCol="0" anchor="ctr"/>
          <a:lstStyle/>
          <a:p>
            <a:pPr marL="0" indent="0">
              <a:buNone/>
            </a:pPr>
            <a:r>
              <a:rPr lang="en-US" sz="1100" b="1" dirty="0">
                <a:solidFill>
                  <a:srgbClr val="1A3A5C"/>
                </a:solidFill>
                <a:latin typeface="Times New Roman" panose="02020603050405020304" pitchFamily="18" charset="0"/>
                <a:ea typeface="Calibri" pitchFamily="34" charset="-122"/>
                <a:cs typeface="Times New Roman" panose="02020603050405020304" pitchFamily="18" charset="0"/>
              </a:rPr>
              <a:t>INC's Strong Comeback</a:t>
            </a:r>
            <a:endParaRPr lang="en-US" sz="1100" dirty="0">
              <a:latin typeface="Times New Roman" panose="02020603050405020304" pitchFamily="18" charset="0"/>
              <a:cs typeface="Times New Roman" panose="02020603050405020304" pitchFamily="18" charset="0"/>
            </a:endParaRPr>
          </a:p>
        </p:txBody>
      </p:sp>
      <p:sp>
        <p:nvSpPr>
          <p:cNvPr id="15" name="Text 13"/>
          <p:cNvSpPr/>
          <p:nvPr/>
        </p:nvSpPr>
        <p:spPr>
          <a:xfrm>
            <a:off x="4892040" y="1591056"/>
            <a:ext cx="3840480" cy="621792"/>
          </a:xfrm>
          <a:prstGeom prst="rect">
            <a:avLst/>
          </a:prstGeom>
          <a:noFill/>
          <a:ln/>
        </p:spPr>
        <p:txBody>
          <a:bodyPr wrap="square" rtlCol="0" anchor="ctr"/>
          <a:lstStyle/>
          <a:p>
            <a:pPr marL="0" indent="0">
              <a:buNone/>
            </a:pPr>
            <a:r>
              <a:rPr lang="en-US" sz="950" dirty="0">
                <a:solidFill>
                  <a:schemeClr val="tx1">
                    <a:lumMod val="95000"/>
                    <a:lumOff val="5000"/>
                  </a:schemeClr>
                </a:solidFill>
                <a:latin typeface="Times New Roman" panose="02020603050405020304" pitchFamily="18" charset="0"/>
                <a:ea typeface="Calibri" pitchFamily="34" charset="-122"/>
                <a:cs typeface="Times New Roman" panose="02020603050405020304" pitchFamily="18" charset="0"/>
              </a:rPr>
              <a:t>Congress doubled its 2019 tally from ~52 to 99 seats, emerging as the single largest opposition party and anchoring the I.N.D.I.A. bloc.</a:t>
            </a:r>
            <a:endParaRPr lang="en-US" sz="950"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16" name="Shape 14"/>
          <p:cNvSpPr/>
          <p:nvPr/>
        </p:nvSpPr>
        <p:spPr>
          <a:xfrm>
            <a:off x="274320" y="2377440"/>
            <a:ext cx="4114800" cy="1078992"/>
          </a:xfrm>
          <a:prstGeom prst="rect">
            <a:avLst/>
          </a:prstGeom>
          <a:solidFill>
            <a:srgbClr val="F0F4F8"/>
          </a:solidFill>
          <a:ln w="6350">
            <a:solidFill>
              <a:srgbClr val="CBD5E1"/>
            </a:solidFill>
            <a:prstDash val="solid"/>
          </a:ln>
        </p:spPr>
        <p:txBody>
          <a:bodyPr/>
          <a:lstStyle/>
          <a:p>
            <a:endParaRPr lang="en-IN"/>
          </a:p>
        </p:txBody>
      </p:sp>
      <p:sp>
        <p:nvSpPr>
          <p:cNvPr id="17" name="Shape 15"/>
          <p:cNvSpPr/>
          <p:nvPr/>
        </p:nvSpPr>
        <p:spPr>
          <a:xfrm>
            <a:off x="274320" y="2377440"/>
            <a:ext cx="164592" cy="1078992"/>
          </a:xfrm>
          <a:prstGeom prst="rect">
            <a:avLst/>
          </a:prstGeom>
          <a:solidFill>
            <a:srgbClr val="E85D1A"/>
          </a:solidFill>
          <a:ln w="12700">
            <a:solidFill>
              <a:srgbClr val="CBD5E1"/>
            </a:solidFill>
            <a:prstDash val="solid"/>
          </a:ln>
        </p:spPr>
        <p:txBody>
          <a:bodyPr/>
          <a:lstStyle/>
          <a:p>
            <a:endParaRPr lang="en-IN"/>
          </a:p>
        </p:txBody>
      </p:sp>
      <p:sp>
        <p:nvSpPr>
          <p:cNvPr id="18" name="Text 16"/>
          <p:cNvSpPr/>
          <p:nvPr/>
        </p:nvSpPr>
        <p:spPr>
          <a:xfrm>
            <a:off x="502920" y="2468880"/>
            <a:ext cx="3840480" cy="292608"/>
          </a:xfrm>
          <a:prstGeom prst="rect">
            <a:avLst/>
          </a:prstGeom>
          <a:noFill/>
          <a:ln/>
        </p:spPr>
        <p:txBody>
          <a:bodyPr wrap="square" rtlCol="0" anchor="ctr"/>
          <a:lstStyle/>
          <a:p>
            <a:pPr marL="0" indent="0">
              <a:buNone/>
            </a:pPr>
            <a:r>
              <a:rPr lang="en-US" sz="1100" b="1" dirty="0">
                <a:solidFill>
                  <a:srgbClr val="1A3A5C"/>
                </a:solidFill>
                <a:latin typeface="Times New Roman" panose="02020603050405020304" pitchFamily="18" charset="0"/>
                <a:ea typeface="Calibri" pitchFamily="34" charset="-122"/>
                <a:cs typeface="Times New Roman" panose="02020603050405020304" pitchFamily="18" charset="0"/>
              </a:rPr>
              <a:t>Regional Parties Decisive</a:t>
            </a:r>
            <a:endParaRPr lang="en-US" sz="1100" dirty="0">
              <a:latin typeface="Times New Roman" panose="02020603050405020304" pitchFamily="18" charset="0"/>
              <a:cs typeface="Times New Roman" panose="02020603050405020304" pitchFamily="18" charset="0"/>
            </a:endParaRPr>
          </a:p>
        </p:txBody>
      </p:sp>
      <p:sp>
        <p:nvSpPr>
          <p:cNvPr id="19" name="Text 17"/>
          <p:cNvSpPr/>
          <p:nvPr/>
        </p:nvSpPr>
        <p:spPr>
          <a:xfrm>
            <a:off x="502920" y="2779776"/>
            <a:ext cx="3840480" cy="621792"/>
          </a:xfrm>
          <a:prstGeom prst="rect">
            <a:avLst/>
          </a:prstGeom>
          <a:noFill/>
          <a:ln/>
        </p:spPr>
        <p:txBody>
          <a:bodyPr wrap="square" rtlCol="0" anchor="ctr"/>
          <a:lstStyle/>
          <a:p>
            <a:pPr marL="0" indent="0">
              <a:buNone/>
            </a:pPr>
            <a:r>
              <a:rPr lang="en-US" sz="950" dirty="0">
                <a:solidFill>
                  <a:schemeClr val="tx1">
                    <a:lumMod val="95000"/>
                    <a:lumOff val="5000"/>
                  </a:schemeClr>
                </a:solidFill>
                <a:latin typeface="Times New Roman" panose="02020603050405020304" pitchFamily="18" charset="0"/>
                <a:ea typeface="Calibri" pitchFamily="34" charset="-122"/>
                <a:cs typeface="Times New Roman" panose="02020603050405020304" pitchFamily="18" charset="0"/>
              </a:rPr>
              <a:t>States like Tamil Nadu (DMK), West Bengal (TMC), and Odisha (BJD) showed regional parties retaining dominance — national alliances had limited penetration.</a:t>
            </a:r>
            <a:endParaRPr lang="en-US" sz="950"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20" name="Shape 18"/>
          <p:cNvSpPr/>
          <p:nvPr/>
        </p:nvSpPr>
        <p:spPr>
          <a:xfrm>
            <a:off x="4663440" y="2377440"/>
            <a:ext cx="4114800" cy="1078992"/>
          </a:xfrm>
          <a:prstGeom prst="rect">
            <a:avLst/>
          </a:prstGeom>
          <a:solidFill>
            <a:srgbClr val="F0F4F8"/>
          </a:solidFill>
          <a:ln w="6350">
            <a:solidFill>
              <a:srgbClr val="CBD5E1"/>
            </a:solidFill>
            <a:prstDash val="solid"/>
          </a:ln>
        </p:spPr>
        <p:txBody>
          <a:bodyPr/>
          <a:lstStyle/>
          <a:p>
            <a:endParaRPr lang="en-IN"/>
          </a:p>
        </p:txBody>
      </p:sp>
      <p:sp>
        <p:nvSpPr>
          <p:cNvPr id="21" name="Shape 19"/>
          <p:cNvSpPr/>
          <p:nvPr/>
        </p:nvSpPr>
        <p:spPr>
          <a:xfrm>
            <a:off x="4663440" y="2377440"/>
            <a:ext cx="164592" cy="1078992"/>
          </a:xfrm>
          <a:prstGeom prst="rect">
            <a:avLst/>
          </a:prstGeom>
          <a:solidFill>
            <a:srgbClr val="E85D1A"/>
          </a:solidFill>
          <a:ln w="12700">
            <a:solidFill>
              <a:srgbClr val="CBD5E1"/>
            </a:solidFill>
            <a:prstDash val="solid"/>
          </a:ln>
        </p:spPr>
        <p:txBody>
          <a:bodyPr/>
          <a:lstStyle/>
          <a:p>
            <a:endParaRPr lang="en-IN"/>
          </a:p>
        </p:txBody>
      </p:sp>
      <p:sp>
        <p:nvSpPr>
          <p:cNvPr id="22" name="Text 20"/>
          <p:cNvSpPr/>
          <p:nvPr/>
        </p:nvSpPr>
        <p:spPr>
          <a:xfrm>
            <a:off x="4892040" y="2468880"/>
            <a:ext cx="3840480" cy="292608"/>
          </a:xfrm>
          <a:prstGeom prst="rect">
            <a:avLst/>
          </a:prstGeom>
          <a:noFill/>
          <a:ln/>
        </p:spPr>
        <p:txBody>
          <a:bodyPr wrap="square" rtlCol="0" anchor="ctr"/>
          <a:lstStyle/>
          <a:p>
            <a:pPr marL="0" indent="0">
              <a:buNone/>
            </a:pPr>
            <a:r>
              <a:rPr lang="en-US" sz="1100" b="1" dirty="0">
                <a:solidFill>
                  <a:srgbClr val="1A3A5C"/>
                </a:solidFill>
                <a:latin typeface="Times New Roman" panose="02020603050405020304" pitchFamily="18" charset="0"/>
                <a:ea typeface="Calibri" pitchFamily="34" charset="-122"/>
                <a:cs typeface="Times New Roman" panose="02020603050405020304" pitchFamily="18" charset="0"/>
              </a:rPr>
              <a:t>Low Strike Rates for Independents</a:t>
            </a:r>
            <a:endParaRPr lang="en-US" sz="1100" dirty="0">
              <a:latin typeface="Times New Roman" panose="02020603050405020304" pitchFamily="18" charset="0"/>
              <a:cs typeface="Times New Roman" panose="02020603050405020304" pitchFamily="18" charset="0"/>
            </a:endParaRPr>
          </a:p>
        </p:txBody>
      </p:sp>
      <p:sp>
        <p:nvSpPr>
          <p:cNvPr id="23" name="Text 21"/>
          <p:cNvSpPr/>
          <p:nvPr/>
        </p:nvSpPr>
        <p:spPr>
          <a:xfrm>
            <a:off x="4892040" y="2779776"/>
            <a:ext cx="3840480" cy="621792"/>
          </a:xfrm>
          <a:prstGeom prst="rect">
            <a:avLst/>
          </a:prstGeom>
          <a:noFill/>
          <a:ln/>
        </p:spPr>
        <p:txBody>
          <a:bodyPr wrap="square" rtlCol="0" anchor="ctr"/>
          <a:lstStyle/>
          <a:p>
            <a:pPr marL="0" indent="0">
              <a:buNone/>
            </a:pPr>
            <a:r>
              <a:rPr lang="en-US" sz="950" dirty="0">
                <a:solidFill>
                  <a:schemeClr val="tx1">
                    <a:lumMod val="95000"/>
                    <a:lumOff val="5000"/>
                  </a:schemeClr>
                </a:solidFill>
                <a:latin typeface="Times New Roman" panose="02020603050405020304" pitchFamily="18" charset="0"/>
                <a:ea typeface="Calibri" pitchFamily="34" charset="-122"/>
                <a:cs typeface="Times New Roman" panose="02020603050405020304" pitchFamily="18" charset="0"/>
              </a:rPr>
              <a:t>Independent candidates contested massively (500+) but had very low win rates, confirming the power of party machinery over individual candidacy.</a:t>
            </a:r>
            <a:endParaRPr lang="en-US" sz="950"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24" name="Shape 22"/>
          <p:cNvSpPr/>
          <p:nvPr/>
        </p:nvSpPr>
        <p:spPr>
          <a:xfrm>
            <a:off x="274320" y="3566160"/>
            <a:ext cx="4114800" cy="1078992"/>
          </a:xfrm>
          <a:prstGeom prst="rect">
            <a:avLst/>
          </a:prstGeom>
          <a:solidFill>
            <a:srgbClr val="F0F4F8"/>
          </a:solidFill>
          <a:ln w="6350">
            <a:solidFill>
              <a:srgbClr val="CBD5E1"/>
            </a:solidFill>
            <a:prstDash val="solid"/>
          </a:ln>
        </p:spPr>
        <p:txBody>
          <a:bodyPr/>
          <a:lstStyle/>
          <a:p>
            <a:endParaRPr lang="en-IN"/>
          </a:p>
        </p:txBody>
      </p:sp>
      <p:sp>
        <p:nvSpPr>
          <p:cNvPr id="25" name="Shape 23"/>
          <p:cNvSpPr/>
          <p:nvPr/>
        </p:nvSpPr>
        <p:spPr>
          <a:xfrm>
            <a:off x="274320" y="3566160"/>
            <a:ext cx="164592" cy="1078992"/>
          </a:xfrm>
          <a:prstGeom prst="rect">
            <a:avLst/>
          </a:prstGeom>
          <a:solidFill>
            <a:srgbClr val="2E7D32"/>
          </a:solidFill>
          <a:ln w="12700">
            <a:solidFill>
              <a:srgbClr val="CBD5E1"/>
            </a:solidFill>
            <a:prstDash val="solid"/>
          </a:ln>
        </p:spPr>
        <p:txBody>
          <a:bodyPr/>
          <a:lstStyle/>
          <a:p>
            <a:endParaRPr lang="en-IN"/>
          </a:p>
        </p:txBody>
      </p:sp>
      <p:sp>
        <p:nvSpPr>
          <p:cNvPr id="26" name="Text 24"/>
          <p:cNvSpPr/>
          <p:nvPr/>
        </p:nvSpPr>
        <p:spPr>
          <a:xfrm>
            <a:off x="502920" y="3657600"/>
            <a:ext cx="3840480" cy="292608"/>
          </a:xfrm>
          <a:prstGeom prst="rect">
            <a:avLst/>
          </a:prstGeom>
          <a:noFill/>
          <a:ln/>
        </p:spPr>
        <p:txBody>
          <a:bodyPr wrap="square" rtlCol="0" anchor="ctr"/>
          <a:lstStyle/>
          <a:p>
            <a:pPr marL="0" indent="0">
              <a:buNone/>
            </a:pPr>
            <a:r>
              <a:rPr lang="en-US" sz="1100" b="1" dirty="0">
                <a:solidFill>
                  <a:srgbClr val="1A3A5C"/>
                </a:solidFill>
                <a:latin typeface="Times New Roman" panose="02020603050405020304" pitchFamily="18" charset="0"/>
                <a:ea typeface="Calibri" pitchFamily="34" charset="-122"/>
                <a:cs typeface="Times New Roman" panose="02020603050405020304" pitchFamily="18" charset="0"/>
              </a:rPr>
              <a:t>Bihar: JD(U) Dominance</a:t>
            </a:r>
            <a:endParaRPr lang="en-US" sz="1100" dirty="0">
              <a:latin typeface="Times New Roman" panose="02020603050405020304" pitchFamily="18" charset="0"/>
              <a:cs typeface="Times New Roman" panose="02020603050405020304" pitchFamily="18" charset="0"/>
            </a:endParaRPr>
          </a:p>
        </p:txBody>
      </p:sp>
      <p:sp>
        <p:nvSpPr>
          <p:cNvPr id="27" name="Text 25"/>
          <p:cNvSpPr/>
          <p:nvPr/>
        </p:nvSpPr>
        <p:spPr>
          <a:xfrm>
            <a:off x="502920" y="3968496"/>
            <a:ext cx="3840480" cy="621792"/>
          </a:xfrm>
          <a:prstGeom prst="rect">
            <a:avLst/>
          </a:prstGeom>
          <a:noFill/>
          <a:ln/>
        </p:spPr>
        <p:txBody>
          <a:bodyPr wrap="square" rtlCol="0" anchor="ctr"/>
          <a:lstStyle/>
          <a:p>
            <a:pPr marL="0" indent="0">
              <a:buNone/>
            </a:pPr>
            <a:r>
              <a:rPr lang="en-US" sz="950" dirty="0">
                <a:solidFill>
                  <a:schemeClr val="tx1">
                    <a:lumMod val="95000"/>
                    <a:lumOff val="5000"/>
                  </a:schemeClr>
                </a:solidFill>
                <a:latin typeface="Times New Roman" panose="02020603050405020304" pitchFamily="18" charset="0"/>
                <a:ea typeface="Calibri" pitchFamily="34" charset="-122"/>
                <a:cs typeface="Times New Roman" panose="02020603050405020304" pitchFamily="18" charset="0"/>
              </a:rPr>
              <a:t>In Bihar, JD(U) fielded most candidates under NDA and won significantly, reinforcing Nitish Kumar's role as a key coalition ally.</a:t>
            </a:r>
            <a:endParaRPr lang="en-US" sz="950"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28" name="Shape 26"/>
          <p:cNvSpPr/>
          <p:nvPr/>
        </p:nvSpPr>
        <p:spPr>
          <a:xfrm>
            <a:off x="4663440" y="3566160"/>
            <a:ext cx="4114800" cy="1078992"/>
          </a:xfrm>
          <a:prstGeom prst="rect">
            <a:avLst/>
          </a:prstGeom>
          <a:solidFill>
            <a:srgbClr val="F0F4F8"/>
          </a:solidFill>
          <a:ln w="6350">
            <a:solidFill>
              <a:srgbClr val="CBD5E1"/>
            </a:solidFill>
            <a:prstDash val="solid"/>
          </a:ln>
        </p:spPr>
        <p:txBody>
          <a:bodyPr/>
          <a:lstStyle/>
          <a:p>
            <a:endParaRPr lang="en-IN"/>
          </a:p>
        </p:txBody>
      </p:sp>
      <p:sp>
        <p:nvSpPr>
          <p:cNvPr id="29" name="Shape 27"/>
          <p:cNvSpPr/>
          <p:nvPr/>
        </p:nvSpPr>
        <p:spPr>
          <a:xfrm>
            <a:off x="4663440" y="3566160"/>
            <a:ext cx="164592" cy="1078992"/>
          </a:xfrm>
          <a:prstGeom prst="rect">
            <a:avLst/>
          </a:prstGeom>
          <a:solidFill>
            <a:srgbClr val="2E7D32"/>
          </a:solidFill>
          <a:ln w="12700">
            <a:solidFill>
              <a:srgbClr val="CBD5E1"/>
            </a:solidFill>
            <a:prstDash val="solid"/>
          </a:ln>
        </p:spPr>
        <p:txBody>
          <a:bodyPr/>
          <a:lstStyle/>
          <a:p>
            <a:endParaRPr lang="en-IN"/>
          </a:p>
        </p:txBody>
      </p:sp>
      <p:sp>
        <p:nvSpPr>
          <p:cNvPr id="30" name="Text 28"/>
          <p:cNvSpPr/>
          <p:nvPr/>
        </p:nvSpPr>
        <p:spPr>
          <a:xfrm>
            <a:off x="4892040" y="3657600"/>
            <a:ext cx="3840480" cy="292608"/>
          </a:xfrm>
          <a:prstGeom prst="rect">
            <a:avLst/>
          </a:prstGeom>
          <a:noFill/>
          <a:ln/>
        </p:spPr>
        <p:txBody>
          <a:bodyPr wrap="square" rtlCol="0" anchor="ctr"/>
          <a:lstStyle/>
          <a:p>
            <a:pPr marL="0" indent="0">
              <a:buNone/>
            </a:pPr>
            <a:r>
              <a:rPr lang="en-US" sz="1100" b="1" dirty="0">
                <a:solidFill>
                  <a:srgbClr val="1A3A5C"/>
                </a:solidFill>
                <a:latin typeface="Times New Roman" panose="02020603050405020304" pitchFamily="18" charset="0"/>
                <a:ea typeface="Calibri" pitchFamily="34" charset="-122"/>
                <a:cs typeface="Times New Roman" panose="02020603050405020304" pitchFamily="18" charset="0"/>
              </a:rPr>
              <a:t>Ahmednagar Margin: 28,929</a:t>
            </a:r>
            <a:endParaRPr lang="en-US" sz="1100" dirty="0">
              <a:latin typeface="Times New Roman" panose="02020603050405020304" pitchFamily="18" charset="0"/>
              <a:cs typeface="Times New Roman" panose="02020603050405020304" pitchFamily="18" charset="0"/>
            </a:endParaRPr>
          </a:p>
        </p:txBody>
      </p:sp>
      <p:sp>
        <p:nvSpPr>
          <p:cNvPr id="31" name="Text 29"/>
          <p:cNvSpPr/>
          <p:nvPr/>
        </p:nvSpPr>
        <p:spPr>
          <a:xfrm>
            <a:off x="4892040" y="3968496"/>
            <a:ext cx="3840480" cy="621792"/>
          </a:xfrm>
          <a:prstGeom prst="rect">
            <a:avLst/>
          </a:prstGeom>
          <a:noFill/>
          <a:ln/>
        </p:spPr>
        <p:txBody>
          <a:bodyPr wrap="square" rtlCol="0" anchor="ctr"/>
          <a:lstStyle/>
          <a:p>
            <a:pPr marL="0" indent="0">
              <a:buNone/>
            </a:pPr>
            <a:r>
              <a:rPr lang="en-US" sz="950" dirty="0">
                <a:solidFill>
                  <a:schemeClr val="tx1">
                    <a:lumMod val="95000"/>
                    <a:lumOff val="5000"/>
                  </a:schemeClr>
                </a:solidFill>
                <a:latin typeface="Times New Roman" panose="02020603050405020304" pitchFamily="18" charset="0"/>
                <a:ea typeface="Calibri" pitchFamily="34" charset="-122"/>
                <a:cs typeface="Times New Roman" panose="02020603050405020304" pitchFamily="18" charset="0"/>
              </a:rPr>
              <a:t>NCP's victory in Ahmednagar with a margin of 28,929 votes over BJP illustrates highly competitive constituency-level battles in Maharashtra.</a:t>
            </a:r>
            <a:endParaRPr lang="en-US" sz="950"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32" name="Text 30"/>
          <p:cNvSpPr/>
          <p:nvPr/>
        </p:nvSpPr>
        <p:spPr>
          <a:xfrm>
            <a:off x="0" y="4846320"/>
            <a:ext cx="9144000" cy="274320"/>
          </a:xfrm>
          <a:prstGeom prst="rect">
            <a:avLst/>
          </a:prstGeom>
          <a:noFill/>
          <a:ln/>
        </p:spPr>
        <p:txBody>
          <a:bodyPr wrap="square" rtlCol="0" anchor="ctr"/>
          <a:lstStyle/>
          <a:p>
            <a:pPr marL="0" indent="0" algn="ctr">
              <a:buNone/>
            </a:pPr>
            <a:r>
              <a:rPr lang="en-US" sz="900" dirty="0">
                <a:solidFill>
                  <a:srgbClr val="999999"/>
                </a:solidFill>
                <a:latin typeface="Calibri" pitchFamily="34" charset="0"/>
                <a:ea typeface="Calibri" pitchFamily="34" charset="-122"/>
                <a:cs typeface="Calibri" pitchFamily="34" charset="-120"/>
              </a:rPr>
              <a:t>Infosys ElectViz | Team C | India General Election 2024</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A3A5C"/>
          </a:solidFill>
          <a:ln w="12700">
            <a:solidFill>
              <a:srgbClr val="1A3A5C"/>
            </a:solidFill>
            <a:prstDash val="solid"/>
          </a:ln>
        </p:spPr>
        <p:txBody>
          <a:bodyPr/>
          <a:lstStyle/>
          <a:p>
            <a:endParaRPr lang="en-IN"/>
          </a:p>
        </p:txBody>
      </p:sp>
      <p:sp>
        <p:nvSpPr>
          <p:cNvPr id="3" name="Shape 1"/>
          <p:cNvSpPr/>
          <p:nvPr/>
        </p:nvSpPr>
        <p:spPr>
          <a:xfrm>
            <a:off x="0" y="1005840"/>
            <a:ext cx="9144000" cy="64008"/>
          </a:xfrm>
          <a:prstGeom prst="rect">
            <a:avLst/>
          </a:prstGeom>
          <a:solidFill>
            <a:srgbClr val="E85D1A"/>
          </a:solidFill>
          <a:ln w="12700">
            <a:solidFill>
              <a:srgbClr val="E85D1A"/>
            </a:solidFill>
            <a:prstDash val="solid"/>
          </a:ln>
        </p:spPr>
        <p:txBody>
          <a:bodyPr/>
          <a:lstStyle/>
          <a:p>
            <a:endParaRPr lang="en-IN"/>
          </a:p>
        </p:txBody>
      </p:sp>
      <p:sp>
        <p:nvSpPr>
          <p:cNvPr id="4" name="Text 2"/>
          <p:cNvSpPr/>
          <p:nvPr/>
        </p:nvSpPr>
        <p:spPr>
          <a:xfrm>
            <a:off x="-189044" y="231579"/>
            <a:ext cx="7315200" cy="548640"/>
          </a:xfrm>
          <a:prstGeom prst="rect">
            <a:avLst/>
          </a:prstGeom>
          <a:noFill/>
          <a:ln/>
        </p:spPr>
        <p:txBody>
          <a:bodyPr wrap="square" rtlCol="0" anchor="ctr"/>
          <a:lstStyle/>
          <a:p>
            <a:pPr lvl="1"/>
            <a:r>
              <a:rPr lang="en-US" sz="3200" b="1" dirty="0">
                <a:solidFill>
                  <a:srgbClr val="FFFFFF"/>
                </a:solidFill>
                <a:latin typeface="Times New Roman" panose="02020603050405020304" pitchFamily="18" charset="0"/>
                <a:ea typeface="Calibri" pitchFamily="34" charset="-122"/>
                <a:cs typeface="Times New Roman" panose="02020603050405020304" pitchFamily="18" charset="0"/>
              </a:rPr>
              <a:t>Future Scope:</a:t>
            </a:r>
            <a:endParaRPr lang="en-US" sz="3200" dirty="0">
              <a:latin typeface="Times New Roman" panose="02020603050405020304" pitchFamily="18" charset="0"/>
              <a:cs typeface="Times New Roman" panose="02020603050405020304" pitchFamily="18" charset="0"/>
            </a:endParaRPr>
          </a:p>
        </p:txBody>
      </p:sp>
      <p:sp>
        <p:nvSpPr>
          <p:cNvPr id="8" name="Shape 6"/>
          <p:cNvSpPr/>
          <p:nvPr/>
        </p:nvSpPr>
        <p:spPr>
          <a:xfrm>
            <a:off x="274320" y="1143000"/>
            <a:ext cx="8595360" cy="3703320"/>
          </a:xfrm>
          <a:prstGeom prst="rect">
            <a:avLst/>
          </a:prstGeom>
          <a:solidFill>
            <a:srgbClr val="EAF0F7"/>
          </a:solidFill>
          <a:ln w="6350">
            <a:solidFill>
              <a:srgbClr val="CBD5E1"/>
            </a:solidFill>
            <a:prstDash val="solid"/>
          </a:ln>
        </p:spPr>
        <p:txBody>
          <a:bodyPr/>
          <a:lstStyle/>
          <a:p>
            <a:endParaRPr lang="en-US" dirty="0"/>
          </a:p>
          <a:p>
            <a:pPr marL="285750" indent="-285750">
              <a:buFont typeface="Arial" panose="020B0604020202020204" pitchFamily="34" charset="0"/>
              <a:buChar char="•"/>
            </a:pPr>
            <a:r>
              <a:rPr lang="en-US" sz="1600" dirty="0"/>
              <a:t>🔮 </a:t>
            </a:r>
            <a:r>
              <a:rPr lang="en-US" sz="1600" b="1" dirty="0">
                <a:latin typeface="Times New Roman" panose="02020603050405020304" pitchFamily="18" charset="0"/>
                <a:cs typeface="Times New Roman" panose="02020603050405020304" pitchFamily="18" charset="0"/>
              </a:rPr>
              <a:t>Predictive Analysis</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Implement machine learning models to predict election outcomes and voter trends.</a:t>
            </a:r>
          </a:p>
          <a:p>
            <a:pPr marL="285750" indent="-285750">
              <a:buFont typeface="Arial" panose="020B0604020202020204" pitchFamily="34" charset="0"/>
              <a:buChar char="•"/>
            </a:pPr>
            <a:endParaRPr lang="en-US" sz="16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 </a:t>
            </a:r>
            <a:r>
              <a:rPr lang="en-US" sz="1600" b="1" dirty="0">
                <a:latin typeface="Times New Roman" panose="02020603050405020304" pitchFamily="18" charset="0"/>
                <a:cs typeface="Times New Roman" panose="02020603050405020304" pitchFamily="18" charset="0"/>
              </a:rPr>
              <a:t>Real-Time Data Integration</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Integrate live election data using APIs for real-time dashboard updates.</a:t>
            </a:r>
          </a:p>
          <a:p>
            <a:pPr marL="285750" indent="-285750">
              <a:buFont typeface="Arial" panose="020B0604020202020204" pitchFamily="34" charset="0"/>
              <a:buChar char="•"/>
            </a:pPr>
            <a:endParaRPr lang="en-US" sz="16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 </a:t>
            </a:r>
            <a:r>
              <a:rPr lang="en-US" sz="1600" b="1" dirty="0">
                <a:latin typeface="Times New Roman" panose="02020603050405020304" pitchFamily="18" charset="0"/>
                <a:cs typeface="Times New Roman" panose="02020603050405020304" pitchFamily="18" charset="0"/>
              </a:rPr>
              <a:t>Historical Comparison</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Compare results with previous elections (e.g., 2019 vs 2024) to identify trends.</a:t>
            </a:r>
          </a:p>
          <a:p>
            <a:pPr marL="285750" indent="-285750">
              <a:buFont typeface="Arial" panose="020B0604020202020204" pitchFamily="34" charset="0"/>
              <a:buChar char="•"/>
            </a:pPr>
            <a:endParaRPr lang="en-US" sz="16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 </a:t>
            </a:r>
            <a:r>
              <a:rPr lang="en-US" sz="1600" b="1" dirty="0">
                <a:latin typeface="Times New Roman" panose="02020603050405020304" pitchFamily="18" charset="0"/>
                <a:cs typeface="Times New Roman" panose="02020603050405020304" pitchFamily="18" charset="0"/>
              </a:rPr>
              <a:t>Web Deployment</a:t>
            </a:r>
            <a:br>
              <a:rPr lang="en-US" sz="1600" dirty="0">
                <a:latin typeface="Times New Roman" panose="02020603050405020304" pitchFamily="18" charset="0"/>
                <a:cs typeface="Times New Roman" panose="02020603050405020304" pitchFamily="18" charset="0"/>
              </a:rPr>
            </a:br>
            <a:r>
              <a:rPr lang="en-US" sz="1600" dirty="0">
                <a:latin typeface="Times New Roman" panose="02020603050405020304" pitchFamily="18" charset="0"/>
                <a:cs typeface="Times New Roman" panose="02020603050405020304" pitchFamily="18" charset="0"/>
              </a:rPr>
              <a:t>Publish the dashboard online for easy access by users and stakeholders.</a:t>
            </a:r>
            <a:endParaRPr lang="en-IN" sz="1600" dirty="0">
              <a:latin typeface="Times New Roman" panose="02020603050405020304" pitchFamily="18" charset="0"/>
              <a:cs typeface="Times New Roman" panose="02020603050405020304" pitchFamily="18" charset="0"/>
            </a:endParaRPr>
          </a:p>
        </p:txBody>
      </p:sp>
      <p:sp>
        <p:nvSpPr>
          <p:cNvPr id="22" name="Text 20"/>
          <p:cNvSpPr/>
          <p:nvPr/>
        </p:nvSpPr>
        <p:spPr>
          <a:xfrm>
            <a:off x="0" y="4846320"/>
            <a:ext cx="9144000" cy="274320"/>
          </a:xfrm>
          <a:prstGeom prst="rect">
            <a:avLst/>
          </a:prstGeom>
          <a:noFill/>
          <a:ln/>
        </p:spPr>
        <p:txBody>
          <a:bodyPr wrap="square" rtlCol="0" anchor="ctr"/>
          <a:lstStyle/>
          <a:p>
            <a:pPr marL="0" indent="0" algn="ctr">
              <a:buNone/>
            </a:pPr>
            <a:r>
              <a:rPr lang="en-US" sz="900" dirty="0">
                <a:solidFill>
                  <a:srgbClr val="999999"/>
                </a:solidFill>
                <a:latin typeface="Calibri" pitchFamily="34" charset="0"/>
                <a:ea typeface="Calibri" pitchFamily="34" charset="-122"/>
                <a:cs typeface="Calibri" pitchFamily="34" charset="-120"/>
              </a:rPr>
              <a:t>Infosys ElectViz | Team C | India General Election 2024</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B87CA801-9786-C257-2500-0D4203855F39}"/>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6BF4D2AF-1E75-E825-9BD4-3F2287F72863}"/>
              </a:ext>
            </a:extLst>
          </p:cNvPr>
          <p:cNvSpPr/>
          <p:nvPr/>
        </p:nvSpPr>
        <p:spPr>
          <a:xfrm>
            <a:off x="0" y="0"/>
            <a:ext cx="9144000" cy="1005840"/>
          </a:xfrm>
          <a:prstGeom prst="rect">
            <a:avLst/>
          </a:prstGeom>
          <a:solidFill>
            <a:srgbClr val="1A3A5C"/>
          </a:solidFill>
          <a:ln w="12700">
            <a:solidFill>
              <a:srgbClr val="1A3A5C"/>
            </a:solidFill>
            <a:prstDash val="solid"/>
          </a:ln>
        </p:spPr>
        <p:txBody>
          <a:bodyPr/>
          <a:lstStyle/>
          <a:p>
            <a:endParaRPr lang="en-IN"/>
          </a:p>
        </p:txBody>
      </p:sp>
      <p:sp>
        <p:nvSpPr>
          <p:cNvPr id="3" name="Shape 1">
            <a:extLst>
              <a:ext uri="{FF2B5EF4-FFF2-40B4-BE49-F238E27FC236}">
                <a16:creationId xmlns:a16="http://schemas.microsoft.com/office/drawing/2014/main" id="{28D17E8E-3562-9D38-B5F7-0F035D177FBE}"/>
              </a:ext>
            </a:extLst>
          </p:cNvPr>
          <p:cNvSpPr/>
          <p:nvPr/>
        </p:nvSpPr>
        <p:spPr>
          <a:xfrm>
            <a:off x="0" y="1005840"/>
            <a:ext cx="9144000" cy="64008"/>
          </a:xfrm>
          <a:prstGeom prst="rect">
            <a:avLst/>
          </a:prstGeom>
          <a:solidFill>
            <a:srgbClr val="E85D1A"/>
          </a:solidFill>
          <a:ln w="12700">
            <a:solidFill>
              <a:srgbClr val="E85D1A"/>
            </a:solidFill>
            <a:prstDash val="solid"/>
          </a:ln>
        </p:spPr>
        <p:txBody>
          <a:bodyPr/>
          <a:lstStyle/>
          <a:p>
            <a:endParaRPr lang="en-IN"/>
          </a:p>
        </p:txBody>
      </p:sp>
      <p:sp>
        <p:nvSpPr>
          <p:cNvPr id="4" name="Text 2">
            <a:extLst>
              <a:ext uri="{FF2B5EF4-FFF2-40B4-BE49-F238E27FC236}">
                <a16:creationId xmlns:a16="http://schemas.microsoft.com/office/drawing/2014/main" id="{99B9494A-AE19-74BA-ED6E-4D0384C4A2D8}"/>
              </a:ext>
            </a:extLst>
          </p:cNvPr>
          <p:cNvSpPr/>
          <p:nvPr/>
        </p:nvSpPr>
        <p:spPr>
          <a:xfrm>
            <a:off x="-189044" y="231579"/>
            <a:ext cx="7315200" cy="548640"/>
          </a:xfrm>
          <a:prstGeom prst="rect">
            <a:avLst/>
          </a:prstGeom>
          <a:noFill/>
          <a:ln/>
        </p:spPr>
        <p:txBody>
          <a:bodyPr wrap="square" rtlCol="0" anchor="ctr"/>
          <a:lstStyle/>
          <a:p>
            <a:pPr lvl="1"/>
            <a:r>
              <a:rPr lang="en-US" sz="4000" b="1" dirty="0">
                <a:solidFill>
                  <a:srgbClr val="FFFFFF"/>
                </a:solidFill>
                <a:latin typeface="Times New Roman" panose="02020603050405020304" pitchFamily="18" charset="0"/>
                <a:ea typeface="Calibri" pitchFamily="34" charset="-122"/>
                <a:cs typeface="Times New Roman" panose="02020603050405020304" pitchFamily="18" charset="0"/>
              </a:rPr>
              <a:t>Conclusion:</a:t>
            </a:r>
            <a:endParaRPr lang="en-US" sz="4000" dirty="0">
              <a:latin typeface="Times New Roman" panose="02020603050405020304" pitchFamily="18" charset="0"/>
              <a:cs typeface="Times New Roman" panose="02020603050405020304" pitchFamily="18" charset="0"/>
            </a:endParaRPr>
          </a:p>
        </p:txBody>
      </p:sp>
      <p:sp>
        <p:nvSpPr>
          <p:cNvPr id="8" name="Shape 6">
            <a:extLst>
              <a:ext uri="{FF2B5EF4-FFF2-40B4-BE49-F238E27FC236}">
                <a16:creationId xmlns:a16="http://schemas.microsoft.com/office/drawing/2014/main" id="{C063475B-822F-A8A7-0989-5FB0BF7C6838}"/>
              </a:ext>
            </a:extLst>
          </p:cNvPr>
          <p:cNvSpPr/>
          <p:nvPr/>
        </p:nvSpPr>
        <p:spPr>
          <a:xfrm>
            <a:off x="274320" y="1143000"/>
            <a:ext cx="8595360" cy="3703320"/>
          </a:xfrm>
          <a:prstGeom prst="rect">
            <a:avLst/>
          </a:prstGeom>
          <a:solidFill>
            <a:srgbClr val="EAF0F7"/>
          </a:solidFill>
          <a:ln w="6350">
            <a:solidFill>
              <a:srgbClr val="CBD5E1"/>
            </a:solidFill>
            <a:prstDash val="solid"/>
          </a:ln>
        </p:spPr>
        <p:txBody>
          <a:bodyPr/>
          <a:lstStyle/>
          <a:p>
            <a:endParaRPr lang="en-IN"/>
          </a:p>
        </p:txBody>
      </p:sp>
      <p:sp>
        <p:nvSpPr>
          <p:cNvPr id="9" name="Text 7">
            <a:extLst>
              <a:ext uri="{FF2B5EF4-FFF2-40B4-BE49-F238E27FC236}">
                <a16:creationId xmlns:a16="http://schemas.microsoft.com/office/drawing/2014/main" id="{DC66DC90-CAD8-3CCD-BAAE-D005B2B302F1}"/>
              </a:ext>
            </a:extLst>
          </p:cNvPr>
          <p:cNvSpPr/>
          <p:nvPr/>
        </p:nvSpPr>
        <p:spPr>
          <a:xfrm>
            <a:off x="457200" y="1051868"/>
            <a:ext cx="8229600" cy="3730444"/>
          </a:xfrm>
          <a:prstGeom prst="rect">
            <a:avLst/>
          </a:prstGeom>
          <a:noFill/>
          <a:ln/>
        </p:spPr>
        <p:txBody>
          <a:bodyPr wrap="square" rtlCol="0" anchor="ctr"/>
          <a:lstStyle/>
          <a:p>
            <a:pPr marL="0" indent="0" algn="just">
              <a:spcAft>
                <a:spcPts val="400"/>
              </a:spcAft>
              <a:buNone/>
            </a:pPr>
            <a:r>
              <a:rPr lang="en-US" dirty="0">
                <a:solidFill>
                  <a:schemeClr val="tx1">
                    <a:lumMod val="95000"/>
                    <a:lumOff val="5000"/>
                  </a:schemeClr>
                </a:solidFill>
                <a:latin typeface="Times New Roman" panose="02020603050405020304" pitchFamily="18" charset="0"/>
                <a:ea typeface="Calibri" pitchFamily="34" charset="-122"/>
                <a:cs typeface="Times New Roman" panose="02020603050405020304" pitchFamily="18" charset="0"/>
              </a:rPr>
              <a:t>ElectViz successfully transforms raw India 2024 election data into a </a:t>
            </a:r>
            <a:r>
              <a:rPr lang="en-US" b="1" dirty="0">
                <a:solidFill>
                  <a:schemeClr val="tx1">
                    <a:lumMod val="95000"/>
                    <a:lumOff val="5000"/>
                  </a:schemeClr>
                </a:solidFill>
                <a:latin typeface="Times New Roman" panose="02020603050405020304" pitchFamily="18" charset="0"/>
                <a:ea typeface="Calibri" pitchFamily="34" charset="-122"/>
                <a:cs typeface="Times New Roman" panose="02020603050405020304" pitchFamily="18" charset="0"/>
              </a:rPr>
              <a:t>media-ready, interactive Power BI solution</a:t>
            </a:r>
            <a:r>
              <a:rPr lang="en-US" dirty="0">
                <a:solidFill>
                  <a:schemeClr val="tx1">
                    <a:lumMod val="95000"/>
                    <a:lumOff val="5000"/>
                  </a:schemeClr>
                </a:solidFill>
                <a:latin typeface="Times New Roman" panose="02020603050405020304" pitchFamily="18" charset="0"/>
                <a:ea typeface="Calibri" pitchFamily="34" charset="-122"/>
                <a:cs typeface="Times New Roman" panose="02020603050405020304" pitchFamily="18" charset="0"/>
              </a:rPr>
              <a:t> that serves journalists, analysts, and the public. By leveraging DAX for business logic, Power Query for data cleansing, and star schema modeling for performance, the project demonstrates end-to-end data engineering capability.
</a:t>
            </a:r>
            <a:r>
              <a:rPr lang="en-US" i="1" dirty="0">
                <a:solidFill>
                  <a:schemeClr val="tx1">
                    <a:lumMod val="95000"/>
                    <a:lumOff val="5000"/>
                  </a:schemeClr>
                </a:solidFill>
                <a:latin typeface="Times New Roman" panose="02020603050405020304" pitchFamily="18" charset="0"/>
                <a:ea typeface="Calibri" pitchFamily="34" charset="-122"/>
                <a:cs typeface="Times New Roman" panose="02020603050405020304" pitchFamily="18" charset="0"/>
              </a:rPr>
              <a:t>The dashboards provide unprecedented access to constituency-level, state-level, and party-level insights — enabling data-driven political journalism and transparent public discourse on election outcomes.</a:t>
            </a:r>
            <a:endParaRPr lang="en-US"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22" name="Text 20">
            <a:extLst>
              <a:ext uri="{FF2B5EF4-FFF2-40B4-BE49-F238E27FC236}">
                <a16:creationId xmlns:a16="http://schemas.microsoft.com/office/drawing/2014/main" id="{605F0F2B-8015-FDEB-AD90-0FF5400D2F03}"/>
              </a:ext>
            </a:extLst>
          </p:cNvPr>
          <p:cNvSpPr/>
          <p:nvPr/>
        </p:nvSpPr>
        <p:spPr>
          <a:xfrm>
            <a:off x="0" y="4846320"/>
            <a:ext cx="9144000" cy="274320"/>
          </a:xfrm>
          <a:prstGeom prst="rect">
            <a:avLst/>
          </a:prstGeom>
          <a:noFill/>
          <a:ln/>
        </p:spPr>
        <p:txBody>
          <a:bodyPr wrap="square" rtlCol="0" anchor="ctr"/>
          <a:lstStyle/>
          <a:p>
            <a:pPr marL="0" indent="0" algn="ctr">
              <a:buNone/>
            </a:pPr>
            <a:r>
              <a:rPr lang="en-US" sz="900" dirty="0">
                <a:solidFill>
                  <a:srgbClr val="999999"/>
                </a:solidFill>
                <a:latin typeface="Calibri" pitchFamily="34" charset="0"/>
                <a:ea typeface="Calibri" pitchFamily="34" charset="-122"/>
                <a:cs typeface="Calibri" pitchFamily="34" charset="-120"/>
              </a:rPr>
              <a:t>Infosys ElectViz | Team C | India General Election 2024</a:t>
            </a:r>
            <a:endParaRPr lang="en-US" sz="900" dirty="0"/>
          </a:p>
        </p:txBody>
      </p:sp>
    </p:spTree>
    <p:extLst>
      <p:ext uri="{BB962C8B-B14F-4D97-AF65-F5344CB8AC3E}">
        <p14:creationId xmlns:p14="http://schemas.microsoft.com/office/powerpoint/2010/main" val="232029327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274320" cy="5143500"/>
          </a:xfrm>
          <a:prstGeom prst="rect">
            <a:avLst/>
          </a:prstGeom>
          <a:solidFill>
            <a:srgbClr val="1A3A5C"/>
          </a:solidFill>
          <a:ln w="12700">
            <a:solidFill>
              <a:srgbClr val="1A3A5C"/>
            </a:solidFill>
            <a:prstDash val="solid"/>
          </a:ln>
        </p:spPr>
        <p:txBody>
          <a:bodyPr/>
          <a:lstStyle/>
          <a:p>
            <a:endParaRPr lang="en-IN"/>
          </a:p>
        </p:txBody>
      </p:sp>
      <p:sp>
        <p:nvSpPr>
          <p:cNvPr id="3" name="Shape 1"/>
          <p:cNvSpPr/>
          <p:nvPr/>
        </p:nvSpPr>
        <p:spPr>
          <a:xfrm>
            <a:off x="274320" y="0"/>
            <a:ext cx="137160" cy="5143500"/>
          </a:xfrm>
          <a:prstGeom prst="rect">
            <a:avLst/>
          </a:prstGeom>
          <a:solidFill>
            <a:srgbClr val="E85D1A"/>
          </a:solidFill>
          <a:ln w="12700">
            <a:solidFill>
              <a:srgbClr val="E85D1A"/>
            </a:solidFill>
            <a:prstDash val="solid"/>
          </a:ln>
        </p:spPr>
        <p:txBody>
          <a:bodyPr/>
          <a:lstStyle/>
          <a:p>
            <a:endParaRPr lang="en-IN"/>
          </a:p>
        </p:txBody>
      </p:sp>
      <p:sp>
        <p:nvSpPr>
          <p:cNvPr id="4" name="Shape 2"/>
          <p:cNvSpPr/>
          <p:nvPr/>
        </p:nvSpPr>
        <p:spPr>
          <a:xfrm>
            <a:off x="411480" y="0"/>
            <a:ext cx="8732520" cy="164592"/>
          </a:xfrm>
          <a:prstGeom prst="rect">
            <a:avLst/>
          </a:prstGeom>
          <a:solidFill>
            <a:srgbClr val="FF9933"/>
          </a:solidFill>
          <a:ln w="12700">
            <a:solidFill>
              <a:srgbClr val="FF9933"/>
            </a:solidFill>
            <a:prstDash val="solid"/>
          </a:ln>
        </p:spPr>
        <p:txBody>
          <a:bodyPr/>
          <a:lstStyle/>
          <a:p>
            <a:endParaRPr lang="en-IN"/>
          </a:p>
        </p:txBody>
      </p:sp>
      <p:sp>
        <p:nvSpPr>
          <p:cNvPr id="5" name="Shape 3"/>
          <p:cNvSpPr/>
          <p:nvPr/>
        </p:nvSpPr>
        <p:spPr>
          <a:xfrm>
            <a:off x="411480" y="164592"/>
            <a:ext cx="8732520" cy="164592"/>
          </a:xfrm>
          <a:prstGeom prst="rect">
            <a:avLst/>
          </a:prstGeom>
          <a:solidFill>
            <a:srgbClr val="FFFFFF"/>
          </a:solidFill>
          <a:ln w="12700">
            <a:solidFill>
              <a:srgbClr val="DDDDDD"/>
            </a:solidFill>
            <a:prstDash val="solid"/>
          </a:ln>
        </p:spPr>
        <p:txBody>
          <a:bodyPr/>
          <a:lstStyle/>
          <a:p>
            <a:endParaRPr lang="en-IN"/>
          </a:p>
        </p:txBody>
      </p:sp>
      <p:sp>
        <p:nvSpPr>
          <p:cNvPr id="6" name="Shape 4"/>
          <p:cNvSpPr/>
          <p:nvPr/>
        </p:nvSpPr>
        <p:spPr>
          <a:xfrm>
            <a:off x="411480" y="329184"/>
            <a:ext cx="8732520" cy="164592"/>
          </a:xfrm>
          <a:prstGeom prst="rect">
            <a:avLst/>
          </a:prstGeom>
          <a:solidFill>
            <a:srgbClr val="138808"/>
          </a:solidFill>
          <a:ln w="12700">
            <a:solidFill>
              <a:srgbClr val="138808"/>
            </a:solidFill>
            <a:prstDash val="solid"/>
          </a:ln>
        </p:spPr>
        <p:txBody>
          <a:bodyPr/>
          <a:lstStyle/>
          <a:p>
            <a:endParaRPr lang="en-IN"/>
          </a:p>
        </p:txBody>
      </p:sp>
      <p:sp>
        <p:nvSpPr>
          <p:cNvPr id="7" name="Text 5"/>
          <p:cNvSpPr/>
          <p:nvPr/>
        </p:nvSpPr>
        <p:spPr>
          <a:xfrm>
            <a:off x="548640" y="914400"/>
            <a:ext cx="8229600" cy="914400"/>
          </a:xfrm>
          <a:prstGeom prst="rect">
            <a:avLst/>
          </a:prstGeom>
          <a:noFill/>
          <a:ln/>
        </p:spPr>
        <p:txBody>
          <a:bodyPr wrap="square" rtlCol="0" anchor="ctr"/>
          <a:lstStyle/>
          <a:p>
            <a:pPr marL="0" indent="0" algn="ctr">
              <a:buNone/>
            </a:pPr>
            <a:r>
              <a:rPr lang="en-US" sz="5400" b="1" dirty="0">
                <a:solidFill>
                  <a:srgbClr val="1A3A5C"/>
                </a:solidFill>
                <a:latin typeface="Times New Roman" panose="02020603050405020304" pitchFamily="18" charset="0"/>
                <a:ea typeface="Calibri" pitchFamily="34" charset="-122"/>
                <a:cs typeface="Times New Roman" panose="02020603050405020304" pitchFamily="18" charset="0"/>
              </a:rPr>
              <a:t>Thank You</a:t>
            </a:r>
            <a:endParaRPr lang="en-US" sz="5400" dirty="0">
              <a:latin typeface="Times New Roman" panose="02020603050405020304" pitchFamily="18" charset="0"/>
              <a:cs typeface="Times New Roman" panose="02020603050405020304" pitchFamily="18" charset="0"/>
            </a:endParaRPr>
          </a:p>
        </p:txBody>
      </p:sp>
      <p:sp>
        <p:nvSpPr>
          <p:cNvPr id="9" name="Shape 7"/>
          <p:cNvSpPr/>
          <p:nvPr/>
        </p:nvSpPr>
        <p:spPr>
          <a:xfrm>
            <a:off x="1371600" y="2377440"/>
            <a:ext cx="6400800" cy="0"/>
          </a:xfrm>
          <a:prstGeom prst="line">
            <a:avLst/>
          </a:prstGeom>
          <a:noFill/>
          <a:ln w="19050">
            <a:solidFill>
              <a:srgbClr val="CBD5E1"/>
            </a:solidFill>
            <a:prstDash val="solid"/>
          </a:ln>
        </p:spPr>
        <p:txBody>
          <a:bodyPr/>
          <a:lstStyle/>
          <a:p>
            <a:endParaRPr lang="en-IN"/>
          </a:p>
        </p:txBody>
      </p:sp>
      <p:sp>
        <p:nvSpPr>
          <p:cNvPr id="10" name="Text 8"/>
          <p:cNvSpPr/>
          <p:nvPr/>
        </p:nvSpPr>
        <p:spPr>
          <a:xfrm>
            <a:off x="548640" y="2514600"/>
            <a:ext cx="8229600" cy="1097280"/>
          </a:xfrm>
          <a:prstGeom prst="rect">
            <a:avLst/>
          </a:prstGeom>
          <a:noFill/>
          <a:ln/>
        </p:spPr>
        <p:txBody>
          <a:bodyPr wrap="square" rtlCol="0" anchor="ctr"/>
          <a:lstStyle/>
          <a:p>
            <a:pPr marL="0" indent="0" algn="ctr">
              <a:buNone/>
            </a:pPr>
            <a:r>
              <a:rPr lang="en-US" sz="1300" b="1" dirty="0">
                <a:solidFill>
                  <a:srgbClr val="64748B"/>
                </a:solidFill>
                <a:latin typeface="Times New Roman" panose="02020603050405020304" pitchFamily="18" charset="0"/>
                <a:ea typeface="Calibri" pitchFamily="34" charset="-122"/>
                <a:cs typeface="Times New Roman" panose="02020603050405020304" pitchFamily="18" charset="0"/>
              </a:rPr>
              <a:t>Infosys_ElectViz — Election Data Visualization for Media
</a:t>
            </a:r>
            <a:endParaRPr lang="en-US" sz="1300" dirty="0">
              <a:latin typeface="Times New Roman" panose="02020603050405020304" pitchFamily="18" charset="0"/>
              <a:cs typeface="Times New Roman" panose="02020603050405020304" pitchFamily="18" charset="0"/>
            </a:endParaRPr>
          </a:p>
          <a:p>
            <a:pPr marL="0" indent="0" algn="ctr">
              <a:buNone/>
            </a:pPr>
            <a:r>
              <a:rPr lang="en-US" sz="1300" dirty="0">
                <a:solidFill>
                  <a:srgbClr val="64748B"/>
                </a:solidFill>
                <a:latin typeface="Times New Roman" panose="02020603050405020304" pitchFamily="18" charset="0"/>
                <a:ea typeface="Calibri" pitchFamily="34" charset="-122"/>
                <a:cs typeface="Times New Roman" panose="02020603050405020304" pitchFamily="18" charset="0"/>
              </a:rPr>
              <a:t>India General Election Results 2024 | Power BI Analytics
</a:t>
            </a:r>
            <a:endParaRPr lang="en-US" sz="1300" dirty="0">
              <a:latin typeface="Times New Roman" panose="02020603050405020304" pitchFamily="18" charset="0"/>
              <a:cs typeface="Times New Roman" panose="02020603050405020304" pitchFamily="18" charset="0"/>
            </a:endParaRPr>
          </a:p>
          <a:p>
            <a:pPr marL="0" indent="0" algn="ctr">
              <a:buNone/>
            </a:pPr>
            <a:r>
              <a:rPr lang="en-US" sz="1300" dirty="0">
                <a:solidFill>
                  <a:srgbClr val="64748B"/>
                </a:solidFill>
                <a:latin typeface="Times New Roman" panose="02020603050405020304" pitchFamily="18" charset="0"/>
                <a:ea typeface="Calibri" pitchFamily="34" charset="-122"/>
                <a:cs typeface="Times New Roman" panose="02020603050405020304" pitchFamily="18" charset="0"/>
              </a:rPr>
              <a:t>Team C | Infosys Springboard Project</a:t>
            </a:r>
            <a:endParaRPr lang="en-US" sz="1300" dirty="0">
              <a:latin typeface="Times New Roman" panose="02020603050405020304" pitchFamily="18" charset="0"/>
              <a:cs typeface="Times New Roman" panose="02020603050405020304" pitchFamily="18" charset="0"/>
            </a:endParaRPr>
          </a:p>
        </p:txBody>
      </p:sp>
      <p:sp>
        <p:nvSpPr>
          <p:cNvPr id="12" name="Text 10"/>
          <p:cNvSpPr/>
          <p:nvPr/>
        </p:nvSpPr>
        <p:spPr>
          <a:xfrm>
            <a:off x="2743200" y="3794760"/>
            <a:ext cx="3657600" cy="731520"/>
          </a:xfrm>
          <a:prstGeom prst="rect">
            <a:avLst/>
          </a:prstGeom>
          <a:noFill/>
          <a:ln/>
        </p:spPr>
        <p:txBody>
          <a:bodyPr wrap="square" lIns="91440" tIns="45720" rIns="91440" bIns="45720" rtlCol="0" anchor="ctr"/>
          <a:lstStyle/>
          <a:p>
            <a:pPr marL="0" indent="0" algn="ctr">
              <a:buNone/>
            </a:pPr>
            <a:r>
              <a:rPr lang="en-US" sz="1200" b="1">
                <a:solidFill>
                  <a:srgbClr val="FFFFFF"/>
                </a:solidFill>
                <a:latin typeface="Calibri"/>
                <a:ea typeface="Calibri"/>
                <a:cs typeface="Calibri"/>
              </a:rPr>
              <a:t>Infosys Springboard </a:t>
            </a:r>
            <a:endParaRPr lang="en-US" sz="1200">
              <a:latin typeface="Calibri"/>
              <a:ea typeface="Calibri"/>
              <a:cs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271</TotalTime>
  <Words>2152</Words>
  <Application>Microsoft Office PowerPoint</Application>
  <PresentationFormat>On-screen Show (16:9)</PresentationFormat>
  <Paragraphs>285</Paragraphs>
  <Slides>20</Slides>
  <Notes>20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Arial</vt:lpstr>
      <vt:lpstr>Calibri</vt:lpstr>
      <vt:lpstr>Consolas</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Infosys_ElectViz Election Data Visualization for Media</dc:title>
  <dc:subject>PptxGenJS Presentation</dc:subject>
  <dc:creator>Team C</dc:creator>
  <cp:lastModifiedBy>Malraju Mythri</cp:lastModifiedBy>
  <cp:revision>259</cp:revision>
  <dcterms:created xsi:type="dcterms:W3CDTF">2026-03-26T15:38:13Z</dcterms:created>
  <dcterms:modified xsi:type="dcterms:W3CDTF">2026-03-27T15:51:42Z</dcterms:modified>
</cp:coreProperties>
</file>